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62"/>
  </p:notesMasterIdLst>
  <p:sldIdLst>
    <p:sldId id="256" r:id="rId3"/>
    <p:sldId id="257" r:id="rId4"/>
    <p:sldId id="258" r:id="rId5"/>
    <p:sldId id="260" r:id="rId6"/>
    <p:sldId id="261" r:id="rId7"/>
    <p:sldId id="300" r:id="rId8"/>
    <p:sldId id="299" r:id="rId9"/>
    <p:sldId id="301" r:id="rId10"/>
    <p:sldId id="262" r:id="rId11"/>
    <p:sldId id="303" r:id="rId12"/>
    <p:sldId id="306" r:id="rId13"/>
    <p:sldId id="305" r:id="rId14"/>
    <p:sldId id="307" r:id="rId15"/>
    <p:sldId id="310" r:id="rId16"/>
    <p:sldId id="308" r:id="rId17"/>
    <p:sldId id="309" r:id="rId18"/>
    <p:sldId id="312" r:id="rId19"/>
    <p:sldId id="314" r:id="rId20"/>
    <p:sldId id="313" r:id="rId21"/>
    <p:sldId id="315" r:id="rId22"/>
    <p:sldId id="316" r:id="rId23"/>
    <p:sldId id="317" r:id="rId24"/>
    <p:sldId id="30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</p:sldIdLst>
  <p:sldSz cx="9144000" cy="5143500" type="screen16x9"/>
  <p:notesSz cx="6858000" cy="9144000"/>
  <p:embeddedFontLst>
    <p:embeddedFont>
      <p:font typeface="Reem Kufi" pitchFamily="2" charset="-78"/>
      <p:regular r:id="rId63"/>
      <p:bold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  <p:embeddedFont>
      <p:font typeface="Roboto Medium" panose="02000000000000000000" pitchFamily="2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orient="horz" pos="3240">
          <p15:clr>
            <a:srgbClr val="9AA0A6"/>
          </p15:clr>
        </p15:guide>
        <p15:guide id="4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C34"/>
    <a:srgbClr val="21252B"/>
    <a:srgbClr val="402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B45D60-7195-4C9D-AB46-2696C140063F}">
  <a:tblStyle styleId="{7EB45D60-7195-4C9D-AB46-2696C14006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90" autoAdjust="0"/>
  </p:normalViewPr>
  <p:slideViewPr>
    <p:cSldViewPr snapToGrid="0">
      <p:cViewPr varScale="1">
        <p:scale>
          <a:sx n="125" d="100"/>
          <a:sy n="125" d="100"/>
        </p:scale>
        <p:origin x="1116" y="96"/>
      </p:cViewPr>
      <p:guideLst>
        <p:guide orient="horz" pos="32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3.fntdata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203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3757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925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b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⏱️ Временные метки (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Auditing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CreationTimestamp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момент создания (неизменяем)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UpdateTimestamp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момент изменения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автообновление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Прямо в БД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 DEFAULT CURRENT_TIMESTAMP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🔒 Параллельный доступ: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@Version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оптимистичная блокировка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Защита от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lost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updates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в конкурентных сценариях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Исключение 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OptimisticLockException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при конфликте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🎯 Продвинутая идентичность: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Обработка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Hibernate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прокси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equals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Безопасное сравнение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лениво загруженных сущностей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hashCode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() на основе класса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стабильность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HashSet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/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HashMap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|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Это не просто базовый класс — это инфраструктура для работы с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persistence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-контекстом на промышленном уровне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Мы решили сложные проблемы: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Конкурентный доступ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через оптимистичную блокировку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Ленивая загрузка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в коллекциях через обработку прокси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Автоматический аудит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изменений на уровне БД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Преимущества подхода с </a:t>
            </a:r>
            <a:r>
              <a:rPr lang="ru-RU" b="1" dirty="0" err="1">
                <a:solidFill>
                  <a:srgbClr val="F9FAFB"/>
                </a:solidFill>
                <a:effectLst/>
                <a:latin typeface="quote-cjk-patch"/>
              </a:rPr>
              <a:t>columnDefinition</a:t>
            </a: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Единый источник истины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время из БД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Автоматическое обновление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не нужно ручного управления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Производительность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меньше Java-кода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Согласованность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все обновления через БД</a:t>
            </a:r>
          </a:p>
          <a:p>
            <a:pPr marL="158750" indent="0"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0580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Структурные решения: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Наследование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от 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AbstractBaseEntity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единый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ID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timestamp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Нормализация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отдельные сущности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Bank, Currency, User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Каскадные операции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удаление/сохранение карт вместе со счётом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⚡ Оптимизации производительности: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FetchType.LAZY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везде кроме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NamedEntityGraph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NamedEntityGraph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для контролируемой жадной загрузки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orphanRemoval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 = true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автоматическое удаление карт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🔒 Гарантии целостности: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@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NotNull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обязательные поля на уровне БД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unique = true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уникальность номера счёта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precision = 19, scale = 2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точность для денежных операций</a:t>
            </a:r>
          </a:p>
          <a:p>
            <a:pPr algn="l">
              <a:buFont typeface="+mj-lt"/>
              <a:buAutoNum type="arabicPeriod"/>
            </a:pP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Архитектурные паттерны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наследование, нормализация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Производительность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осознанное использование LAZY +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NamedEntityGraph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Целостность данных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ограничения на уровне БД, а не только приложения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Практический опыт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понимание проблем N+1 запросов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3781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Структурные решения: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Наследование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от 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AbstractBaseEntity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единый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ID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timestamp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Нормализация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отдельные сущности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Bank, Currency, User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Каскадные операции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удаление/сохранение карт вместе со счётом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⚡ Оптимизации производительности: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FetchType.LAZY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везде кроме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NamedEntityGraph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NamedEntityGraph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для контролируемой жадной загрузки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orphanRemoval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 = true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автоматическое удаление карт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🔒 Гарантии целостности: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@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NotNull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обязательные поля на уровне БД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unique = true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уникальность номера счёта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precision = 19, scale = 2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точность для денежных операций</a:t>
            </a:r>
          </a:p>
          <a:p>
            <a:pPr algn="l">
              <a:buFont typeface="+mj-lt"/>
              <a:buAutoNum type="arabicPeriod"/>
            </a:pP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Архитектурные паттерны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наследование, нормализация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Производительность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осознанное использование LAZY +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NamedEntityGraph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Целостность данных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ограничения на уровне БД, а не только приложения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Практический опыт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понимание проблем N+1 запросов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9500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🚀 Ключевые техники: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Bulk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Update операции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Прямое выполнение в БД, минуя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persistence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context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Высокая производительность для массовых изменений</a:t>
            </a:r>
          </a:p>
          <a:p>
            <a:pPr marL="158750" indent="0"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EntityGraph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для N+1 проблем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Контролируемая жадная загрузка связей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Оптимальные JOIN запросы вместо множественных SELECT</a:t>
            </a:r>
          </a:p>
          <a:p>
            <a:pPr marL="158750" indent="0"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DTO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Projections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в JPQL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Выборка только нужных данных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currency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code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SUM)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Меньший объем передаваемых данных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Группировка и агрегация на стороне БД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158750" indent="0" algn="l"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Что подчеркиваем: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Производительность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bulk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операции, DTO проекции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Решение классических проблем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N+1 запросов через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EntityGraph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Типобезопасность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всё компилируется, нет SQL в строках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Гибкость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от простых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derived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queries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до сложных JPQL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158750" indent="0"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028283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Liquibase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— это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quote-cjk-patch"/>
              </a:rPr>
              <a:t>Git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 для вашей базы данных. Мы управляем миграциями схемы так же строго, как и исходным кодом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Результат: полный контроль над эволюцией данных, предсказуемость развертываний и гарантия идентичности схем на всех окружениях</a:t>
            </a:r>
          </a:p>
          <a:p>
            <a:pPr algn="l">
              <a:buFont typeface="+mj-lt"/>
              <a:buAutoNum type="arabicPeriod"/>
            </a:pP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Профессиональный подход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не ручные SQL скрипты, а система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Безопасность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JPA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validate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защищает от рассинхронизации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Гибкость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контексты для разных сред, откаты изменений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Готовность к CI/CD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автоматическое применение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пайплайнах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204856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b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🛡️ Архитектурные решения: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HttpOnly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 Cookies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Токен недоступен из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JavaScript →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защита от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XSS-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атак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Автоматическая отправка браузером → удобство разработки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Stateless 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подход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Нет сессий на сервере → горизонтальное масштабирование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Вся информация в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JWT payload →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быстрая валидация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223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b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🛡️ Архитектурные решения: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</a:t>
            </a: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HttpOnly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 Cookies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Токен недоступен из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JavaScript →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защита от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XSS-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атак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Автоматическая отправка браузером → удобство разработки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• 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Stateless 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подход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Нет сессий на сервере → горизонтальное масштабирование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Вся информация в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JWT payload →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быстрая валидация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958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47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283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04737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453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Production-готовность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health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checks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персистентность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сеть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Отказоустойчивость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правильные зависимости и проверки готовности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Безопасность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изолированная сеть, нет прямого доступа к БД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Операционный комфорт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встроенные инструменты мониторинга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pgAdmin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7435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Production-готовность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health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checks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персистентность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сеть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Отказоустойчивость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правильные зависимости и проверки готовности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Безопасность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изолированная сеть, нет прямого доступа к БД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Операционный комфорт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- встроенные инструменты мониторинга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pgAdmin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7580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90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" userDrawn="1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421175" y="330736"/>
            <a:ext cx="8520600" cy="597038"/>
          </a:xfrm>
          <a:prstGeom prst="roundRect">
            <a:avLst>
              <a:gd name="adj" fmla="val 23048"/>
            </a:avLst>
          </a:prstGeom>
          <a:solidFill>
            <a:srgbClr val="40299B"/>
          </a:solidFill>
          <a:effectLst>
            <a:softEdge rad="0"/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 userDrawn="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30">
            <a:extLst>
              <a:ext uri="{FF2B5EF4-FFF2-40B4-BE49-F238E27FC236}">
                <a16:creationId xmlns:a16="http://schemas.microsoft.com/office/drawing/2014/main" id="{2C54A3A4-9BE7-7407-02F5-43343CA84E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175" y="330736"/>
            <a:ext cx="8520600" cy="597038"/>
          </a:xfrm>
          <a:prstGeom prst="roundRect">
            <a:avLst>
              <a:gd name="adj" fmla="val 23048"/>
            </a:avLst>
          </a:prstGeom>
          <a:solidFill>
            <a:srgbClr val="40299B"/>
          </a:solidFill>
          <a:effectLst>
            <a:softEdge rad="0"/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55028C-9086-9424-05D4-40228575E6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1799" y="1108230"/>
            <a:ext cx="8532813" cy="1917468"/>
          </a:xfrm>
          <a:solidFill>
            <a:schemeClr val="tx2"/>
          </a:solidFill>
          <a:ln>
            <a:noFill/>
          </a:ln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1252B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accent5">
              <a:lumMod val="60000"/>
              <a:lumOff val="40000"/>
            </a:schemeClr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7" userDrawn="1">
          <p15:clr>
            <a:srgbClr val="F26B43"/>
          </p15:clr>
        </p15:guide>
        <p15:guide id="2" pos="272" userDrawn="1">
          <p15:clr>
            <a:srgbClr val="F26B43"/>
          </p15:clr>
        </p15:guide>
        <p15:guide id="3" pos="5647" userDrawn="1">
          <p15:clr>
            <a:srgbClr val="F26B43"/>
          </p15:clr>
        </p15:guide>
        <p15:guide id="4" orient="horz" pos="28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.png"/><Relationship Id="rId21" Type="http://schemas.openxmlformats.org/officeDocument/2006/relationships/image" Target="../media/image9.png"/><Relationship Id="rId42" Type="http://schemas.openxmlformats.org/officeDocument/2006/relationships/image" Target="../media/image85.png"/><Relationship Id="rId47" Type="http://schemas.openxmlformats.org/officeDocument/2006/relationships/image" Target="../media/image90.png"/><Relationship Id="rId63" Type="http://schemas.openxmlformats.org/officeDocument/2006/relationships/image" Target="../media/image106.png"/><Relationship Id="rId68" Type="http://schemas.openxmlformats.org/officeDocument/2006/relationships/image" Target="../media/image111.png"/><Relationship Id="rId7" Type="http://schemas.openxmlformats.org/officeDocument/2006/relationships/image" Target="../media/image52.png"/><Relationship Id="rId71" Type="http://schemas.openxmlformats.org/officeDocument/2006/relationships/image" Target="../media/image114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8.png"/><Relationship Id="rId29" Type="http://schemas.openxmlformats.org/officeDocument/2006/relationships/image" Target="../media/image72.png"/><Relationship Id="rId11" Type="http://schemas.openxmlformats.org/officeDocument/2006/relationships/image" Target="../media/image56.png"/><Relationship Id="rId24" Type="http://schemas.openxmlformats.org/officeDocument/2006/relationships/image" Target="../media/image67.png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40" Type="http://schemas.openxmlformats.org/officeDocument/2006/relationships/image" Target="../media/image83.png"/><Relationship Id="rId45" Type="http://schemas.openxmlformats.org/officeDocument/2006/relationships/image" Target="../media/image88.png"/><Relationship Id="rId53" Type="http://schemas.openxmlformats.org/officeDocument/2006/relationships/image" Target="../media/image96.png"/><Relationship Id="rId58" Type="http://schemas.openxmlformats.org/officeDocument/2006/relationships/image" Target="../media/image101.png"/><Relationship Id="rId66" Type="http://schemas.openxmlformats.org/officeDocument/2006/relationships/image" Target="../media/image109.png"/><Relationship Id="rId5" Type="http://schemas.openxmlformats.org/officeDocument/2006/relationships/image" Target="../media/image47.png"/><Relationship Id="rId61" Type="http://schemas.openxmlformats.org/officeDocument/2006/relationships/image" Target="../media/image104.png"/><Relationship Id="rId19" Type="http://schemas.openxmlformats.org/officeDocument/2006/relationships/image" Target="../media/image63.png"/><Relationship Id="rId14" Type="http://schemas.openxmlformats.org/officeDocument/2006/relationships/image" Target="../media/image59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image" Target="../media/image91.png"/><Relationship Id="rId56" Type="http://schemas.openxmlformats.org/officeDocument/2006/relationships/image" Target="../media/image99.png"/><Relationship Id="rId64" Type="http://schemas.openxmlformats.org/officeDocument/2006/relationships/image" Target="../media/image107.png"/><Relationship Id="rId69" Type="http://schemas.openxmlformats.org/officeDocument/2006/relationships/image" Target="../media/image112.png"/><Relationship Id="rId8" Type="http://schemas.openxmlformats.org/officeDocument/2006/relationships/image" Target="../media/image53.png"/><Relationship Id="rId51" Type="http://schemas.openxmlformats.org/officeDocument/2006/relationships/image" Target="../media/image94.png"/><Relationship Id="rId3" Type="http://schemas.openxmlformats.org/officeDocument/2006/relationships/image" Target="../media/image49.png"/><Relationship Id="rId12" Type="http://schemas.openxmlformats.org/officeDocument/2006/relationships/image" Target="../media/image57.png"/><Relationship Id="rId17" Type="http://schemas.openxmlformats.org/officeDocument/2006/relationships/image" Target="../media/image61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46" Type="http://schemas.openxmlformats.org/officeDocument/2006/relationships/image" Target="../media/image89.png"/><Relationship Id="rId59" Type="http://schemas.openxmlformats.org/officeDocument/2006/relationships/image" Target="../media/image102.png"/><Relationship Id="rId67" Type="http://schemas.openxmlformats.org/officeDocument/2006/relationships/image" Target="../media/image110.png"/><Relationship Id="rId20" Type="http://schemas.openxmlformats.org/officeDocument/2006/relationships/image" Target="../media/image64.png"/><Relationship Id="rId41" Type="http://schemas.openxmlformats.org/officeDocument/2006/relationships/image" Target="../media/image84.png"/><Relationship Id="rId54" Type="http://schemas.openxmlformats.org/officeDocument/2006/relationships/image" Target="../media/image97.png"/><Relationship Id="rId62" Type="http://schemas.openxmlformats.org/officeDocument/2006/relationships/image" Target="../media/image105.png"/><Relationship Id="rId70" Type="http://schemas.openxmlformats.org/officeDocument/2006/relationships/image" Target="../media/image1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png"/><Relationship Id="rId15" Type="http://schemas.openxmlformats.org/officeDocument/2006/relationships/image" Target="../media/image60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36" Type="http://schemas.openxmlformats.org/officeDocument/2006/relationships/image" Target="../media/image79.png"/><Relationship Id="rId49" Type="http://schemas.openxmlformats.org/officeDocument/2006/relationships/image" Target="../media/image92.png"/><Relationship Id="rId57" Type="http://schemas.openxmlformats.org/officeDocument/2006/relationships/image" Target="../media/image100.png"/><Relationship Id="rId10" Type="http://schemas.openxmlformats.org/officeDocument/2006/relationships/image" Target="../media/image55.png"/><Relationship Id="rId31" Type="http://schemas.openxmlformats.org/officeDocument/2006/relationships/image" Target="../media/image74.png"/><Relationship Id="rId44" Type="http://schemas.openxmlformats.org/officeDocument/2006/relationships/image" Target="../media/image87.png"/><Relationship Id="rId52" Type="http://schemas.openxmlformats.org/officeDocument/2006/relationships/image" Target="../media/image95.png"/><Relationship Id="rId60" Type="http://schemas.openxmlformats.org/officeDocument/2006/relationships/image" Target="../media/image103.png"/><Relationship Id="rId65" Type="http://schemas.openxmlformats.org/officeDocument/2006/relationships/image" Target="../media/image108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Relationship Id="rId13" Type="http://schemas.openxmlformats.org/officeDocument/2006/relationships/image" Target="../media/image58.png"/><Relationship Id="rId18" Type="http://schemas.openxmlformats.org/officeDocument/2006/relationships/image" Target="../media/image62.png"/><Relationship Id="rId39" Type="http://schemas.openxmlformats.org/officeDocument/2006/relationships/image" Target="../media/image82.png"/><Relationship Id="rId34" Type="http://schemas.openxmlformats.org/officeDocument/2006/relationships/image" Target="../media/image77.png"/><Relationship Id="rId50" Type="http://schemas.openxmlformats.org/officeDocument/2006/relationships/image" Target="../media/image93.png"/><Relationship Id="rId55" Type="http://schemas.openxmlformats.org/officeDocument/2006/relationships/image" Target="../media/image9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5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png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85725" y="0"/>
            <a:ext cx="9247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1410586" y="1534950"/>
            <a:ext cx="723153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Bank Analyzer</a:t>
            </a:r>
            <a:endParaRPr lang="ru-RU"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418995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59376" y="4138025"/>
            <a:ext cx="4266975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Разработчик на </a:t>
            </a: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Spring Framework</a:t>
            </a:r>
            <a:endParaRPr lang="ru-RU"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9027C0-6BEC-B8A4-30EB-1D9C8F4B9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794" y="1524300"/>
            <a:ext cx="673768" cy="673768"/>
          </a:xfrm>
          <a:prstGeom prst="rect">
            <a:avLst/>
          </a:prstGeom>
        </p:spPr>
      </p:pic>
      <p:sp>
        <p:nvSpPr>
          <p:cNvPr id="6" name="Google Shape;147;p35">
            <a:extLst>
              <a:ext uri="{FF2B5EF4-FFF2-40B4-BE49-F238E27FC236}">
                <a16:creationId xmlns:a16="http://schemas.microsoft.com/office/drawing/2014/main" id="{5058AD7D-BE85-5F1B-E992-D3D80AE5726C}"/>
              </a:ext>
            </a:extLst>
          </p:cNvPr>
          <p:cNvSpPr txBox="1"/>
          <p:nvPr/>
        </p:nvSpPr>
        <p:spPr>
          <a:xfrm>
            <a:off x="630238" y="2209393"/>
            <a:ext cx="8267685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Менеджер банковских операций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 idx="4294967295"/>
          </p:nvPr>
        </p:nvSpPr>
        <p:spPr>
          <a:xfrm>
            <a:off x="611188" y="1416050"/>
            <a:ext cx="7934325" cy="14160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>
                <a:solidFill>
                  <a:schemeClr val="tx1"/>
                </a:solidFill>
              </a:rPr>
              <a:t>Меня хорошо видно</a:t>
            </a:r>
            <a:endParaRPr sz="4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chemeClr val="tx1"/>
                </a:solidFill>
              </a:rPr>
              <a:t>&amp; слышно?</a:t>
            </a:r>
            <a:endParaRPr sz="4000" dirty="0">
              <a:solidFill>
                <a:schemeClr val="tx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40;p62">
            <a:extLst>
              <a:ext uri="{FF2B5EF4-FFF2-40B4-BE49-F238E27FC236}">
                <a16:creationId xmlns:a16="http://schemas.microsoft.com/office/drawing/2014/main" id="{CA0F73D8-155E-574B-194D-AE9C0F7B2FEF}"/>
              </a:ext>
            </a:extLst>
          </p:cNvPr>
          <p:cNvSpPr/>
          <p:nvPr/>
        </p:nvSpPr>
        <p:spPr>
          <a:xfrm>
            <a:off x="3591705" y="2409576"/>
            <a:ext cx="4237262" cy="1593257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361;p52">
            <a:extLst>
              <a:ext uri="{FF2B5EF4-FFF2-40B4-BE49-F238E27FC236}">
                <a16:creationId xmlns:a16="http://schemas.microsoft.com/office/drawing/2014/main" id="{1C6DF43D-3593-2D34-3E3B-DDCB8ACEE594}"/>
              </a:ext>
            </a:extLst>
          </p:cNvPr>
          <p:cNvSpPr/>
          <p:nvPr/>
        </p:nvSpPr>
        <p:spPr>
          <a:xfrm>
            <a:off x="431800" y="332573"/>
            <a:ext cx="8532813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3" name="Google Shape;163;p37"/>
          <p:cNvSpPr txBox="1">
            <a:spLocks noGrp="1"/>
          </p:cNvSpPr>
          <p:nvPr>
            <p:ph type="title" idx="4294967295"/>
          </p:nvPr>
        </p:nvSpPr>
        <p:spPr>
          <a:xfrm>
            <a:off x="622300" y="314325"/>
            <a:ext cx="8521700" cy="1000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>
                <a:solidFill>
                  <a:schemeClr val="tx1"/>
                </a:solidFill>
              </a:rPr>
              <a:t>Защита проекта</a:t>
            </a:r>
            <a:endParaRPr sz="3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>
                <a:solidFill>
                  <a:schemeClr val="tx1"/>
                </a:solidFill>
              </a:rPr>
              <a:t>Тема: Менеджер банковских операций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40957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7996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Семенов Василий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3175501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bg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Разработчик </a:t>
            </a:r>
            <a:r>
              <a:rPr lang="en-US" sz="1300" dirty="0">
                <a:solidFill>
                  <a:schemeClr val="bg1"/>
                </a:solidFill>
                <a:latin typeface="Roboto Medium"/>
                <a:ea typeface="Roboto Medium"/>
                <a:cs typeface="Roboto Medium"/>
                <a:sym typeface="Roboto Medium"/>
              </a:rPr>
              <a:t>ERP</a:t>
            </a:r>
            <a:r>
              <a:rPr lang="ru-RU" sz="1300" dirty="0">
                <a:solidFill>
                  <a:schemeClr val="bg1"/>
                </a:solidFill>
                <a:latin typeface="Roboto Medium"/>
                <a:ea typeface="Roboto Medium"/>
                <a:cs typeface="Roboto Medium"/>
                <a:sym typeface="Roboto Medium"/>
              </a:rPr>
              <a:t> систем.</a:t>
            </a:r>
            <a:endParaRPr sz="1300" dirty="0">
              <a:solidFill>
                <a:schemeClr val="bg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D400C-1482-4A7B-1DD7-C441D5679EDA}"/>
              </a:ext>
            </a:extLst>
          </p:cNvPr>
          <p:cNvSpPr txBox="1"/>
          <p:nvPr/>
        </p:nvSpPr>
        <p:spPr>
          <a:xfrm>
            <a:off x="630000" y="1403273"/>
            <a:ext cx="8153638" cy="58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Система анализа личных финансов на Spring Boot. Веб-приложение для учёта и анализа банковских операций. Помогает контролировать доходы, расходы и баланс.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179249417"/>
              </p:ext>
            </p:extLst>
          </p:nvPr>
        </p:nvGraphicFramePr>
        <p:xfrm>
          <a:off x="952500" y="2382125"/>
          <a:ext cx="7239000" cy="2149840"/>
        </p:xfrm>
        <a:graphic>
          <a:graphicData uri="http://schemas.openxmlformats.org/drawingml/2006/table">
            <a:tbl>
              <a:tblPr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{7EB45D60-7195-4C9D-AB46-2696C140063F}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MVP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возможности расширения функционала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Обеспечить учёт транзакций с категориями и фильтрацией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Интегрироваться с ЦБ РФ для актуальных курсов валют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0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Построить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дашборды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аналитикой</a:t>
                      </a: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5.</a:t>
                      </a:r>
                      <a:endParaRPr sz="1600" b="1" i="0" u="none" strike="noStrike" cap="none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регистрацию и аутентификацию </a:t>
                      </a: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tx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tx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Создать инструмент для ведения личных финансов с автоматизацией и визуализацией (</a:t>
            </a:r>
            <a:r>
              <a:rPr lang="en-US" sz="1500" dirty="0">
                <a:solidFill>
                  <a:schemeClr val="tx1"/>
                </a:solidFill>
                <a:latin typeface="Roboto Medium"/>
                <a:ea typeface="Roboto Medium"/>
                <a:cs typeface="Roboto Medium"/>
                <a:sym typeface="Roboto Medium"/>
              </a:rPr>
              <a:t>MVP</a:t>
            </a:r>
            <a:r>
              <a:rPr lang="ru-RU" sz="1500" dirty="0">
                <a:solidFill>
                  <a:schemeClr val="tx1"/>
                </a:solidFill>
                <a:latin typeface="Roboto Medium"/>
                <a:ea typeface="Roboto Medium"/>
                <a:cs typeface="Roboto Medium"/>
                <a:sym typeface="Roboto Medium"/>
              </a:rPr>
              <a:t>).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4381585-AB22-E4D5-D003-549C78C5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ru-RU" sz="3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AE45E86-CA95-D987-0598-7724415BFB96}"/>
              </a:ext>
            </a:extLst>
          </p:cNvPr>
          <p:cNvGrpSpPr/>
          <p:nvPr/>
        </p:nvGrpSpPr>
        <p:grpSpPr>
          <a:xfrm>
            <a:off x="431800" y="1523668"/>
            <a:ext cx="3414600" cy="2668276"/>
            <a:chOff x="724750" y="1194674"/>
            <a:chExt cx="3414600" cy="2668276"/>
          </a:xfrm>
        </p:grpSpPr>
        <p:sp>
          <p:nvSpPr>
            <p:cNvPr id="5" name="Google Shape;440;p62">
              <a:extLst>
                <a:ext uri="{FF2B5EF4-FFF2-40B4-BE49-F238E27FC236}">
                  <a16:creationId xmlns:a16="http://schemas.microsoft.com/office/drawing/2014/main" id="{EACF5D33-E562-29FD-5C12-0270EBFD1914}"/>
                </a:ext>
              </a:extLst>
            </p:cNvPr>
            <p:cNvSpPr/>
            <p:nvPr/>
          </p:nvSpPr>
          <p:spPr>
            <a:xfrm>
              <a:off x="724750" y="1194674"/>
              <a:ext cx="3414600" cy="2668276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aphicFrame>
          <p:nvGraphicFramePr>
            <p:cNvPr id="199" name="Google Shape;199;p40"/>
            <p:cNvGraphicFramePr/>
            <p:nvPr>
              <p:extLst>
                <p:ext uri="{D42A27DB-BD31-4B8C-83A1-F6EECF244321}">
                  <p14:modId xmlns:p14="http://schemas.microsoft.com/office/powerpoint/2010/main" val="1398568972"/>
                </p:ext>
              </p:extLst>
            </p:nvPr>
          </p:nvGraphicFramePr>
          <p:xfrm>
            <a:off x="830675" y="1893000"/>
            <a:ext cx="3308675" cy="1524000"/>
          </p:xfrm>
          <a:graphic>
            <a:graphicData uri="http://schemas.openxmlformats.org/drawingml/2006/table">
              <a:tbl>
                <a:tblPr>
                  <a:noFill/>
                  <a:tableStyleId>{7EB45D60-7195-4C9D-AB46-2696C140063F}</a:tableStyleId>
                </a:tblPr>
                <a:tblGrid>
                  <a:gridCol w="27314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03553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81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" sz="1600" b="1" dirty="0">
                            <a:solidFill>
                              <a:schemeClr val="accent2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1.</a:t>
                        </a: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Spring Boot 3.4.7</a:t>
                        </a:r>
                        <a:endParaRPr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" sz="1600" b="1" dirty="0">
                            <a:solidFill>
                              <a:schemeClr val="accent2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</a:t>
                        </a:r>
                        <a:endParaRPr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Spring Web, Security, Data JPA</a:t>
                        </a:r>
                        <a:endParaRPr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" sz="1600" b="1" dirty="0">
                            <a:solidFill>
                              <a:schemeClr val="accent2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3.</a:t>
                        </a:r>
                        <a:endParaRPr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Spring Integration, Validation</a:t>
                        </a:r>
                        <a:endParaRPr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81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u" sz="1600" b="1" dirty="0">
                            <a:solidFill>
                              <a:schemeClr val="accent2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4.</a:t>
                        </a:r>
                        <a:endParaRPr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JWT, </a:t>
                        </a:r>
                        <a:r>
                          <a:rPr lang="en-US" sz="1600" dirty="0" err="1">
                            <a:solidFill>
                              <a:schemeClr val="bg1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MapStruct</a:t>
                        </a:r>
                        <a:r>
                          <a:rPr lang="en-US" sz="1600" dirty="0">
                            <a:solidFill>
                              <a:schemeClr val="bg1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, Lombok </a:t>
                        </a:r>
                        <a:endParaRPr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20" marR="4572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7" name="Google Shape;443;p62">
              <a:extLst>
                <a:ext uri="{FF2B5EF4-FFF2-40B4-BE49-F238E27FC236}">
                  <a16:creationId xmlns:a16="http://schemas.microsoft.com/office/drawing/2014/main" id="{1DA963FB-3F79-627B-F1EF-32E856C37830}"/>
                </a:ext>
              </a:extLst>
            </p:cNvPr>
            <p:cNvSpPr txBox="1"/>
            <p:nvPr/>
          </p:nvSpPr>
          <p:spPr>
            <a:xfrm>
              <a:off x="830675" y="1309799"/>
              <a:ext cx="1482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Backend</a:t>
              </a:r>
              <a:r>
                <a:rPr lang="en-US" sz="1700" b="1" dirty="0">
                  <a:solidFill>
                    <a:srgbClr val="9857F3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endParaRPr sz="17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A7873A-1496-021B-1420-3D77C8BA0CF9}"/>
              </a:ext>
            </a:extLst>
          </p:cNvPr>
          <p:cNvSpPr/>
          <p:nvPr/>
        </p:nvSpPr>
        <p:spPr>
          <a:xfrm>
            <a:off x="4301512" y="2717223"/>
            <a:ext cx="4640263" cy="160393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Google Shape;417;p60">
            <a:extLst>
              <a:ext uri="{FF2B5EF4-FFF2-40B4-BE49-F238E27FC236}">
                <a16:creationId xmlns:a16="http://schemas.microsoft.com/office/drawing/2014/main" id="{CC5F3979-4941-88D0-A6CE-EE96E9AAE3DA}"/>
              </a:ext>
            </a:extLst>
          </p:cNvPr>
          <p:cNvSpPr txBox="1">
            <a:spLocks/>
          </p:cNvSpPr>
          <p:nvPr/>
        </p:nvSpPr>
        <p:spPr>
          <a:xfrm>
            <a:off x="4301513" y="1316958"/>
            <a:ext cx="4640262" cy="1334951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15000"/>
              </a:lnSpc>
            </a:pPr>
            <a:r>
              <a:rPr lang="ru-RU" sz="1300" b="0" dirty="0">
                <a:solidFill>
                  <a:schemeClr val="tx1"/>
                </a:solidFill>
              </a:rPr>
              <a:t>Использована экосистема Spring как отраслевой стандарт для создания надёжных, безопасных и легко расширяемых приложений, что гарантирует производительность, поддержку сообщества и простую интеграцию с любыми сервисами.</a:t>
            </a:r>
          </a:p>
        </p:txBody>
      </p:sp>
      <p:pic>
        <p:nvPicPr>
          <p:cNvPr id="2056" name="Picture 8" descr="Sample Spring Boot application. – Alex Bezverkhniy – Fullstack Developer  and Teacher. My interests - Programming, Coding, Java, JavaScript, Groovy,  HTML5, CSS, REST, Spring Boot, Docker, Best practices, Tutorials.">
            <a:extLst>
              <a:ext uri="{FF2B5EF4-FFF2-40B4-BE49-F238E27FC236}">
                <a16:creationId xmlns:a16="http://schemas.microsoft.com/office/drawing/2014/main" id="{C04A7DC9-95FD-8F7B-62C0-5ACF9CA59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630" y="2800292"/>
            <a:ext cx="2486025" cy="130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164A226-97B5-1F87-F2D9-FACF49AF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 - </a:t>
            </a:r>
            <a:r>
              <a:rPr lang="en-US" dirty="0"/>
              <a:t>Backend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5CB301-52BE-D01F-4E28-0D99AE6C1123}"/>
              </a:ext>
            </a:extLst>
          </p:cNvPr>
          <p:cNvSpPr/>
          <p:nvPr/>
        </p:nvSpPr>
        <p:spPr>
          <a:xfrm>
            <a:off x="4324350" y="2912504"/>
            <a:ext cx="4640263" cy="16039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440;p62">
            <a:extLst>
              <a:ext uri="{FF2B5EF4-FFF2-40B4-BE49-F238E27FC236}">
                <a16:creationId xmlns:a16="http://schemas.microsoft.com/office/drawing/2014/main" id="{EACF5D33-E562-29FD-5C12-0270EBFD1914}"/>
              </a:ext>
            </a:extLst>
          </p:cNvPr>
          <p:cNvSpPr/>
          <p:nvPr/>
        </p:nvSpPr>
        <p:spPr>
          <a:xfrm>
            <a:off x="431800" y="1534455"/>
            <a:ext cx="3414600" cy="2668276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632226789"/>
              </p:ext>
            </p:extLst>
          </p:nvPr>
        </p:nvGraphicFramePr>
        <p:xfrm>
          <a:off x="537725" y="2232781"/>
          <a:ext cx="3308675" cy="152400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27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Liquibase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JPA + Hibernate 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ontainers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Google Shape;443;p62">
            <a:extLst>
              <a:ext uri="{FF2B5EF4-FFF2-40B4-BE49-F238E27FC236}">
                <a16:creationId xmlns:a16="http://schemas.microsoft.com/office/drawing/2014/main" id="{1DA963FB-3F79-627B-F1EF-32E856C37830}"/>
              </a:ext>
            </a:extLst>
          </p:cNvPr>
          <p:cNvSpPr txBox="1"/>
          <p:nvPr/>
        </p:nvSpPr>
        <p:spPr>
          <a:xfrm>
            <a:off x="537725" y="164958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r>
              <a:rPr lang="en-US" sz="17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7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417;p60">
            <a:extLst>
              <a:ext uri="{FF2B5EF4-FFF2-40B4-BE49-F238E27FC236}">
                <a16:creationId xmlns:a16="http://schemas.microsoft.com/office/drawing/2014/main" id="{CC5F3979-4941-88D0-A6CE-EE96E9AAE3DA}"/>
              </a:ext>
            </a:extLst>
          </p:cNvPr>
          <p:cNvSpPr txBox="1">
            <a:spLocks/>
          </p:cNvSpPr>
          <p:nvPr/>
        </p:nvSpPr>
        <p:spPr>
          <a:xfrm>
            <a:off x="4324349" y="1362025"/>
            <a:ext cx="4640263" cy="1334951"/>
          </a:xfrm>
          <a:prstGeom prst="rect">
            <a:avLst/>
          </a:prstGeom>
          <a:solidFill>
            <a:srgbClr val="282C3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15000"/>
              </a:lnSpc>
            </a:pPr>
            <a:r>
              <a:rPr lang="ru-RU" sz="1300" b="0" dirty="0"/>
              <a:t>Обеспечен контроль над данными: от быстрой разработки до стабильного продакшена на </a:t>
            </a:r>
            <a:r>
              <a:rPr lang="ru-RU" sz="1300" b="0" dirty="0" err="1"/>
              <a:t>PostgreSQL</a:t>
            </a:r>
            <a:r>
              <a:rPr lang="ru-RU" sz="1300" b="0" dirty="0"/>
              <a:t>, с гарантией идентичности схем через </a:t>
            </a:r>
            <a:r>
              <a:rPr lang="ru-RU" sz="1300" b="0" dirty="0" err="1"/>
              <a:t>Liquibase</a:t>
            </a:r>
            <a:r>
              <a:rPr lang="ru-RU" sz="1300" b="0" dirty="0"/>
              <a:t>, и тестирование через Тест-контейнеры </a:t>
            </a:r>
            <a:r>
              <a:rPr lang="ru-RU" sz="1300" b="0" dirty="0" err="1"/>
              <a:t>PostgreSQL</a:t>
            </a:r>
            <a:r>
              <a:rPr lang="ru-RU" sz="1300" b="0" dirty="0"/>
              <a:t> для поддержания единства технологий.</a:t>
            </a:r>
          </a:p>
        </p:txBody>
      </p:sp>
      <p:pic>
        <p:nvPicPr>
          <p:cNvPr id="1026" name="Picture 2" descr="PostgreSQL — Википедия">
            <a:extLst>
              <a:ext uri="{FF2B5EF4-FFF2-40B4-BE49-F238E27FC236}">
                <a16:creationId xmlns:a16="http://schemas.microsoft.com/office/drawing/2014/main" id="{6EA899DF-AEC8-57FE-A5A7-828734794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425" y="3119261"/>
            <a:ext cx="1052513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o4j plugin for Liquibase - Neo4j Labs">
            <a:extLst>
              <a:ext uri="{FF2B5EF4-FFF2-40B4-BE49-F238E27FC236}">
                <a16:creationId xmlns:a16="http://schemas.microsoft.com/office/drawing/2014/main" id="{B5147D6B-624E-11D0-B057-AD627DD84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324" y="3757073"/>
            <a:ext cx="1151565" cy="75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Тестирование сервисов на Spring с Testcontainers - Уголок сельского джависта">
            <a:extLst>
              <a:ext uri="{FF2B5EF4-FFF2-40B4-BE49-F238E27FC236}">
                <a16:creationId xmlns:a16="http://schemas.microsoft.com/office/drawing/2014/main" id="{FCC7B5C2-CF22-5662-FA61-6968BCB27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559" y="2912504"/>
            <a:ext cx="938659" cy="93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ibernate (@Hibernate) / Posts / X">
            <a:extLst>
              <a:ext uri="{FF2B5EF4-FFF2-40B4-BE49-F238E27FC236}">
                <a16:creationId xmlns:a16="http://schemas.microsoft.com/office/drawing/2014/main" id="{F72AF032-0646-2011-29D7-FF6AEA632A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8" t="14437" r="11458" b="11782"/>
          <a:stretch/>
        </p:blipFill>
        <p:spPr bwMode="auto">
          <a:xfrm>
            <a:off x="5758941" y="3456203"/>
            <a:ext cx="938659" cy="93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5259E7C-3B6E-832B-F46F-B3410315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Данные и Миграция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873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0;p62">
            <a:extLst>
              <a:ext uri="{FF2B5EF4-FFF2-40B4-BE49-F238E27FC236}">
                <a16:creationId xmlns:a16="http://schemas.microsoft.com/office/drawing/2014/main" id="{91CE620F-9FFA-521D-148D-CB2AE675DB6E}"/>
              </a:ext>
            </a:extLst>
          </p:cNvPr>
          <p:cNvSpPr/>
          <p:nvPr/>
        </p:nvSpPr>
        <p:spPr>
          <a:xfrm>
            <a:off x="431800" y="1019316"/>
            <a:ext cx="3414600" cy="4037776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" name="Google Shape;199;p40">
            <a:extLst>
              <a:ext uri="{FF2B5EF4-FFF2-40B4-BE49-F238E27FC236}">
                <a16:creationId xmlns:a16="http://schemas.microsoft.com/office/drawing/2014/main" id="{90EB3EF1-EF1F-E81D-7F31-C7ECA2B640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127838"/>
              </p:ext>
            </p:extLst>
          </p:nvPr>
        </p:nvGraphicFramePr>
        <p:xfrm>
          <a:off x="537725" y="1449767"/>
          <a:ext cx="3308675" cy="76200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27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+mj-lt"/>
                          <a:sym typeface="Roboto"/>
                        </a:rPr>
                        <a:t>1.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+mj-lt"/>
                          <a:sym typeface="Roboto"/>
                        </a:rPr>
                        <a:t>Thymeleaf</a:t>
                      </a:r>
                      <a:r>
                        <a:rPr lang="en-US" sz="1600" dirty="0">
                          <a:latin typeface="+mj-lt"/>
                          <a:sym typeface="Roboto"/>
                        </a:rPr>
                        <a:t> </a:t>
                      </a:r>
                      <a:endParaRPr sz="1600" dirty="0">
                        <a:latin typeface="+mj-lt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+mj-lt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chemeClr val="accent2"/>
                        </a:solidFill>
                        <a:latin typeface="+mj-lt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+mj-lt"/>
                          <a:sym typeface="Roboto"/>
                        </a:rPr>
                        <a:t>HTML5, CSS3</a:t>
                      </a:r>
                      <a:r>
                        <a:rPr lang="ru-RU" sz="1600" dirty="0">
                          <a:latin typeface="+mj-lt"/>
                          <a:sym typeface="Roboto"/>
                        </a:rPr>
                        <a:t>, </a:t>
                      </a:r>
                      <a:r>
                        <a:rPr lang="en-US" sz="1600" dirty="0">
                          <a:latin typeface="+mj-lt"/>
                          <a:sym typeface="Roboto"/>
                        </a:rPr>
                        <a:t>Bootstrap 5</a:t>
                      </a:r>
                      <a:endParaRPr sz="1600" dirty="0">
                        <a:latin typeface="+mj-lt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443;p62">
            <a:extLst>
              <a:ext uri="{FF2B5EF4-FFF2-40B4-BE49-F238E27FC236}">
                <a16:creationId xmlns:a16="http://schemas.microsoft.com/office/drawing/2014/main" id="{47422C43-18EC-EF53-DEC9-25429DFE991D}"/>
              </a:ext>
            </a:extLst>
          </p:cNvPr>
          <p:cNvSpPr txBox="1"/>
          <p:nvPr/>
        </p:nvSpPr>
        <p:spPr>
          <a:xfrm>
            <a:off x="537725" y="1019316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+mj-lt"/>
                <a:ea typeface="Roboto"/>
                <a:cs typeface="Roboto"/>
                <a:sym typeface="Roboto"/>
              </a:rPr>
              <a:t>Frontend:</a:t>
            </a:r>
            <a:endParaRPr sz="1700" b="1" dirty="0">
              <a:solidFill>
                <a:schemeClr val="accent2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" name="Google Shape;199;p40">
            <a:extLst>
              <a:ext uri="{FF2B5EF4-FFF2-40B4-BE49-F238E27FC236}">
                <a16:creationId xmlns:a16="http://schemas.microsoft.com/office/drawing/2014/main" id="{7585D581-E7AD-A702-4CDE-64E2D322E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5013365"/>
              </p:ext>
            </p:extLst>
          </p:nvPr>
        </p:nvGraphicFramePr>
        <p:xfrm>
          <a:off x="537725" y="2622618"/>
          <a:ext cx="3308675" cy="76200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27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REST API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Swagger UI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443;p62">
            <a:extLst>
              <a:ext uri="{FF2B5EF4-FFF2-40B4-BE49-F238E27FC236}">
                <a16:creationId xmlns:a16="http://schemas.microsoft.com/office/drawing/2014/main" id="{6216EC0A-A22C-E85E-3AE5-85D56B575EBB}"/>
              </a:ext>
            </a:extLst>
          </p:cNvPr>
          <p:cNvSpPr txBox="1"/>
          <p:nvPr/>
        </p:nvSpPr>
        <p:spPr>
          <a:xfrm>
            <a:off x="537725" y="2192167"/>
            <a:ext cx="3007900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 &amp; </a:t>
            </a:r>
            <a:r>
              <a:rPr lang="ru-RU" sz="17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Документация:</a:t>
            </a:r>
            <a:endParaRPr lang="en-US" sz="1700" b="1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" name="Google Shape;199;p40">
            <a:extLst>
              <a:ext uri="{FF2B5EF4-FFF2-40B4-BE49-F238E27FC236}">
                <a16:creationId xmlns:a16="http://schemas.microsoft.com/office/drawing/2014/main" id="{2E6F462A-1AA8-12DF-D49A-8EECE4F38E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840304"/>
              </p:ext>
            </p:extLst>
          </p:nvPr>
        </p:nvGraphicFramePr>
        <p:xfrm>
          <a:off x="537725" y="3783392"/>
          <a:ext cx="3308675" cy="114300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27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Maven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Checkstyle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Actions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endParaRPr sz="1600" dirty="0">
                        <a:solidFill>
                          <a:schemeClr val="bg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2920275"/>
                  </a:ext>
                </a:extLst>
              </a:tr>
            </a:tbl>
          </a:graphicData>
        </a:graphic>
      </p:graphicFrame>
      <p:sp>
        <p:nvSpPr>
          <p:cNvPr id="11" name="Google Shape;443;p62">
            <a:extLst>
              <a:ext uri="{FF2B5EF4-FFF2-40B4-BE49-F238E27FC236}">
                <a16:creationId xmlns:a16="http://schemas.microsoft.com/office/drawing/2014/main" id="{D3449711-553E-3DE2-79C6-2F48E723D0AB}"/>
              </a:ext>
            </a:extLst>
          </p:cNvPr>
          <p:cNvSpPr txBox="1"/>
          <p:nvPr/>
        </p:nvSpPr>
        <p:spPr>
          <a:xfrm>
            <a:off x="537725" y="3352941"/>
            <a:ext cx="3007900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Инструменты &amp; Качество:</a:t>
            </a:r>
            <a:endParaRPr lang="en-US" sz="1700" b="1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FD13014-91A3-03F5-A7FB-93FF2C52A88E}"/>
              </a:ext>
            </a:extLst>
          </p:cNvPr>
          <p:cNvGrpSpPr/>
          <p:nvPr/>
        </p:nvGrpSpPr>
        <p:grpSpPr>
          <a:xfrm>
            <a:off x="4324349" y="1215532"/>
            <a:ext cx="4617426" cy="3597768"/>
            <a:chOff x="4324349" y="1215532"/>
            <a:chExt cx="4617426" cy="3597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7B9BC1C-65CD-1EDC-3A6B-C830CC17FF8A}"/>
                </a:ext>
              </a:extLst>
            </p:cNvPr>
            <p:cNvSpPr/>
            <p:nvPr/>
          </p:nvSpPr>
          <p:spPr>
            <a:xfrm>
              <a:off x="4324351" y="3209366"/>
              <a:ext cx="4617424" cy="16039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Google Shape;417;p60">
              <a:extLst>
                <a:ext uri="{FF2B5EF4-FFF2-40B4-BE49-F238E27FC236}">
                  <a16:creationId xmlns:a16="http://schemas.microsoft.com/office/drawing/2014/main" id="{9ED7E8F9-2750-DC29-191F-BB8AC46A6CC2}"/>
                </a:ext>
              </a:extLst>
            </p:cNvPr>
            <p:cNvSpPr txBox="1">
              <a:spLocks/>
            </p:cNvSpPr>
            <p:nvPr/>
          </p:nvSpPr>
          <p:spPr>
            <a:xfrm>
              <a:off x="4324349" y="1215532"/>
              <a:ext cx="4617425" cy="2025139"/>
            </a:xfrm>
            <a:prstGeom prst="rect">
              <a:avLst/>
            </a:prstGeom>
            <a:solidFill>
              <a:srgbClr val="282C3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Roboto"/>
                <a:buNone/>
                <a:defRPr sz="31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Roboto"/>
                <a:buNone/>
                <a:defRPr sz="2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ru-RU" sz="1300" b="0" dirty="0" err="1">
                  <a:cs typeface="Reem Kufi" pitchFamily="2" charset="-78"/>
                </a:rPr>
                <a:t>Frontend</a:t>
              </a:r>
              <a:r>
                <a:rPr lang="ru-RU" sz="1300" b="0" dirty="0">
                  <a:cs typeface="Reem Kufi" pitchFamily="2" charset="-78"/>
                </a:rPr>
                <a:t> как "тонкий клиент" на </a:t>
              </a:r>
              <a:r>
                <a:rPr lang="ru-RU" sz="1300" b="0" dirty="0" err="1">
                  <a:cs typeface="Reem Kufi" pitchFamily="2" charset="-78"/>
                </a:rPr>
                <a:t>Thymeleaf</a:t>
              </a:r>
              <a:r>
                <a:rPr lang="ru-RU" sz="1300" b="0" dirty="0">
                  <a:cs typeface="Reem Kufi" pitchFamily="2" charset="-78"/>
                </a:rPr>
                <a:t>:</a:t>
              </a:r>
            </a:p>
            <a:p>
              <a:pPr>
                <a:lnSpc>
                  <a:spcPct val="115000"/>
                </a:lnSpc>
              </a:pPr>
              <a:r>
                <a:rPr lang="ru-RU" sz="1300" b="0" dirty="0">
                  <a:cs typeface="Reem Kufi" pitchFamily="2" charset="-78"/>
                </a:rPr>
                <a:t>- Быстрая разработка</a:t>
              </a:r>
            </a:p>
            <a:p>
              <a:pPr>
                <a:lnSpc>
                  <a:spcPct val="115000"/>
                </a:lnSpc>
              </a:pPr>
              <a:r>
                <a:rPr lang="ru-RU" sz="1300" b="0" dirty="0">
                  <a:cs typeface="Reem Kufi" pitchFamily="2" charset="-78"/>
                </a:rPr>
                <a:t>- Единая кодовая база</a:t>
              </a:r>
            </a:p>
            <a:p>
              <a:pPr>
                <a:lnSpc>
                  <a:spcPct val="115000"/>
                </a:lnSpc>
              </a:pPr>
              <a:endParaRPr lang="en-US" sz="1300" b="0" dirty="0">
                <a:latin typeface="Reem Kufi" pitchFamily="2" charset="-78"/>
                <a:cs typeface="Reem Kufi" pitchFamily="2" charset="-78"/>
              </a:endParaRPr>
            </a:p>
            <a:p>
              <a:pPr>
                <a:lnSpc>
                  <a:spcPct val="115000"/>
                </a:lnSpc>
              </a:pPr>
              <a:r>
                <a:rPr lang="ru-RU" sz="1300" b="0" dirty="0">
                  <a:cs typeface="Reem Kufi" pitchFamily="2" charset="-78"/>
                </a:rPr>
                <a:t>API + </a:t>
              </a:r>
              <a:r>
                <a:rPr lang="ru-RU" sz="1300" b="0" dirty="0" err="1">
                  <a:cs typeface="Reem Kufi" pitchFamily="2" charset="-78"/>
                </a:rPr>
                <a:t>Swagger</a:t>
              </a:r>
              <a:r>
                <a:rPr lang="ru-RU" sz="1300" b="0" dirty="0">
                  <a:cs typeface="Reem Kufi" pitchFamily="2" charset="-78"/>
                </a:rPr>
                <a:t> для готовности к интеграциям</a:t>
              </a:r>
            </a:p>
            <a:p>
              <a:pPr>
                <a:lnSpc>
                  <a:spcPct val="115000"/>
                </a:lnSpc>
              </a:pPr>
              <a:endParaRPr lang="ru-RU" sz="1300" b="0" dirty="0">
                <a:cs typeface="Reem Kufi" pitchFamily="2" charset="-78"/>
              </a:endParaRPr>
            </a:p>
            <a:p>
              <a:pPr>
                <a:lnSpc>
                  <a:spcPct val="115000"/>
                </a:lnSpc>
              </a:pPr>
              <a:r>
                <a:rPr lang="ru-RU" sz="1300" b="0" dirty="0" err="1">
                  <a:cs typeface="Reem Kufi" pitchFamily="2" charset="-78"/>
                </a:rPr>
                <a:t>Maven</a:t>
              </a:r>
              <a:r>
                <a:rPr lang="ru-RU" sz="1300" b="0" dirty="0">
                  <a:cs typeface="Reem Kufi" pitchFamily="2" charset="-78"/>
                </a:rPr>
                <a:t> + </a:t>
              </a:r>
              <a:r>
                <a:rPr lang="ru-RU" sz="1300" b="0" dirty="0" err="1">
                  <a:cs typeface="Reem Kufi" pitchFamily="2" charset="-78"/>
                </a:rPr>
                <a:t>Checkstyle</a:t>
              </a:r>
              <a:r>
                <a:rPr lang="ru-RU" sz="1300" b="0" dirty="0">
                  <a:cs typeface="Reem Kufi" pitchFamily="2" charset="-78"/>
                </a:rPr>
                <a:t> элементы развертывания и поддержки качество кода</a:t>
              </a:r>
            </a:p>
          </p:txBody>
        </p:sp>
        <p:pic>
          <p:nvPicPr>
            <p:cNvPr id="3076" name="Picture 4" descr="Движок шаблонов Thymeleaf - Уголок сельского джависта">
              <a:extLst>
                <a:ext uri="{FF2B5EF4-FFF2-40B4-BE49-F238E27FC236}">
                  <a16:creationId xmlns:a16="http://schemas.microsoft.com/office/drawing/2014/main" id="{A38825FB-400A-5447-2154-4D57B76C2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094" y="4088494"/>
              <a:ext cx="533400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Рекомендации по бренду · Bootstrap v5.0">
              <a:extLst>
                <a:ext uri="{FF2B5EF4-FFF2-40B4-BE49-F238E27FC236}">
                  <a16:creationId xmlns:a16="http://schemas.microsoft.com/office/drawing/2014/main" id="{7A31F3FA-3AED-DFEB-43FE-71EA04221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9827" y="3375326"/>
              <a:ext cx="830295" cy="658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GitHub - swagger-api/swagger-editor: Swagger Editor">
              <a:extLst>
                <a:ext uri="{FF2B5EF4-FFF2-40B4-BE49-F238E27FC236}">
                  <a16:creationId xmlns:a16="http://schemas.microsoft.com/office/drawing/2014/main" id="{519CBDDE-56C5-E165-B24D-2D26AF571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787" y="3247611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2" name="Picture 10">
              <a:extLst>
                <a:ext uri="{FF2B5EF4-FFF2-40B4-BE49-F238E27FC236}">
                  <a16:creationId xmlns:a16="http://schemas.microsoft.com/office/drawing/2014/main" id="{F0C9765F-9F35-9C3F-B278-CE91B4A74D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7671" y="3271977"/>
              <a:ext cx="1452563" cy="367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Git · GitHub">
              <a:extLst>
                <a:ext uri="{FF2B5EF4-FFF2-40B4-BE49-F238E27FC236}">
                  <a16:creationId xmlns:a16="http://schemas.microsoft.com/office/drawing/2014/main" id="{DA51830A-3B5D-68D8-9C7C-1920D3387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4481" y="3897265"/>
              <a:ext cx="859472" cy="859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6" name="Picture 14" descr="Быстрый способ уменьшения размера виртуального диска Docker на Windows /  Хабр">
              <a:extLst>
                <a:ext uri="{FF2B5EF4-FFF2-40B4-BE49-F238E27FC236}">
                  <a16:creationId xmlns:a16="http://schemas.microsoft.com/office/drawing/2014/main" id="{7B863077-1800-DA33-BA62-18BBD499A0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9639" y="3754897"/>
              <a:ext cx="968116" cy="828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CE43B63-5756-83DF-5E4A-E20FEFF1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Frontend,</a:t>
            </a:r>
            <a:r>
              <a:rPr lang="ru-RU" sz="3200" dirty="0"/>
              <a:t> </a:t>
            </a:r>
            <a:r>
              <a:rPr lang="en-US" sz="3200" dirty="0"/>
              <a:t>API </a:t>
            </a:r>
            <a:r>
              <a:rPr lang="ru-RU" sz="3200" dirty="0"/>
              <a:t>и Инструменты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870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436327-7356-70A8-151C-46D3966F8FBD}"/>
              </a:ext>
            </a:extLst>
          </p:cNvPr>
          <p:cNvSpPr/>
          <p:nvPr/>
        </p:nvSpPr>
        <p:spPr>
          <a:xfrm>
            <a:off x="914400" y="1209675"/>
            <a:ext cx="2105622" cy="2162176"/>
          </a:xfrm>
          <a:prstGeom prst="rect">
            <a:avLst/>
          </a:prstGeom>
          <a:solidFill>
            <a:srgbClr val="282C34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Google Shape;507;p67">
            <a:extLst>
              <a:ext uri="{FF2B5EF4-FFF2-40B4-BE49-F238E27FC236}">
                <a16:creationId xmlns:a16="http://schemas.microsoft.com/office/drawing/2014/main" id="{2D8F2597-9FC0-95C1-E5C0-AA238F7F09D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026" y="1363325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3" name="Google Shape;508;p67">
            <a:extLst>
              <a:ext uri="{FF2B5EF4-FFF2-40B4-BE49-F238E27FC236}">
                <a16:creationId xmlns:a16="http://schemas.microsoft.com/office/drawing/2014/main" id="{ED384EAE-7A73-4969-FC75-2E98DAD150C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490" y="1902315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" name="Google Shape;509;p67">
            <a:extLst>
              <a:ext uri="{FF2B5EF4-FFF2-40B4-BE49-F238E27FC236}">
                <a16:creationId xmlns:a16="http://schemas.microsoft.com/office/drawing/2014/main" id="{94E6C49E-C540-A822-3CDF-CACDD23AB16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816" y="1902315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" name="Google Shape;510;p67">
            <a:extLst>
              <a:ext uri="{FF2B5EF4-FFF2-40B4-BE49-F238E27FC236}">
                <a16:creationId xmlns:a16="http://schemas.microsoft.com/office/drawing/2014/main" id="{751E652D-0142-F42E-7749-DAE1C48BA95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4202" y="1902315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6" name="Google Shape;512;p67">
            <a:extLst>
              <a:ext uri="{FF2B5EF4-FFF2-40B4-BE49-F238E27FC236}">
                <a16:creationId xmlns:a16="http://schemas.microsoft.com/office/drawing/2014/main" id="{DE9444FC-9DFE-7F14-723E-74A433E11FB7}"/>
              </a:ext>
            </a:extLst>
          </p:cNvPr>
          <p:cNvSpPr txBox="1"/>
          <p:nvPr/>
        </p:nvSpPr>
        <p:spPr>
          <a:xfrm>
            <a:off x="1470181" y="1486815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endParaRPr sz="15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513;p67">
            <a:extLst>
              <a:ext uri="{FF2B5EF4-FFF2-40B4-BE49-F238E27FC236}">
                <a16:creationId xmlns:a16="http://schemas.microsoft.com/office/drawing/2014/main" id="{41CBE9B9-548A-1C80-EBBA-4F95F4EEC909}"/>
              </a:ext>
            </a:extLst>
          </p:cNvPr>
          <p:cNvSpPr txBox="1"/>
          <p:nvPr/>
        </p:nvSpPr>
        <p:spPr>
          <a:xfrm>
            <a:off x="5324930" y="2072189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endParaRPr sz="15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514;p67">
            <a:extLst>
              <a:ext uri="{FF2B5EF4-FFF2-40B4-BE49-F238E27FC236}">
                <a16:creationId xmlns:a16="http://schemas.microsoft.com/office/drawing/2014/main" id="{051E1B7D-63D6-07E1-CF1F-3456B67970DC}"/>
              </a:ext>
            </a:extLst>
          </p:cNvPr>
          <p:cNvSpPr txBox="1"/>
          <p:nvPr/>
        </p:nvSpPr>
        <p:spPr>
          <a:xfrm>
            <a:off x="3402838" y="1902315"/>
            <a:ext cx="123907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DTO + </a:t>
            </a:r>
            <a:r>
              <a:rPr lang="en-US" sz="1500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MapStruct</a:t>
            </a:r>
            <a:endParaRPr sz="15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515;p67">
            <a:extLst>
              <a:ext uri="{FF2B5EF4-FFF2-40B4-BE49-F238E27FC236}">
                <a16:creationId xmlns:a16="http://schemas.microsoft.com/office/drawing/2014/main" id="{ECF3C8A1-9710-5F20-5922-0F1484358934}"/>
              </a:ext>
            </a:extLst>
          </p:cNvPr>
          <p:cNvSpPr txBox="1"/>
          <p:nvPr/>
        </p:nvSpPr>
        <p:spPr>
          <a:xfrm>
            <a:off x="7064357" y="2025806"/>
            <a:ext cx="1154294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Repository</a:t>
            </a:r>
            <a:endParaRPr sz="15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507;p67">
            <a:extLst>
              <a:ext uri="{FF2B5EF4-FFF2-40B4-BE49-F238E27FC236}">
                <a16:creationId xmlns:a16="http://schemas.microsoft.com/office/drawing/2014/main" id="{CA9F79E4-2FDD-6414-5C15-D0519DD492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026" y="2441274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11" name="Google Shape;512;p67">
            <a:extLst>
              <a:ext uri="{FF2B5EF4-FFF2-40B4-BE49-F238E27FC236}">
                <a16:creationId xmlns:a16="http://schemas.microsoft.com/office/drawing/2014/main" id="{EA1E014C-D7EE-1FB0-C833-9ED5B2398641}"/>
              </a:ext>
            </a:extLst>
          </p:cNvPr>
          <p:cNvSpPr txBox="1"/>
          <p:nvPr/>
        </p:nvSpPr>
        <p:spPr>
          <a:xfrm>
            <a:off x="1459619" y="2619464"/>
            <a:ext cx="1353055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endParaRPr sz="15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463;p64">
            <a:extLst>
              <a:ext uri="{FF2B5EF4-FFF2-40B4-BE49-F238E27FC236}">
                <a16:creationId xmlns:a16="http://schemas.microsoft.com/office/drawing/2014/main" id="{A51CBFE9-442D-B246-07C8-8AE6E30534E6}"/>
              </a:ext>
            </a:extLst>
          </p:cNvPr>
          <p:cNvSpPr txBox="1"/>
          <p:nvPr/>
        </p:nvSpPr>
        <p:spPr>
          <a:xfrm>
            <a:off x="3285648" y="3034932"/>
            <a:ext cx="5053500" cy="191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Монолит — как оптимальный выбор для MVP.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Архитектура обусловлена: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Четким разделение ответственности между слоями</a:t>
            </a:r>
            <a:r>
              <a:rPr lang="en-US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lang="ru-RU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Легкостью тестирования каждого компонента</a:t>
            </a:r>
            <a:r>
              <a:rPr lang="en-US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lang="ru-RU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Простотой разработки и развёртывания</a:t>
            </a:r>
            <a:r>
              <a:rPr lang="en-US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lang="ru-RU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Готовности к декомпозиции при росте нагрузки</a:t>
            </a:r>
            <a:r>
              <a:rPr lang="en-US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5D8562BE-082F-BF21-DF44-EFD191F8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Архитектура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106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F7BD18-7E1B-697C-0A13-183C7CFEA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050" b="28694"/>
          <a:stretch/>
        </p:blipFill>
        <p:spPr>
          <a:xfrm>
            <a:off x="1771649" y="983602"/>
            <a:ext cx="5819775" cy="4159898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685B40-FE46-09A1-68D5-9EDDEECF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Базы данных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93EDDF68-E0E9-6F85-1586-BF6FD3EF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Базовая сущность</a:t>
            </a:r>
            <a:endParaRPr lang="ru-RU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66EAC12A-75A2-A24C-23CD-6932771ED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733" y="1126912"/>
            <a:ext cx="6006042" cy="4016588"/>
          </a:xfrm>
          <a:prstGeom prst="rect">
            <a:avLst/>
          </a:prstGeom>
        </p:spPr>
      </p:pic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E2F0294-3338-80C2-674E-2A34DF2C50E3}"/>
              </a:ext>
            </a:extLst>
          </p:cNvPr>
          <p:cNvSpPr/>
          <p:nvPr/>
        </p:nvSpPr>
        <p:spPr>
          <a:xfrm>
            <a:off x="3168144" y="1771650"/>
            <a:ext cx="3399260" cy="55245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46431D5-A490-B59A-A50A-5996FE0C264B}"/>
              </a:ext>
            </a:extLst>
          </p:cNvPr>
          <p:cNvSpPr/>
          <p:nvPr/>
        </p:nvSpPr>
        <p:spPr>
          <a:xfrm>
            <a:off x="3168144" y="2416387"/>
            <a:ext cx="4008860" cy="104118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DF6DC51-DB30-10FB-6FE8-D258A4BCD7C8}"/>
              </a:ext>
            </a:extLst>
          </p:cNvPr>
          <p:cNvSpPr/>
          <p:nvPr/>
        </p:nvSpPr>
        <p:spPr>
          <a:xfrm>
            <a:off x="3168144" y="3549861"/>
            <a:ext cx="5704310" cy="104118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0EF446-0548-7D3D-9195-789072DAF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1120723"/>
            <a:ext cx="2421252" cy="2406753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9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4D3589E-1278-611B-90E6-0BC17A1B3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5" y="1019812"/>
            <a:ext cx="4894767" cy="4123688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090CA4-EFEB-D163-A39A-2A10FA4943BE}"/>
              </a:ext>
            </a:extLst>
          </p:cNvPr>
          <p:cNvSpPr/>
          <p:nvPr/>
        </p:nvSpPr>
        <p:spPr>
          <a:xfrm>
            <a:off x="421175" y="998212"/>
            <a:ext cx="2254862" cy="136207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6481C8D-33A2-B52C-C0ED-8810B9BDC4F1}"/>
              </a:ext>
            </a:extLst>
          </p:cNvPr>
          <p:cNvSpPr/>
          <p:nvPr/>
        </p:nvSpPr>
        <p:spPr>
          <a:xfrm>
            <a:off x="421175" y="2360288"/>
            <a:ext cx="3358597" cy="92583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B9EC498-5EFD-ABB7-9E34-AE3B2E81EE96}"/>
              </a:ext>
            </a:extLst>
          </p:cNvPr>
          <p:cNvSpPr/>
          <p:nvPr/>
        </p:nvSpPr>
        <p:spPr>
          <a:xfrm>
            <a:off x="739187" y="4331132"/>
            <a:ext cx="4576756" cy="59329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CA162EC-CC04-46F3-2CF6-FD3A844D7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547" y="1019812"/>
            <a:ext cx="3584658" cy="4123688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E82EE67-EFC4-8CC2-51A5-48867DAC0D4F}"/>
              </a:ext>
            </a:extLst>
          </p:cNvPr>
          <p:cNvSpPr/>
          <p:nvPr/>
        </p:nvSpPr>
        <p:spPr>
          <a:xfrm>
            <a:off x="5689450" y="3595244"/>
            <a:ext cx="3211150" cy="95121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93EDDF68-E0E9-6F85-1586-BF6FD3EF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Сущность </a:t>
            </a:r>
            <a:r>
              <a:rPr lang="en-US" sz="3200" dirty="0" err="1"/>
              <a:t>BankAccount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825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48062-A051-C2C5-CC79-9CDB16D0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DTO + Mappers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B90735C-FB6A-BB66-2D99-8E0063479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12"/>
          <a:stretch/>
        </p:blipFill>
        <p:spPr>
          <a:xfrm>
            <a:off x="1682103" y="3477355"/>
            <a:ext cx="6220925" cy="166614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3AD0C2C-82B0-9EFC-20EE-41AFCF1D55D7}"/>
              </a:ext>
            </a:extLst>
          </p:cNvPr>
          <p:cNvSpPr/>
          <p:nvPr/>
        </p:nvSpPr>
        <p:spPr>
          <a:xfrm>
            <a:off x="1857215" y="4369005"/>
            <a:ext cx="3815797" cy="58277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25D143E-0C34-1850-965C-0F7A9B0BE4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0049"/>
          <a:stretch/>
        </p:blipFill>
        <p:spPr>
          <a:xfrm>
            <a:off x="1682103" y="1081393"/>
            <a:ext cx="6220925" cy="2349264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E762320-0D34-035B-9B43-68D5B19603BD}"/>
              </a:ext>
            </a:extLst>
          </p:cNvPr>
          <p:cNvSpPr/>
          <p:nvPr/>
        </p:nvSpPr>
        <p:spPr>
          <a:xfrm>
            <a:off x="1857215" y="1301193"/>
            <a:ext cx="3881111" cy="843004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32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561375-89E5-5AA9-F64F-FE1A12EBF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56" y="1093345"/>
            <a:ext cx="7323488" cy="35904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48062-A051-C2C5-CC79-9CDB16D0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</a:t>
            </a:r>
            <a:r>
              <a:rPr lang="ru-RU" dirty="0"/>
              <a:t> репозитории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3AD0C2C-82B0-9EFC-20EE-41AFCF1D55D7}"/>
              </a:ext>
            </a:extLst>
          </p:cNvPr>
          <p:cNvSpPr/>
          <p:nvPr/>
        </p:nvSpPr>
        <p:spPr>
          <a:xfrm>
            <a:off x="1176081" y="2432909"/>
            <a:ext cx="5047437" cy="63686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E762320-0D34-035B-9B43-68D5B19603BD}"/>
              </a:ext>
            </a:extLst>
          </p:cNvPr>
          <p:cNvSpPr/>
          <p:nvPr/>
        </p:nvSpPr>
        <p:spPr>
          <a:xfrm>
            <a:off x="1176081" y="1272543"/>
            <a:ext cx="4758188" cy="99479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D482FBB-4482-2AD9-F6D9-82DD4BE4A611}"/>
              </a:ext>
            </a:extLst>
          </p:cNvPr>
          <p:cNvSpPr/>
          <p:nvPr/>
        </p:nvSpPr>
        <p:spPr>
          <a:xfrm>
            <a:off x="1176080" y="3234094"/>
            <a:ext cx="6642973" cy="137522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610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48062-A051-C2C5-CC79-9CDB16D0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Liquibase + PostgreSQL + JPA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D88847-AEB8-26CB-15B8-71EA697B3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735" y="1051664"/>
            <a:ext cx="3429479" cy="40391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47E42C-2811-7DE2-A35E-C7A4D52D7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26" y="1051664"/>
            <a:ext cx="2103312" cy="4039164"/>
          </a:xfrm>
          <a:prstGeom prst="rect">
            <a:avLst/>
          </a:prstGeom>
        </p:spPr>
      </p:pic>
      <p:sp>
        <p:nvSpPr>
          <p:cNvPr id="12" name="Правая фигурная скобка 11">
            <a:extLst>
              <a:ext uri="{FF2B5EF4-FFF2-40B4-BE49-F238E27FC236}">
                <a16:creationId xmlns:a16="http://schemas.microsoft.com/office/drawing/2014/main" id="{32E9778A-E15B-93A7-E5BA-87A557449819}"/>
              </a:ext>
            </a:extLst>
          </p:cNvPr>
          <p:cNvSpPr/>
          <p:nvPr/>
        </p:nvSpPr>
        <p:spPr>
          <a:xfrm>
            <a:off x="4608513" y="1478780"/>
            <a:ext cx="234075" cy="508640"/>
          </a:xfrm>
          <a:prstGeom prst="rightBrac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авая фигурная скобка 12">
            <a:extLst>
              <a:ext uri="{FF2B5EF4-FFF2-40B4-BE49-F238E27FC236}">
                <a16:creationId xmlns:a16="http://schemas.microsoft.com/office/drawing/2014/main" id="{529FC313-118B-08BC-46A2-7E57142F71F4}"/>
              </a:ext>
            </a:extLst>
          </p:cNvPr>
          <p:cNvSpPr/>
          <p:nvPr/>
        </p:nvSpPr>
        <p:spPr>
          <a:xfrm>
            <a:off x="5990122" y="2043407"/>
            <a:ext cx="234075" cy="1903436"/>
          </a:xfrm>
          <a:prstGeom prst="rightBrac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763BE1D-8427-95E9-3A9B-75F5C27D2E01}"/>
              </a:ext>
            </a:extLst>
          </p:cNvPr>
          <p:cNvCxnSpPr/>
          <p:nvPr/>
        </p:nvCxnSpPr>
        <p:spPr>
          <a:xfrm flipH="1">
            <a:off x="3144416" y="2043406"/>
            <a:ext cx="271665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E5E4257-C022-3A9A-4F62-EF1E4434BFE3}"/>
              </a:ext>
            </a:extLst>
          </p:cNvPr>
          <p:cNvCxnSpPr/>
          <p:nvPr/>
        </p:nvCxnSpPr>
        <p:spPr>
          <a:xfrm flipH="1">
            <a:off x="3144416" y="3946843"/>
            <a:ext cx="271665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E1FEEDD-BA6D-188E-C36A-3066B10ED946}"/>
              </a:ext>
            </a:extLst>
          </p:cNvPr>
          <p:cNvCxnSpPr/>
          <p:nvPr/>
        </p:nvCxnSpPr>
        <p:spPr>
          <a:xfrm flipH="1">
            <a:off x="3144416" y="4879912"/>
            <a:ext cx="271665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D28F054-8EA0-EB14-456F-F5A03E7B9FE2}"/>
              </a:ext>
            </a:extLst>
          </p:cNvPr>
          <p:cNvCxnSpPr/>
          <p:nvPr/>
        </p:nvCxnSpPr>
        <p:spPr>
          <a:xfrm flipH="1">
            <a:off x="3144416" y="4114802"/>
            <a:ext cx="271665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7">
            <a:extLst>
              <a:ext uri="{FF2B5EF4-FFF2-40B4-BE49-F238E27FC236}">
                <a16:creationId xmlns:a16="http://schemas.microsoft.com/office/drawing/2014/main" id="{2350C43B-C618-4343-8318-8B59E478E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106" y="1512551"/>
            <a:ext cx="1741943" cy="4410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+mj-lt"/>
              </a:rPr>
              <a:t>Миграция данных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7EC5930D-E020-1939-6BED-5DB606201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39" y="2723916"/>
            <a:ext cx="1907553" cy="4410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+mj-lt"/>
              </a:rPr>
              <a:t>Миграция структуры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9383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Security: JWT Stateless 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B582420-A127-698A-2FBF-958CB0FA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096993"/>
            <a:ext cx="4633659" cy="386689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0F8B4C-9C8F-04F2-F788-42B9204D0E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641"/>
          <a:stretch/>
        </p:blipFill>
        <p:spPr>
          <a:xfrm>
            <a:off x="5139086" y="1096993"/>
            <a:ext cx="3802689" cy="8573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A8E9EF4-82D8-1C4A-F6D3-49376F6880E4}"/>
              </a:ext>
            </a:extLst>
          </p:cNvPr>
          <p:cNvSpPr txBox="1"/>
          <p:nvPr/>
        </p:nvSpPr>
        <p:spPr>
          <a:xfrm>
            <a:off x="5139086" y="2152772"/>
            <a:ext cx="3802689" cy="203132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JwtRequestFilter</a:t>
            </a:r>
            <a:r>
              <a:rPr lang="en-US" dirty="0">
                <a:solidFill>
                  <a:schemeClr val="tx1"/>
                </a:solidFill>
              </a:rPr>
              <a:t> –</a:t>
            </a:r>
            <a:r>
              <a:rPr lang="ru-RU" dirty="0">
                <a:solidFill>
                  <a:schemeClr val="tx1"/>
                </a:solidFill>
              </a:rPr>
              <a:t> отвечает за обработку запросов и проверку наличия токена.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accent1"/>
                </a:solidFill>
              </a:rPr>
              <a:t>JwtTokenUtil</a:t>
            </a:r>
            <a:r>
              <a:rPr lang="ru-RU" dirty="0">
                <a:solidFill>
                  <a:schemeClr val="tx1"/>
                </a:solidFill>
              </a:rPr>
              <a:t> – отвечает за генерацию, валидацию и обработку токена.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accent5"/>
                </a:solidFill>
              </a:rPr>
              <a:t>PasswordService</a:t>
            </a:r>
            <a:r>
              <a:rPr lang="ru-RU" dirty="0">
                <a:solidFill>
                  <a:schemeClr val="tx1"/>
                </a:solidFill>
              </a:rPr>
              <a:t> – шифрует пароль на основании метода шифрования из конфигурации </a:t>
            </a:r>
            <a:r>
              <a:rPr lang="en-US" dirty="0" err="1">
                <a:solidFill>
                  <a:schemeClr val="accent1"/>
                </a:solidFill>
              </a:rPr>
              <a:t>PasswordEncoderConfig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2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Локализация</a:t>
            </a:r>
          </a:p>
        </p:txBody>
      </p:sp>
      <p:graphicFrame>
        <p:nvGraphicFramePr>
          <p:cNvPr id="33" name="Таблица 32">
            <a:extLst>
              <a:ext uri="{FF2B5EF4-FFF2-40B4-BE49-F238E27FC236}">
                <a16:creationId xmlns:a16="http://schemas.microsoft.com/office/drawing/2014/main" id="{410AC561-3F38-BE10-24D1-436EC5919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43599"/>
              </p:ext>
            </p:extLst>
          </p:nvPr>
        </p:nvGraphicFramePr>
        <p:xfrm>
          <a:off x="1059672" y="2693634"/>
          <a:ext cx="7024654" cy="2242136"/>
        </p:xfrm>
        <a:graphic>
          <a:graphicData uri="http://schemas.openxmlformats.org/drawingml/2006/table">
            <a:tbl>
              <a:tblPr/>
              <a:tblGrid>
                <a:gridCol w="1223507">
                  <a:extLst>
                    <a:ext uri="{9D8B030D-6E8A-4147-A177-3AD203B41FA5}">
                      <a16:colId xmlns:a16="http://schemas.microsoft.com/office/drawing/2014/main" val="1323765524"/>
                    </a:ext>
                  </a:extLst>
                </a:gridCol>
                <a:gridCol w="3739875">
                  <a:extLst>
                    <a:ext uri="{9D8B030D-6E8A-4147-A177-3AD203B41FA5}">
                      <a16:colId xmlns:a16="http://schemas.microsoft.com/office/drawing/2014/main" val="3179856514"/>
                    </a:ext>
                  </a:extLst>
                </a:gridCol>
                <a:gridCol w="2061272">
                  <a:extLst>
                    <a:ext uri="{9D8B030D-6E8A-4147-A177-3AD203B41FA5}">
                      <a16:colId xmlns:a16="http://schemas.microsoft.com/office/drawing/2014/main" val="4106381239"/>
                    </a:ext>
                  </a:extLst>
                </a:gridCol>
              </a:tblGrid>
              <a:tr h="395336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Категория</a:t>
                      </a:r>
                      <a:endParaRPr lang="ru-RU" sz="1200" b="0" dirty="0">
                        <a:solidFill>
                          <a:schemeClr val="accent5"/>
                        </a:solidFill>
                        <a:effectLst/>
                        <a:latin typeface="+mj-lt"/>
                      </a:endParaRPr>
                    </a:p>
                  </a:txBody>
                  <a:tcPr marL="89510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Примеры</a:t>
                      </a:r>
                      <a:endParaRPr lang="ru-RU" sz="1200" b="0" dirty="0">
                        <a:solidFill>
                          <a:schemeClr val="accent5"/>
                        </a:solidFill>
                        <a:effectLst/>
                        <a:latin typeface="+mj-lt"/>
                      </a:endParaRP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accent5"/>
                          </a:solidFill>
                          <a:effectLst/>
                          <a:latin typeface="+mj-lt"/>
                        </a:rPr>
                        <a:t>Назначение</a:t>
                      </a:r>
                      <a:endParaRPr lang="ru-RU" sz="1200" b="0" dirty="0">
                        <a:solidFill>
                          <a:schemeClr val="accent5"/>
                        </a:solidFill>
                        <a:effectLst/>
                        <a:latin typeface="+mj-lt"/>
                      </a:endParaRP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1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+mj-lt"/>
                        </a:rPr>
                        <a:t>Validation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marL="89510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+mj-lt"/>
                        </a:rPr>
                        <a:t>validation.BankAccount.accountName.notBlank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+mj-lt"/>
                        </a:rPr>
                        <a:t>Валидация форм</a:t>
                      </a:r>
                    </a:p>
                  </a:txBody>
                  <a:tcPr marL="149183" marR="89510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208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+mj-lt"/>
                        </a:rPr>
                        <a:t>Business</a:t>
                      </a:r>
                      <a:endParaRPr lang="en-US" sz="1200" b="0">
                        <a:effectLst/>
                        <a:latin typeface="+mj-lt"/>
                      </a:endParaRPr>
                    </a:p>
                  </a:txBody>
                  <a:tcPr marL="89510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+mj-lt"/>
                        </a:rPr>
                        <a:t>business.transaction.currency.mismatch</a:t>
                      </a: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+mj-lt"/>
                        </a:rPr>
                        <a:t>Бизнес-логика</a:t>
                      </a:r>
                    </a:p>
                  </a:txBody>
                  <a:tcPr marL="149183" marR="89510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70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+mj-lt"/>
                        </a:rPr>
                        <a:t>Exceptions</a:t>
                      </a:r>
                      <a:endParaRPr lang="en-US" sz="1200" b="0">
                        <a:effectLst/>
                        <a:latin typeface="+mj-lt"/>
                      </a:endParaRPr>
                    </a:p>
                  </a:txBody>
                  <a:tcPr marL="89510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+mj-lt"/>
                        </a:rPr>
                        <a:t>exception.entity.not.found.bank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+mj-lt"/>
                        </a:rPr>
                        <a:t>Обработка ошибок</a:t>
                      </a:r>
                    </a:p>
                  </a:txBody>
                  <a:tcPr marL="149183" marR="89510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+mj-lt"/>
                        </a:rPr>
                        <a:t>Security</a:t>
                      </a:r>
                      <a:endParaRPr lang="en-US" sz="1200" b="0">
                        <a:effectLst/>
                        <a:latin typeface="+mj-lt"/>
                      </a:endParaRPr>
                    </a:p>
                  </a:txBody>
                  <a:tcPr marL="89510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+mj-lt"/>
                        </a:rPr>
                        <a:t>security.UserService.notAuthenticated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+mj-lt"/>
                        </a:rPr>
                        <a:t>Безопасность</a:t>
                      </a:r>
                    </a:p>
                  </a:txBody>
                  <a:tcPr marL="149183" marR="89510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34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+mj-lt"/>
                        </a:rPr>
                        <a:t>Registration</a:t>
                      </a:r>
                      <a:endParaRPr lang="en-US" sz="1200" b="0">
                        <a:effectLst/>
                        <a:latin typeface="+mj-lt"/>
                      </a:endParaRPr>
                    </a:p>
                  </a:txBody>
                  <a:tcPr marL="89510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+mj-lt"/>
                        </a:rPr>
                        <a:t>registration.login.already.exist</a:t>
                      </a:r>
                    </a:p>
                  </a:txBody>
                  <a:tcPr marL="149183" marR="149183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+mj-lt"/>
                        </a:rPr>
                        <a:t>Регистрация</a:t>
                      </a:r>
                    </a:p>
                  </a:txBody>
                  <a:tcPr marL="149183" marR="89510" marT="93240" marB="93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071751"/>
                  </a:ext>
                </a:extLst>
              </a:tr>
            </a:tbl>
          </a:graphicData>
        </a:graphic>
      </p:graphicFrame>
      <p:sp>
        <p:nvSpPr>
          <p:cNvPr id="35" name="Google Shape;440;p62">
            <a:extLst>
              <a:ext uri="{FF2B5EF4-FFF2-40B4-BE49-F238E27FC236}">
                <a16:creationId xmlns:a16="http://schemas.microsoft.com/office/drawing/2014/main" id="{8D2FEF52-879E-690D-2B19-7173B1521BF6}"/>
              </a:ext>
            </a:extLst>
          </p:cNvPr>
          <p:cNvSpPr/>
          <p:nvPr/>
        </p:nvSpPr>
        <p:spPr>
          <a:xfrm>
            <a:off x="863730" y="1042896"/>
            <a:ext cx="7416539" cy="1406971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441;p62">
            <a:extLst>
              <a:ext uri="{FF2B5EF4-FFF2-40B4-BE49-F238E27FC236}">
                <a16:creationId xmlns:a16="http://schemas.microsoft.com/office/drawing/2014/main" id="{1926EBA9-99FA-E6F7-222B-F9E031B7C7C4}"/>
              </a:ext>
            </a:extLst>
          </p:cNvPr>
          <p:cNvSpPr txBox="1"/>
          <p:nvPr/>
        </p:nvSpPr>
        <p:spPr>
          <a:xfrm>
            <a:off x="1112635" y="1229331"/>
            <a:ext cx="6918729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bg1"/>
                </a:solidFill>
                <a:latin typeface="+mn-lt"/>
                <a:ea typeface="Roboto"/>
                <a:cs typeface="Roboto"/>
                <a:sym typeface="Roboto"/>
              </a:rPr>
              <a:t>Реализована е</a:t>
            </a:r>
            <a:r>
              <a:rPr lang="ru-RU" sz="1200" i="0" dirty="0">
                <a:solidFill>
                  <a:schemeClr val="bg1"/>
                </a:solidFill>
                <a:effectLst/>
                <a:latin typeface="+mn-lt"/>
              </a:rPr>
              <a:t>диная система сообщений для валидации, ошибок и бизнес-логики.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bg1"/>
              </a:solidFill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i="0" dirty="0">
                <a:solidFill>
                  <a:schemeClr val="bg1"/>
                </a:solidFill>
                <a:effectLst/>
                <a:latin typeface="+mn-lt"/>
              </a:rPr>
              <a:t>От валидации форм до бизнес-ошибок — все сообщения централизованы, </a:t>
            </a:r>
            <a:r>
              <a:rPr lang="ru-RU" sz="1200" i="0" dirty="0" err="1">
                <a:solidFill>
                  <a:schemeClr val="bg1"/>
                </a:solidFill>
                <a:effectLst/>
                <a:latin typeface="+mn-lt"/>
              </a:rPr>
              <a:t>категоризированы</a:t>
            </a:r>
            <a:r>
              <a:rPr lang="ru-RU" sz="1200" i="0" dirty="0">
                <a:solidFill>
                  <a:schemeClr val="bg1"/>
                </a:solidFill>
                <a:effectLst/>
                <a:latin typeface="+mn-lt"/>
              </a:rPr>
              <a:t> и готовы к локализации на любые языки</a:t>
            </a:r>
            <a:endParaRPr sz="1200" dirty="0">
              <a:solidFill>
                <a:schemeClr val="bg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6960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Обработка ошибок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A5E68DA-4CEA-D670-3AA0-F0DC232E0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701" y="1056379"/>
            <a:ext cx="5710597" cy="39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61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Логирование исключений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BEC5E5-65D9-3CDE-7193-6026611EBF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662"/>
          <a:stretch/>
        </p:blipFill>
        <p:spPr>
          <a:xfrm>
            <a:off x="1307717" y="994143"/>
            <a:ext cx="7139597" cy="2640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F7CA71-A2AF-B077-FFF6-FA3661B38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475"/>
          <a:stretch/>
        </p:blipFill>
        <p:spPr>
          <a:xfrm>
            <a:off x="1307717" y="3750084"/>
            <a:ext cx="7139597" cy="7985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5525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Тестирование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45FFA4-54FA-9300-0E74-577A35613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791" y="1028810"/>
            <a:ext cx="5897209" cy="411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2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Тестирование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9F3E18-F471-72FB-47AB-917D26E22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56" r="8082"/>
          <a:stretch/>
        </p:blipFill>
        <p:spPr>
          <a:xfrm>
            <a:off x="421175" y="1065548"/>
            <a:ext cx="4579620" cy="3902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B4ADB2-C0C9-BF6D-AFFA-F01AA316402D}"/>
              </a:ext>
            </a:extLst>
          </p:cNvPr>
          <p:cNvSpPr txBox="1"/>
          <p:nvPr/>
        </p:nvSpPr>
        <p:spPr>
          <a:xfrm>
            <a:off x="5067299" y="1065548"/>
            <a:ext cx="3821135" cy="2031325"/>
          </a:xfrm>
          <a:prstGeom prst="rect">
            <a:avLst/>
          </a:prstGeom>
          <a:solidFill>
            <a:srgbClr val="282C3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Разделение ответственности: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Web контроллеры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→ Пользовательский интерфейс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API контроллеры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→ Программный интерфейс</a:t>
            </a:r>
          </a:p>
          <a:p>
            <a:pPr algn="l"/>
            <a:endParaRPr lang="en-US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Единая аутентификация: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Одинаковый механизм для Web и API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JWT токены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HttpOnly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куках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Стандартные Spring Security аннотации</a:t>
            </a:r>
          </a:p>
        </p:txBody>
      </p:sp>
    </p:spTree>
    <p:extLst>
      <p:ext uri="{BB962C8B-B14F-4D97-AF65-F5344CB8AC3E}">
        <p14:creationId xmlns:p14="http://schemas.microsoft.com/office/powerpoint/2010/main" val="1160333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Docker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AF09DD-94FC-31C4-A002-BF984EAEF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732" b="15959"/>
          <a:stretch/>
        </p:blipFill>
        <p:spPr>
          <a:xfrm>
            <a:off x="1790969" y="2157923"/>
            <a:ext cx="5781011" cy="2654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D2554B-0825-B091-79B6-BB548267B565}"/>
              </a:ext>
            </a:extLst>
          </p:cNvPr>
          <p:cNvSpPr txBox="1"/>
          <p:nvPr/>
        </p:nvSpPr>
        <p:spPr>
          <a:xfrm>
            <a:off x="1768109" y="1173516"/>
            <a:ext cx="4183112" cy="738664"/>
          </a:xfrm>
          <a:prstGeom prst="rect">
            <a:avLst/>
          </a:prstGeom>
          <a:solidFill>
            <a:srgbClr val="282C3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Приложение и БД в одной сети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Нет прямого доступа извне к БД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Безопасная коммуникация между контейнерами</a:t>
            </a:r>
          </a:p>
        </p:txBody>
      </p:sp>
    </p:spTree>
    <p:extLst>
      <p:ext uri="{BB962C8B-B14F-4D97-AF65-F5344CB8AC3E}">
        <p14:creationId xmlns:p14="http://schemas.microsoft.com/office/powerpoint/2010/main" val="3441635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6DC5A-368C-08BF-334F-3C87B88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CI/CD: Автоматизация сборки и мониторинга</a:t>
            </a:r>
            <a:endParaRPr lang="en-US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2554B-0825-B091-79B6-BB548267B565}"/>
              </a:ext>
            </a:extLst>
          </p:cNvPr>
          <p:cNvSpPr txBox="1"/>
          <p:nvPr/>
        </p:nvSpPr>
        <p:spPr>
          <a:xfrm>
            <a:off x="1768109" y="1173516"/>
            <a:ext cx="4183112" cy="738664"/>
          </a:xfrm>
          <a:prstGeom prst="rect">
            <a:avLst/>
          </a:prstGeom>
          <a:solidFill>
            <a:srgbClr val="282C3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Приложение и БД в одной сети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Нет прямого доступа извне к БД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Безопасная коммуникация между контейнерами</a:t>
            </a:r>
          </a:p>
        </p:txBody>
      </p:sp>
    </p:spTree>
    <p:extLst>
      <p:ext uri="{BB962C8B-B14F-4D97-AF65-F5344CB8AC3E}">
        <p14:creationId xmlns:p14="http://schemas.microsoft.com/office/powerpoint/2010/main" val="4027183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b="1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lang="ru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419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7239000" cy="1775848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 b="1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sz="1100" b="1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marL="914400" lvl="1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marL="914400" lvl="1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marL="457200" lvl="0" indent="-2984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 dirty="0"/>
              <a:t>Материал для моделирования</a:t>
            </a:r>
            <a:endParaRPr sz="3600" dirty="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 dirty="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 dirty="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7239000" cy="182875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 dirty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/>
              <a:t>Сравнение двух кейсов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dirty="0"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795750" cy="3852916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7239000" cy="1275622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8275500" cy="127613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5494225" cy="347997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4294967295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4294967295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int **a;  // указатель на указатель на строку элементов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int i, j, n, m;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system("chcp 1251");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system("cls");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printf("Введите количество строк: 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scanf("%d", &amp;n);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printf("Введите количество столбцов: 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scanf("%d", &amp;m);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// Выделение памяти под указатели на строки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a = (int**)malloc(n * sizeof(int*));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// Ввод элементов массива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for (i = 0; i&lt;n; i++)  // цикл по строкам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// Выделение памяти под хранение строк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a[i] = (int*)malloc(m * sizeof(int));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for (j = 0; j&lt;m; j++)  // цикл по столбцам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  printf("a[%d][%d] = ", i, j);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dirty="0"/>
              <a:t>      scanf("%d", &amp;a[i][j]);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    }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7834275" cy="2966490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7961150" cy="2807725"/>
        </p:xfrm>
        <a:graphic>
          <a:graphicData uri="http://schemas.openxmlformats.org/drawingml/2006/table">
            <a:tbl>
              <a:tblPr>
                <a:noFill/>
                <a:tableStyleId>{7EB45D60-7195-4C9D-AB46-2696C140063F}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Другая 2">
      <a:dk1>
        <a:srgbClr val="FFFFFF"/>
      </a:dk1>
      <a:lt1>
        <a:srgbClr val="21252B"/>
      </a:lt1>
      <a:dk2>
        <a:srgbClr val="FFFFFF"/>
      </a:dk2>
      <a:lt2>
        <a:srgbClr val="282C34"/>
      </a:lt2>
      <a:accent1>
        <a:srgbClr val="C9492C"/>
      </a:accent1>
      <a:accent2>
        <a:srgbClr val="40299B"/>
      </a:accent2>
      <a:accent3>
        <a:srgbClr val="555D6F"/>
      </a:accent3>
      <a:accent4>
        <a:srgbClr val="C00000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3514</Words>
  <Application>Microsoft Office PowerPoint</Application>
  <PresentationFormat>Экран (16:9)</PresentationFormat>
  <Paragraphs>560</Paragraphs>
  <Slides>59</Slides>
  <Notes>59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59</vt:i4>
      </vt:variant>
    </vt:vector>
  </HeadingPairs>
  <TitlesOfParts>
    <vt:vector size="68" baseType="lpstr">
      <vt:lpstr>Roboto</vt:lpstr>
      <vt:lpstr>Avenir</vt:lpstr>
      <vt:lpstr>Reem Kufi</vt:lpstr>
      <vt:lpstr>Courier New</vt:lpstr>
      <vt:lpstr>Roboto Medium</vt:lpstr>
      <vt:lpstr>Arial</vt:lpstr>
      <vt:lpstr>quote-cjk-patch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Менеджер банковских операций   </vt:lpstr>
      <vt:lpstr>Цель и задачи проекта</vt:lpstr>
      <vt:lpstr>Технологический стек - Backend</vt:lpstr>
      <vt:lpstr>Данные и Миграция</vt:lpstr>
      <vt:lpstr>Frontend, API и Инструменты</vt:lpstr>
      <vt:lpstr>Архитектура</vt:lpstr>
      <vt:lpstr>Структура Базы данных</vt:lpstr>
      <vt:lpstr>Базовая сущность</vt:lpstr>
      <vt:lpstr>Сущность BankAccount</vt:lpstr>
      <vt:lpstr>DTO + Mappers</vt:lpstr>
      <vt:lpstr>JPA репозитории</vt:lpstr>
      <vt:lpstr>Liquibase + PostgreSQL + JPA</vt:lpstr>
      <vt:lpstr>Security: JWT Stateless </vt:lpstr>
      <vt:lpstr>Локализация</vt:lpstr>
      <vt:lpstr>Обработка ошибок</vt:lpstr>
      <vt:lpstr>Логирование исключений</vt:lpstr>
      <vt:lpstr>Тестирование</vt:lpstr>
      <vt:lpstr>Тестирование</vt:lpstr>
      <vt:lpstr>Docker</vt:lpstr>
      <vt:lpstr>CI/CD: Автоматизация сборки и мониторинга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semva</dc:creator>
  <cp:lastModifiedBy>semvasek@gmail.com</cp:lastModifiedBy>
  <cp:revision>19</cp:revision>
  <dcterms:modified xsi:type="dcterms:W3CDTF">2025-11-14T09:46:17Z</dcterms:modified>
</cp:coreProperties>
</file>