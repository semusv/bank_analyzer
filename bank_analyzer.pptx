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9" r:id="rId1"/>
    <p:sldMasterId id="2147483681" r:id="rId2"/>
  </p:sldMasterIdLst>
  <p:notesMasterIdLst>
    <p:notesMasterId r:id="rId30"/>
  </p:notesMasterIdLst>
  <p:sldIdLst>
    <p:sldId id="256" r:id="rId3"/>
    <p:sldId id="257" r:id="rId4"/>
    <p:sldId id="258" r:id="rId5"/>
    <p:sldId id="260" r:id="rId6"/>
    <p:sldId id="261" r:id="rId7"/>
    <p:sldId id="300" r:id="rId8"/>
    <p:sldId id="299" r:id="rId9"/>
    <p:sldId id="301" r:id="rId10"/>
    <p:sldId id="262" r:id="rId11"/>
    <p:sldId id="303" r:id="rId12"/>
    <p:sldId id="306" r:id="rId13"/>
    <p:sldId id="305" r:id="rId14"/>
    <p:sldId id="307" r:id="rId15"/>
    <p:sldId id="310" r:id="rId16"/>
    <p:sldId id="308" r:id="rId17"/>
    <p:sldId id="309" r:id="rId18"/>
    <p:sldId id="315" r:id="rId19"/>
    <p:sldId id="312" r:id="rId20"/>
    <p:sldId id="314" r:id="rId21"/>
    <p:sldId id="313" r:id="rId22"/>
    <p:sldId id="316" r:id="rId23"/>
    <p:sldId id="317" r:id="rId24"/>
    <p:sldId id="318" r:id="rId25"/>
    <p:sldId id="319" r:id="rId26"/>
    <p:sldId id="264" r:id="rId27"/>
    <p:sldId id="265" r:id="rId28"/>
    <p:sldId id="266" r:id="rId29"/>
  </p:sldIdLst>
  <p:sldSz cx="9144000" cy="5143500" type="screen16x9"/>
  <p:notesSz cx="6858000" cy="9144000"/>
  <p:embeddedFontLst>
    <p:embeddedFont>
      <p:font typeface="Reem Kufi" pitchFamily="2" charset="-78"/>
      <p:regular r:id="rId31"/>
      <p:bold r:id="rId32"/>
    </p:embeddedFont>
    <p:embeddedFont>
      <p:font typeface="Roboto" panose="02000000000000000000" pitchFamily="2" charset="0"/>
      <p:regular r:id="rId33"/>
      <p:bold r:id="rId34"/>
      <p:italic r:id="rId35"/>
      <p:boldItalic r:id="rId36"/>
    </p:embeddedFont>
    <p:embeddedFont>
      <p:font typeface="Roboto Medium" panose="02000000000000000000" pitchFamily="2" charset="0"/>
      <p:regular r:id="rId37"/>
      <p:bold r:id="rId38"/>
      <p:italic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3" orient="horz" pos="3240">
          <p15:clr>
            <a:srgbClr val="9AA0A6"/>
          </p15:clr>
        </p15:guide>
        <p15:guide id="4" pos="290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82C34"/>
    <a:srgbClr val="21252B"/>
    <a:srgbClr val="4029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EB45D60-7195-4C9D-AB46-2696C140063F}">
  <a:tblStyle styleId="{7EB45D60-7195-4C9D-AB46-2696C140063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84E427A-3D55-4303-BF80-6455036E1DE7}" styleName="Стиль из темы 1 - акцент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7890" autoAdjust="0"/>
  </p:normalViewPr>
  <p:slideViewPr>
    <p:cSldViewPr snapToGrid="0">
      <p:cViewPr varScale="1">
        <p:scale>
          <a:sx n="125" d="100"/>
          <a:sy n="125" d="100"/>
        </p:scale>
        <p:origin x="216" y="90"/>
      </p:cViewPr>
      <p:guideLst>
        <p:guide orient="horz" pos="3240"/>
        <p:guide pos="2903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font" Target="fonts/font9.fntdata"/><Relationship Id="rId21" Type="http://schemas.openxmlformats.org/officeDocument/2006/relationships/slide" Target="slides/slide19.xml"/><Relationship Id="rId34" Type="http://schemas.openxmlformats.org/officeDocument/2006/relationships/font" Target="fonts/font4.fntdata"/><Relationship Id="rId42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font" Target="fonts/font2.fntdata"/><Relationship Id="rId37" Type="http://schemas.openxmlformats.org/officeDocument/2006/relationships/font" Target="fonts/font7.fntdata"/><Relationship Id="rId40" Type="http://schemas.openxmlformats.org/officeDocument/2006/relationships/font" Target="fonts/font10.fntdata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font" Target="fonts/font6.fntdata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font" Target="fonts/font1.fntdata"/><Relationship Id="rId44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notesMaster" Target="notesMasters/notesMaster1.xml"/><Relationship Id="rId35" Type="http://schemas.openxmlformats.org/officeDocument/2006/relationships/font" Target="fonts/font5.fntdata"/><Relationship Id="rId43" Type="http://schemas.openxmlformats.org/officeDocument/2006/relationships/theme" Target="theme/theme1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font" Target="fonts/font3.fntdata"/><Relationship Id="rId38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3ce85d903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3ce85d903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0f7d84ce1d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0f7d84ce1d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f98075b25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f98075b259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642032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337578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79259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/>
            <a:b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</a:b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⏱️ Временные метки (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Auditing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):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CreationTimestamp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момент создания (неизменяем)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UpdateTimestamp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момент изменения (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автообновление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Прямо в БД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 DEFAULT CURRENT_TIMESTAMP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🔒 Параллельный доступ: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@Version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оптимистичная блокировка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Защита от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lost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updates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в конкурентных сценариях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Исключение 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OptimisticLockException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при конфликте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🎯 Продвинутая идентичность: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Обработка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Hibernate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прокси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в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equals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()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Безопасное сравнение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лениво загруженных сущностей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hashCode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() на основе класса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стабильность в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HashSet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/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HashMap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|</a:t>
            </a:r>
            <a:b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</a:b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Это не просто базовый класс — это инфраструктура для работы с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persistence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-контекстом на промышленном уровне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Мы решили сложные проблемы: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Конкурентный доступ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через оптимистичную блокировку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Ленивая загрузка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в коллекциях через обработку прокси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Автоматический аудит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изменений на уровне БД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dirty="0">
                <a:solidFill>
                  <a:srgbClr val="F9FAFB"/>
                </a:solidFill>
                <a:effectLst/>
                <a:latin typeface="quote-cjk-patch"/>
              </a:rPr>
              <a:t>Преимущества подхода с </a:t>
            </a:r>
            <a:r>
              <a:rPr lang="ru-RU" b="1" dirty="0" err="1">
                <a:solidFill>
                  <a:srgbClr val="F9FAFB"/>
                </a:solidFill>
                <a:effectLst/>
                <a:latin typeface="quote-cjk-patch"/>
              </a:rPr>
              <a:t>columnDefinition</a:t>
            </a:r>
            <a:r>
              <a:rPr lang="ru-RU" b="1" dirty="0">
                <a:solidFill>
                  <a:srgbClr val="F9FAFB"/>
                </a:solidFill>
                <a:effectLst/>
                <a:latin typeface="quote-cjk-patch"/>
              </a:rPr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✅ 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Единый источник истины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время из БД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✅ 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Автоматическое обновление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не нужно ручного управления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✅ 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Производительность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меньше Java-кода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✅ 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Согласованность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все обновления через БД</a:t>
            </a:r>
          </a:p>
          <a:p>
            <a:pPr marL="158750" indent="0" algn="l">
              <a:buFont typeface="Arial" panose="020B0604020202020204" pitchFamily="34" charset="0"/>
              <a:buNone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</p:txBody>
      </p:sp>
    </p:spTree>
    <p:extLst>
      <p:ext uri="{BB962C8B-B14F-4D97-AF65-F5344CB8AC3E}">
        <p14:creationId xmlns:p14="http://schemas.microsoft.com/office/powerpoint/2010/main" val="4205801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Структурные решения: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Наследование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от </a:t>
            </a:r>
            <a:r>
              <a:rPr lang="en-US" b="0" i="0" dirty="0" err="1">
                <a:solidFill>
                  <a:srgbClr val="F9FAFB"/>
                </a:solidFill>
                <a:effectLst/>
                <a:latin typeface="quote-cjk-patch"/>
              </a:rPr>
              <a:t>AbstractBaseEntity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единый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ID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и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timestamp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Нормализация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отдельные сущности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Bank, Currency, User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Каскадные операции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удаление/сохранение карт вместе со счётом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⚡ Оптимизации производительности: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FetchType.LAZY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везде кроме </a:t>
            </a:r>
            <a:r>
              <a:rPr lang="en-US" b="0" i="0" dirty="0" err="1">
                <a:solidFill>
                  <a:srgbClr val="F9FAFB"/>
                </a:solidFill>
                <a:effectLst/>
                <a:latin typeface="quote-cjk-patch"/>
              </a:rPr>
              <a:t>NamedEntityGraph</a:t>
            </a:r>
            <a:endParaRPr lang="en-US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NamedEntityGraph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для контролируемой жадной загрузки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orphanRemoval</a:t>
            </a: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 = true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автоматическое удаление карт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🔒 Гарантии целостности: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@</a:t>
            </a: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NotNull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обязательные поля на уровне БД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unique = true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уникальность номера счёта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precision = 19, scale = 2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точность для денежных операций</a:t>
            </a:r>
          </a:p>
          <a:p>
            <a:pPr algn="l">
              <a:buFont typeface="+mj-lt"/>
              <a:buAutoNum type="arabicPeriod"/>
            </a:pPr>
            <a:endParaRPr lang="ru-RU" b="1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endParaRPr lang="ru-RU" b="1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Архитектурные паттерны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наследование, нормализация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Производительность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осознанное использование LAZY +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NamedEntityGraph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Целостность данных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ограничения на уровне БД, а не только приложения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Практический опыт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понимание проблем N+1 запросов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937815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Структурные решения: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Наследование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от </a:t>
            </a:r>
            <a:r>
              <a:rPr lang="en-US" b="0" i="0" dirty="0" err="1">
                <a:solidFill>
                  <a:srgbClr val="F9FAFB"/>
                </a:solidFill>
                <a:effectLst/>
                <a:latin typeface="quote-cjk-patch"/>
              </a:rPr>
              <a:t>AbstractBaseEntity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единый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ID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и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timestamp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Нормализация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отдельные сущности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Bank, Currency, User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Каскадные операции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удаление/сохранение карт вместе со счётом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⚡ Оптимизации производительности: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FetchType.LAZY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везде кроме </a:t>
            </a:r>
            <a:r>
              <a:rPr lang="en-US" b="0" i="0" dirty="0" err="1">
                <a:solidFill>
                  <a:srgbClr val="F9FAFB"/>
                </a:solidFill>
                <a:effectLst/>
                <a:latin typeface="quote-cjk-patch"/>
              </a:rPr>
              <a:t>NamedEntityGraph</a:t>
            </a:r>
            <a:endParaRPr lang="en-US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NamedEntityGraph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для контролируемой жадной загрузки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orphanRemoval</a:t>
            </a: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 = true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автоматическое удаление карт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🔒 Гарантии целостности: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@</a:t>
            </a: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NotNull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обязательные поля на уровне БД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unique = true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уникальность номера счёта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precision = 19, scale = 2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точность для денежных операций</a:t>
            </a:r>
          </a:p>
          <a:p>
            <a:pPr algn="l">
              <a:buFont typeface="+mj-lt"/>
              <a:buAutoNum type="arabicPeriod"/>
            </a:pPr>
            <a:endParaRPr lang="ru-RU" b="1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endParaRPr lang="ru-RU" b="1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Архитектурные паттерны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наследование, нормализация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Производительность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осознанное использование LAZY +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NamedEntityGraph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Целостность данных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ограничения на уровне БД, а не только приложения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Практический опыт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понимание проблем N+1 запросов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895009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🚀 Ключевые техники: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•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Bulk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Update операции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Прямое выполнение в БД, минуя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persistence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context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Высокая производительность для массовых изменений</a:t>
            </a:r>
          </a:p>
          <a:p>
            <a:pPr marL="158750" indent="0" algn="l">
              <a:buFont typeface="Arial" panose="020B0604020202020204" pitchFamily="34" charset="0"/>
              <a:buNone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•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EntityGraph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для N+1 проблем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Контролируемая жадная загрузка связей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Оптимальные JOIN запросы вместо множественных SELECT</a:t>
            </a:r>
          </a:p>
          <a:p>
            <a:pPr marL="158750" indent="0" algn="l">
              <a:buFont typeface="Arial" panose="020B0604020202020204" pitchFamily="34" charset="0"/>
              <a:buNone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• DTO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Projections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в JPQL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Выборка только нужных данных (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currency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code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, SUM)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Меньший объем передаваемых данных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Группировка и агрегация на стороне БД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marL="158750" indent="0" algn="l">
              <a:buNone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Что подчеркиваем: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Производительность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bulk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операции, DTO проекции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Решение классических проблем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N+1 запросов через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EntityGraph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Типобезопасность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всё компилируется, нет SQL в строках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Гибкость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от простых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derived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queries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до сложных JPQL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marL="158750" indent="0" algn="l">
              <a:buFont typeface="Arial" panose="020B0604020202020204" pitchFamily="34" charset="0"/>
              <a:buNone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</p:txBody>
      </p:sp>
    </p:spTree>
    <p:extLst>
      <p:ext uri="{BB962C8B-B14F-4D97-AF65-F5344CB8AC3E}">
        <p14:creationId xmlns:p14="http://schemas.microsoft.com/office/powerpoint/2010/main" val="20282831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/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Liquibase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— это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Git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для вашей базы данных. Мы управляем миграциями схемы так же строго, как и исходным кодом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Результат: полный контроль над эволюцией данных, предсказуемость развертываний и гарантия идентичности схем на всех окружениях</a:t>
            </a:r>
          </a:p>
          <a:p>
            <a:pPr algn="l">
              <a:buFont typeface="+mj-lt"/>
              <a:buAutoNum type="arabicPeriod"/>
            </a:pPr>
            <a:endParaRPr lang="ru-RU" b="1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Профессиональный подход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не ручные SQL скрипты, а система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Безопасность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JPA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validate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защищает от рассинхронизации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Гибкость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контексты для разных сред, откаты изменений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Готовность к CI/CD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автоматическое применение в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пайплайнах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</p:txBody>
      </p:sp>
    </p:spTree>
    <p:extLst>
      <p:ext uri="{BB962C8B-B14F-4D97-AF65-F5344CB8AC3E}">
        <p14:creationId xmlns:p14="http://schemas.microsoft.com/office/powerpoint/2010/main" val="220485635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b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</a:b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🛡️ Архитектурные решения: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• </a:t>
            </a: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HttpOnly</a:t>
            </a: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 Cookies</a:t>
            </a:r>
            <a:endParaRPr lang="en-US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Токен недоступен из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JavaScript →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защита от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XSS-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атак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Автоматическая отправка браузером → удобство разработки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• </a:t>
            </a: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Stateless 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подход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Нет сессий на сервере → горизонтальное масштабирование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Вся информация в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JWT payload →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быстрая валидация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572238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b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</a:b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🛡️ Архитектурные решения: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• </a:t>
            </a: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HttpOnly</a:t>
            </a: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 Cookies</a:t>
            </a:r>
            <a:endParaRPr lang="en-US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Токен недоступен из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JavaScript →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защита от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XSS-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атак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Автоматическая отправка браузером → удобство разработки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• </a:t>
            </a: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Stateless 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подход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Нет сессий на сервере → горизонтальное масштабирование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Вся информация в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JWT payload →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быстрая валидация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0295825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745358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054777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1528365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4047377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Production-готовность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health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checks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,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персистентность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, сеть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Отказоустойчивость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правильные зависимости и проверки готовности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Безопасность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изолированная сеть, нет прямого доступа к БД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Операционный комфорт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встроенные инструменты мониторинга (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pgAdmin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)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2743599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Production-готовность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health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checks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,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персистентность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, сеть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Отказоустойчивость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правильные зависимости и проверки готовности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Безопасность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изолированная сеть, нет прямого доступа к БД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Операционный комфорт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встроенные инструменты мониторинга (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pgAdmin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)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1758006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33ce85d903d_0_7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2" name="Google Shape;612;g33ce85d903d_0_7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212512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f98075b25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f98075b259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8438200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104438fcaf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104438fcaf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0f7d84ce1d_0_3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0f7d84ce1d_0_3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41727d1ac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341727d1ac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600"/>
              <a:buNone/>
              <a:defRPr sz="16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1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жный тезис крупным шрифтом " type="secHead">
  <p:cSld name="SECTION_HEADER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8"/>
          <p:cNvSpPr txBox="1">
            <a:spLocks noGrp="1"/>
          </p:cNvSpPr>
          <p:nvPr>
            <p:ph type="title"/>
          </p:nvPr>
        </p:nvSpPr>
        <p:spPr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 dirty="0"/>
          </a:p>
        </p:txBody>
      </p:sp>
      <p:sp>
        <p:nvSpPr>
          <p:cNvPr id="122" name="Google Shape;122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Заголовок" userDrawn="1">
  <p:cSld name="CUSTOM_3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0"/>
          <p:cNvSpPr txBox="1">
            <a:spLocks noGrp="1"/>
          </p:cNvSpPr>
          <p:nvPr>
            <p:ph type="title"/>
          </p:nvPr>
        </p:nvSpPr>
        <p:spPr>
          <a:xfrm>
            <a:off x="421175" y="330736"/>
            <a:ext cx="8520600" cy="597038"/>
          </a:xfrm>
          <a:prstGeom prst="roundRect">
            <a:avLst>
              <a:gd name="adj" fmla="val 23048"/>
            </a:avLst>
          </a:prstGeom>
          <a:solidFill>
            <a:srgbClr val="40299B"/>
          </a:solidFill>
          <a:effectLst>
            <a:softEdge rad="0"/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 dirty="0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4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8" r:id="rId9"/>
    <p:sldLayoutId id="2147483659" r:id="rId10"/>
    <p:sldLayoutId id="2147483660" r:id="rId11"/>
    <p:sldLayoutId id="2147483661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21252B"/>
        </a:solid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 dirty="0"/>
          </a:p>
        </p:txBody>
      </p:sp>
      <p:sp>
        <p:nvSpPr>
          <p:cNvPr id="118" name="Google Shape;118;p27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 dirty="0"/>
          </a:p>
        </p:txBody>
      </p:sp>
      <p:sp>
        <p:nvSpPr>
          <p:cNvPr id="119" name="Google Shape;119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chemeClr val="accent5">
              <a:lumMod val="60000"/>
              <a:lumOff val="40000"/>
            </a:schemeClr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77" userDrawn="1">
          <p15:clr>
            <a:srgbClr val="F26B43"/>
          </p15:clr>
        </p15:guide>
        <p15:guide id="2" pos="272" userDrawn="1">
          <p15:clr>
            <a:srgbClr val="F26B43"/>
          </p15:clr>
        </p15:guide>
        <p15:guide id="3" pos="5647" userDrawn="1">
          <p15:clr>
            <a:srgbClr val="F26B43"/>
          </p15:clr>
        </p15:guide>
        <p15:guide id="4" orient="horz" pos="284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8.jpe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jpeg"/><Relationship Id="rId9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2.png"/><Relationship Id="rId4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2.png"/><Relationship Id="rId4" Type="http://schemas.openxmlformats.org/officeDocument/2006/relationships/image" Target="../media/image3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2.png"/><Relationship Id="rId4" Type="http://schemas.openxmlformats.org/officeDocument/2006/relationships/image" Target="../media/image3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4.png"/><Relationship Id="rId4" Type="http://schemas.openxmlformats.org/officeDocument/2006/relationships/image" Target="../media/image3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4.png"/><Relationship Id="rId4" Type="http://schemas.openxmlformats.org/officeDocument/2006/relationships/image" Target="../media/image4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4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4.png"/><Relationship Id="rId4" Type="http://schemas.openxmlformats.org/officeDocument/2006/relationships/image" Target="../media/image4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4.png"/><Relationship Id="rId4" Type="http://schemas.openxmlformats.org/officeDocument/2006/relationships/image" Target="../media/image4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5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35"/>
          <p:cNvPicPr preferRelativeResize="0"/>
          <p:nvPr/>
        </p:nvPicPr>
        <p:blipFill rotWithShape="1">
          <a:blip r:embed="rId3">
            <a:alphaModFix/>
          </a:blip>
          <a:srcRect l="18598" r="18591"/>
          <a:stretch/>
        </p:blipFill>
        <p:spPr>
          <a:xfrm>
            <a:off x="-85725" y="0"/>
            <a:ext cx="92472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35"/>
          <p:cNvSpPr txBox="1"/>
          <p:nvPr/>
        </p:nvSpPr>
        <p:spPr>
          <a:xfrm>
            <a:off x="1410586" y="1534950"/>
            <a:ext cx="723153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Bank Analyzer</a:t>
            </a:r>
            <a:endParaRPr lang="ru-RU" sz="4500" b="1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48" name="Google Shape;148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13700" y="268875"/>
            <a:ext cx="822175" cy="28462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5"/>
          <p:cNvSpPr/>
          <p:nvPr/>
        </p:nvSpPr>
        <p:spPr>
          <a:xfrm>
            <a:off x="629700" y="4138025"/>
            <a:ext cx="4189950" cy="42660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35"/>
          <p:cNvSpPr txBox="1"/>
          <p:nvPr/>
        </p:nvSpPr>
        <p:spPr>
          <a:xfrm>
            <a:off x="759376" y="4138025"/>
            <a:ext cx="4266975" cy="447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900" dirty="0">
                <a:solidFill>
                  <a:srgbClr val="FFFFFF"/>
                </a:solidFill>
                <a:latin typeface="Roboto Medium"/>
                <a:ea typeface="Roboto Medium"/>
                <a:cs typeface="Roboto Medium"/>
                <a:sym typeface="Roboto Medium"/>
              </a:rPr>
              <a:t>Разработчик на </a:t>
            </a:r>
            <a:r>
              <a:rPr lang="en-US" sz="1900" dirty="0">
                <a:solidFill>
                  <a:srgbClr val="FFFFFF"/>
                </a:solidFill>
                <a:latin typeface="Roboto Medium"/>
                <a:ea typeface="Roboto Medium"/>
                <a:cs typeface="Roboto Medium"/>
                <a:sym typeface="Roboto Medium"/>
              </a:rPr>
              <a:t>Spring Framework</a:t>
            </a:r>
            <a:endParaRPr lang="ru-RU" sz="1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151" name="Google Shape;151;p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409723" y="3083693"/>
            <a:ext cx="1548451" cy="1669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29027C0-6BEC-B8A4-30EB-1D9C8F4B922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79794" y="1524300"/>
            <a:ext cx="673768" cy="673768"/>
          </a:xfrm>
          <a:prstGeom prst="rect">
            <a:avLst/>
          </a:prstGeom>
        </p:spPr>
      </p:pic>
      <p:sp>
        <p:nvSpPr>
          <p:cNvPr id="6" name="Google Shape;147;p35">
            <a:extLst>
              <a:ext uri="{FF2B5EF4-FFF2-40B4-BE49-F238E27FC236}">
                <a16:creationId xmlns:a16="http://schemas.microsoft.com/office/drawing/2014/main" id="{5058AD7D-BE85-5F1B-E992-D3D80AE5726C}"/>
              </a:ext>
            </a:extLst>
          </p:cNvPr>
          <p:cNvSpPr txBox="1"/>
          <p:nvPr/>
        </p:nvSpPr>
        <p:spPr>
          <a:xfrm>
            <a:off x="630238" y="2209393"/>
            <a:ext cx="8267685" cy="600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b="1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Менеджер банковских операций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6"/>
          <p:cNvSpPr txBox="1">
            <a:spLocks noGrp="1"/>
          </p:cNvSpPr>
          <p:nvPr>
            <p:ph type="title" idx="4294967295"/>
          </p:nvPr>
        </p:nvSpPr>
        <p:spPr>
          <a:xfrm>
            <a:off x="611188" y="1416050"/>
            <a:ext cx="7934325" cy="141605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 dirty="0">
                <a:solidFill>
                  <a:schemeClr val="tx1"/>
                </a:solidFill>
              </a:rPr>
              <a:t>Меня хорошо видно</a:t>
            </a:r>
            <a:endParaRPr sz="40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 dirty="0">
                <a:solidFill>
                  <a:schemeClr val="tx1"/>
                </a:solidFill>
              </a:rPr>
              <a:t>&amp; слышно?</a:t>
            </a:r>
            <a:endParaRPr sz="4000" dirty="0">
              <a:solidFill>
                <a:schemeClr val="tx1"/>
              </a:solidFill>
            </a:endParaRPr>
          </a:p>
        </p:txBody>
      </p:sp>
      <p:pic>
        <p:nvPicPr>
          <p:cNvPr id="157" name="Google Shape;157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44062" y="3841075"/>
            <a:ext cx="545712" cy="5457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5575" y="3890890"/>
            <a:ext cx="537262" cy="53726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337;p50">
            <a:extLst>
              <a:ext uri="{FF2B5EF4-FFF2-40B4-BE49-F238E27FC236}">
                <a16:creationId xmlns:a16="http://schemas.microsoft.com/office/drawing/2014/main" id="{4B3F32CC-EDC3-51FA-3100-7820DD0505F6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151933" y="4389717"/>
            <a:ext cx="1812680" cy="627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361;p52">
            <a:extLst>
              <a:ext uri="{FF2B5EF4-FFF2-40B4-BE49-F238E27FC236}">
                <a16:creationId xmlns:a16="http://schemas.microsoft.com/office/drawing/2014/main" id="{1C6DF43D-3593-2D34-3E3B-DDCB8ACEE594}"/>
              </a:ext>
            </a:extLst>
          </p:cNvPr>
          <p:cNvSpPr/>
          <p:nvPr/>
        </p:nvSpPr>
        <p:spPr>
          <a:xfrm>
            <a:off x="431800" y="332573"/>
            <a:ext cx="8532813" cy="1070700"/>
          </a:xfrm>
          <a:prstGeom prst="roundRect">
            <a:avLst>
              <a:gd name="adj" fmla="val 16667"/>
            </a:avLst>
          </a:prstGeom>
          <a:solidFill>
            <a:srgbClr val="40299B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400" dirty="0">
              <a:solidFill>
                <a:srgbClr val="FFFFFF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63" name="Google Shape;163;p37"/>
          <p:cNvSpPr txBox="1">
            <a:spLocks noGrp="1"/>
          </p:cNvSpPr>
          <p:nvPr>
            <p:ph type="title" idx="4294967295"/>
          </p:nvPr>
        </p:nvSpPr>
        <p:spPr>
          <a:xfrm>
            <a:off x="622300" y="314325"/>
            <a:ext cx="8521700" cy="10001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000" dirty="0">
                <a:solidFill>
                  <a:schemeClr val="tx1"/>
                </a:solidFill>
              </a:rPr>
              <a:t>Защита проекта</a:t>
            </a:r>
            <a:endParaRPr sz="30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3000" dirty="0">
                <a:solidFill>
                  <a:schemeClr val="tx1"/>
                </a:solidFill>
              </a:rPr>
              <a:t>Тема: Менеджер банковских операций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bg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ru-RU" dirty="0">
              <a:solidFill>
                <a:schemeClr val="bg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bg1"/>
              </a:solidFill>
            </a:endParaRPr>
          </a:p>
        </p:txBody>
      </p:sp>
      <p:pic>
        <p:nvPicPr>
          <p:cNvPr id="164" name="Google Shape;164;p37"/>
          <p:cNvPicPr preferRelativeResize="0"/>
          <p:nvPr/>
        </p:nvPicPr>
        <p:blipFill rotWithShape="1">
          <a:blip r:embed="rId3">
            <a:alphaModFix/>
          </a:blip>
          <a:srcRect t="30931" b="13765"/>
          <a:stretch/>
        </p:blipFill>
        <p:spPr>
          <a:xfrm>
            <a:off x="630000" y="2409576"/>
            <a:ext cx="2349900" cy="2318700"/>
          </a:xfrm>
          <a:prstGeom prst="ellipse">
            <a:avLst/>
          </a:prstGeom>
          <a:noFill/>
          <a:ln>
            <a:noFill/>
          </a:ln>
        </p:spPr>
      </p:pic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4DB74259-C200-A3B6-72F3-DCF7AF4A0F92}"/>
              </a:ext>
            </a:extLst>
          </p:cNvPr>
          <p:cNvGrpSpPr/>
          <p:nvPr/>
        </p:nvGrpSpPr>
        <p:grpSpPr>
          <a:xfrm>
            <a:off x="3599325" y="2772297"/>
            <a:ext cx="4237262" cy="1593257"/>
            <a:chOff x="3591705" y="2409576"/>
            <a:chExt cx="4237262" cy="1593257"/>
          </a:xfrm>
        </p:grpSpPr>
        <p:sp>
          <p:nvSpPr>
            <p:cNvPr id="6" name="Google Shape;440;p62">
              <a:extLst>
                <a:ext uri="{FF2B5EF4-FFF2-40B4-BE49-F238E27FC236}">
                  <a16:creationId xmlns:a16="http://schemas.microsoft.com/office/drawing/2014/main" id="{CA0F73D8-155E-574B-194D-AE9C0F7B2FEF}"/>
                </a:ext>
              </a:extLst>
            </p:cNvPr>
            <p:cNvSpPr/>
            <p:nvPr/>
          </p:nvSpPr>
          <p:spPr>
            <a:xfrm>
              <a:off x="3591705" y="2409576"/>
              <a:ext cx="4237262" cy="1593257"/>
            </a:xfrm>
            <a:prstGeom prst="roundRect">
              <a:avLst>
                <a:gd name="adj" fmla="val 16667"/>
              </a:avLst>
            </a:prstGeom>
            <a:solidFill>
              <a:srgbClr val="EEEEEE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u="sng" dirty="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5" name="Google Shape;165;p37"/>
            <p:cNvSpPr txBox="1"/>
            <p:nvPr/>
          </p:nvSpPr>
          <p:spPr>
            <a:xfrm>
              <a:off x="3899475" y="2799601"/>
              <a:ext cx="3701700" cy="37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2300" b="1" dirty="0">
                  <a:solidFill>
                    <a:srgbClr val="3F299A"/>
                  </a:solidFill>
                  <a:latin typeface="Roboto"/>
                  <a:ea typeface="Roboto"/>
                  <a:cs typeface="Roboto"/>
                  <a:sym typeface="Roboto"/>
                </a:rPr>
                <a:t>Семенов Василий</a:t>
              </a:r>
              <a:endParaRPr sz="2300" b="1" dirty="0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6" name="Google Shape;166;p37"/>
            <p:cNvSpPr txBox="1"/>
            <p:nvPr/>
          </p:nvSpPr>
          <p:spPr>
            <a:xfrm>
              <a:off x="3899475" y="3175501"/>
              <a:ext cx="3193200" cy="4247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300" dirty="0">
                  <a:solidFill>
                    <a:schemeClr val="bg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Разработчик </a:t>
              </a:r>
              <a:r>
                <a:rPr lang="en-US" sz="1300" dirty="0">
                  <a:solidFill>
                    <a:schemeClr val="bg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ERP</a:t>
              </a:r>
              <a:r>
                <a:rPr lang="ru-RU" sz="1300" dirty="0">
                  <a:solidFill>
                    <a:schemeClr val="bg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 систем.</a:t>
              </a:r>
              <a:endParaRPr sz="1300" dirty="0">
                <a:solidFill>
                  <a:schemeClr val="bg1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242D400C-1482-4A7B-1DD7-C441D5679EDA}"/>
              </a:ext>
            </a:extLst>
          </p:cNvPr>
          <p:cNvSpPr txBox="1"/>
          <p:nvPr/>
        </p:nvSpPr>
        <p:spPr>
          <a:xfrm>
            <a:off x="495181" y="1488163"/>
            <a:ext cx="8153638" cy="5820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ru-RU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Система анализа личных финансов на Spring Boot. Веб-приложение для учёта и анализа банковских операций. Помогает контролировать доходы, расходы и баланс.</a:t>
            </a:r>
            <a:endParaRPr lang="en-US" sz="140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7" name="Google Shape;337;p50">
            <a:extLst>
              <a:ext uri="{FF2B5EF4-FFF2-40B4-BE49-F238E27FC236}">
                <a16:creationId xmlns:a16="http://schemas.microsoft.com/office/drawing/2014/main" id="{0B59052E-B87A-8EC7-E7D1-352E0DC6FF82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151933" y="4389717"/>
            <a:ext cx="1812680" cy="627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6" name="Google Shape;186;p39"/>
          <p:cNvGraphicFramePr/>
          <p:nvPr>
            <p:extLst>
              <p:ext uri="{D42A27DB-BD31-4B8C-83A1-F6EECF244321}">
                <p14:modId xmlns:p14="http://schemas.microsoft.com/office/powerpoint/2010/main" val="1748453551"/>
              </p:ext>
            </p:extLst>
          </p:nvPr>
        </p:nvGraphicFramePr>
        <p:xfrm>
          <a:off x="952500" y="2382125"/>
          <a:ext cx="7239000" cy="2149840"/>
        </p:xfrm>
        <a:graphic>
          <a:graphicData uri="http://schemas.openxmlformats.org/drawingml/2006/table">
            <a:tbl>
              <a:tblPr>
                <a:noFill/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{7EB45D60-7195-4C9D-AB46-2696C140063F}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700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0" i="0" u="none" strike="noStrike" cap="none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Реализовать 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MVP</a:t>
                      </a:r>
                      <a:r>
                        <a:rPr lang="ru-RU" sz="1400" b="0" i="0" u="none" strike="noStrike" cap="none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для возможности расширения функционала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00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Обеспечить учёт транзакций с категориями и фильтрацией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00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Интегрироваться с ЦБ РФ для актуальных курсов валют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308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Построить </a:t>
                      </a:r>
                      <a:r>
                        <a:rPr lang="ru-RU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дашборды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с аналитикой</a:t>
                      </a: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902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Arial"/>
                        </a:rPr>
                        <a:t>5.</a:t>
                      </a:r>
                      <a:endParaRPr sz="1600" b="1" i="0" u="none" strike="noStrike" cap="none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Arial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Реализовать регистрацию и аутентификацию </a:t>
                      </a: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7" name="Google Shape;187;p39"/>
          <p:cNvSpPr/>
          <p:nvPr/>
        </p:nvSpPr>
        <p:spPr>
          <a:xfrm>
            <a:off x="1628250" y="1386300"/>
            <a:ext cx="5887500" cy="6621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tx1"/>
                </a:solidFill>
                <a:latin typeface="Roboto Medium"/>
                <a:ea typeface="Roboto Medium"/>
                <a:cs typeface="Roboto Medium"/>
                <a:sym typeface="Roboto Medium"/>
              </a:rPr>
              <a:t>Цель проекта: </a:t>
            </a:r>
            <a:r>
              <a:rPr lang="ru-RU" sz="1500" dirty="0">
                <a:solidFill>
                  <a:schemeClr val="tx1"/>
                </a:solidFill>
                <a:latin typeface="Roboto Medium"/>
                <a:ea typeface="Roboto Medium"/>
                <a:cs typeface="Roboto Medium"/>
                <a:sym typeface="Roboto Medium"/>
              </a:rPr>
              <a:t>Создать инструмент для ведения личных финансов с автоматизацией и визуализацией (</a:t>
            </a:r>
            <a:r>
              <a:rPr lang="en-US" sz="1500" dirty="0">
                <a:solidFill>
                  <a:schemeClr val="tx1"/>
                </a:solidFill>
                <a:latin typeface="Roboto Medium"/>
                <a:ea typeface="Roboto Medium"/>
                <a:cs typeface="Roboto Medium"/>
                <a:sym typeface="Roboto Medium"/>
              </a:rPr>
              <a:t>MVP</a:t>
            </a:r>
            <a:r>
              <a:rPr lang="ru-RU" sz="1500" dirty="0">
                <a:solidFill>
                  <a:schemeClr val="tx1"/>
                </a:solidFill>
                <a:latin typeface="Roboto Medium"/>
                <a:ea typeface="Roboto Medium"/>
                <a:cs typeface="Roboto Medium"/>
                <a:sym typeface="Roboto Medium"/>
              </a:rPr>
              <a:t>). 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94381585-AB22-E4D5-D003-549C78C51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</a:pPr>
            <a:r>
              <a:rPr lang="ru-RU" sz="32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Цель и задачи проекта</a:t>
            </a:r>
          </a:p>
        </p:txBody>
      </p:sp>
      <p:pic>
        <p:nvPicPr>
          <p:cNvPr id="2" name="Google Shape;280;p49">
            <a:extLst>
              <a:ext uri="{FF2B5EF4-FFF2-40B4-BE49-F238E27FC236}">
                <a16:creationId xmlns:a16="http://schemas.microsoft.com/office/drawing/2014/main" id="{911DB8C9-D6E3-2927-FE00-D258E5F6FA0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91275" y="1498863"/>
            <a:ext cx="436975" cy="4369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BAE45E86-CA95-D987-0598-7724415BFB96}"/>
              </a:ext>
            </a:extLst>
          </p:cNvPr>
          <p:cNvGrpSpPr/>
          <p:nvPr/>
        </p:nvGrpSpPr>
        <p:grpSpPr>
          <a:xfrm>
            <a:off x="431800" y="1523668"/>
            <a:ext cx="3414600" cy="2668276"/>
            <a:chOff x="724750" y="1194674"/>
            <a:chExt cx="3414600" cy="2668276"/>
          </a:xfrm>
        </p:grpSpPr>
        <p:sp>
          <p:nvSpPr>
            <p:cNvPr id="5" name="Google Shape;440;p62">
              <a:extLst>
                <a:ext uri="{FF2B5EF4-FFF2-40B4-BE49-F238E27FC236}">
                  <a16:creationId xmlns:a16="http://schemas.microsoft.com/office/drawing/2014/main" id="{EACF5D33-E562-29FD-5C12-0270EBFD1914}"/>
                </a:ext>
              </a:extLst>
            </p:cNvPr>
            <p:cNvSpPr/>
            <p:nvPr/>
          </p:nvSpPr>
          <p:spPr>
            <a:xfrm>
              <a:off x="724750" y="1194674"/>
              <a:ext cx="3414600" cy="2668276"/>
            </a:xfrm>
            <a:prstGeom prst="roundRect">
              <a:avLst>
                <a:gd name="adj" fmla="val 16667"/>
              </a:avLst>
            </a:prstGeom>
            <a:solidFill>
              <a:srgbClr val="EEEEEE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u="sng" dirty="0">
                <a:latin typeface="Roboto"/>
                <a:ea typeface="Roboto"/>
                <a:cs typeface="Roboto"/>
                <a:sym typeface="Roboto"/>
              </a:endParaRPr>
            </a:p>
          </p:txBody>
        </p:sp>
        <p:graphicFrame>
          <p:nvGraphicFramePr>
            <p:cNvPr id="199" name="Google Shape;199;p40"/>
            <p:cNvGraphicFramePr/>
            <p:nvPr>
              <p:extLst>
                <p:ext uri="{D42A27DB-BD31-4B8C-83A1-F6EECF244321}">
                  <p14:modId xmlns:p14="http://schemas.microsoft.com/office/powerpoint/2010/main" val="1398568972"/>
                </p:ext>
              </p:extLst>
            </p:nvPr>
          </p:nvGraphicFramePr>
          <p:xfrm>
            <a:off x="830675" y="1893000"/>
            <a:ext cx="3308675" cy="1524000"/>
          </p:xfrm>
          <a:graphic>
            <a:graphicData uri="http://schemas.openxmlformats.org/drawingml/2006/table">
              <a:tbl>
                <a:tblPr>
                  <a:noFill/>
                  <a:tableStyleId>{7EB45D60-7195-4C9D-AB46-2696C140063F}</a:tableStyleId>
                </a:tblPr>
                <a:tblGrid>
                  <a:gridCol w="273144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3035531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</a:tblGrid>
                <a:tr h="38100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ru" sz="1600" b="1" dirty="0">
                            <a:solidFill>
                              <a:schemeClr val="accent2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1.</a:t>
                        </a:r>
                      </a:p>
                    </a:txBody>
                    <a:tcPr marL="45720" marR="4572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1600" dirty="0">
                            <a:solidFill>
                              <a:schemeClr val="bg1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Spring Boot 3.4.7</a:t>
                        </a:r>
                        <a:endParaRPr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endParaRPr>
                      </a:p>
                    </a:txBody>
                    <a:tcPr marL="45720" marR="4572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38100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ru" sz="1600" b="1" dirty="0">
                            <a:solidFill>
                              <a:schemeClr val="accent2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2.</a:t>
                        </a:r>
                        <a:endParaRPr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endParaRPr>
                      </a:p>
                    </a:txBody>
                    <a:tcPr marL="45720" marR="4572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1600" dirty="0">
                            <a:solidFill>
                              <a:schemeClr val="bg1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Spring Web, Security, Data JPA</a:t>
                        </a:r>
                        <a:endParaRPr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endParaRPr>
                      </a:p>
                    </a:txBody>
                    <a:tcPr marL="45720" marR="4572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38100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ru" sz="1600" b="1" dirty="0">
                            <a:solidFill>
                              <a:schemeClr val="accent2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3.</a:t>
                        </a:r>
                        <a:endParaRPr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endParaRPr>
                      </a:p>
                    </a:txBody>
                    <a:tcPr marL="45720" marR="4572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1600" dirty="0">
                            <a:solidFill>
                              <a:schemeClr val="bg1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Spring Integration, Validation</a:t>
                        </a:r>
                        <a:endParaRPr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endParaRPr>
                      </a:p>
                    </a:txBody>
                    <a:tcPr marL="45720" marR="4572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38100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ru" sz="1600" b="1" dirty="0">
                            <a:solidFill>
                              <a:schemeClr val="accent2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4.</a:t>
                        </a:r>
                        <a:endParaRPr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endParaRPr>
                      </a:p>
                    </a:txBody>
                    <a:tcPr marL="45720" marR="4572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1600" dirty="0">
                            <a:solidFill>
                              <a:schemeClr val="bg1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JWT, </a:t>
                        </a:r>
                        <a:r>
                          <a:rPr lang="en-US" sz="1600" dirty="0" err="1">
                            <a:solidFill>
                              <a:schemeClr val="bg1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MapStruct</a:t>
                        </a:r>
                        <a:r>
                          <a:rPr lang="en-US" sz="1600" dirty="0">
                            <a:solidFill>
                              <a:schemeClr val="bg1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, Lombok </a:t>
                        </a:r>
                        <a:endParaRPr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endParaRPr>
                      </a:p>
                    </a:txBody>
                    <a:tcPr marL="45720" marR="4572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</a:tbl>
            </a:graphicData>
          </a:graphic>
        </p:graphicFrame>
        <p:sp>
          <p:nvSpPr>
            <p:cNvPr id="7" name="Google Shape;443;p62">
              <a:extLst>
                <a:ext uri="{FF2B5EF4-FFF2-40B4-BE49-F238E27FC236}">
                  <a16:creationId xmlns:a16="http://schemas.microsoft.com/office/drawing/2014/main" id="{1DA963FB-3F79-627B-F1EF-32E856C37830}"/>
                </a:ext>
              </a:extLst>
            </p:cNvPr>
            <p:cNvSpPr txBox="1"/>
            <p:nvPr/>
          </p:nvSpPr>
          <p:spPr>
            <a:xfrm>
              <a:off x="830675" y="1309799"/>
              <a:ext cx="1482600" cy="44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700" b="1" dirty="0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Backend</a:t>
              </a:r>
              <a:r>
                <a:rPr lang="en-US" sz="1700" b="1" dirty="0">
                  <a:solidFill>
                    <a:srgbClr val="9857F3"/>
                  </a:solidFill>
                  <a:latin typeface="Roboto"/>
                  <a:ea typeface="Roboto"/>
                  <a:cs typeface="Roboto"/>
                  <a:sym typeface="Roboto"/>
                </a:rPr>
                <a:t>:</a:t>
              </a:r>
              <a:endParaRPr sz="1700" b="1" dirty="0">
                <a:solidFill>
                  <a:srgbClr val="9857F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37A7873A-1496-021B-1420-3D77C8BA0CF9}"/>
              </a:ext>
            </a:extLst>
          </p:cNvPr>
          <p:cNvSpPr/>
          <p:nvPr/>
        </p:nvSpPr>
        <p:spPr>
          <a:xfrm>
            <a:off x="4301512" y="2717223"/>
            <a:ext cx="4640263" cy="160393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Google Shape;417;p60">
            <a:extLst>
              <a:ext uri="{FF2B5EF4-FFF2-40B4-BE49-F238E27FC236}">
                <a16:creationId xmlns:a16="http://schemas.microsoft.com/office/drawing/2014/main" id="{CC5F3979-4941-88D0-A6CE-EE96E9AAE3DA}"/>
              </a:ext>
            </a:extLst>
          </p:cNvPr>
          <p:cNvSpPr txBox="1">
            <a:spLocks/>
          </p:cNvSpPr>
          <p:nvPr/>
        </p:nvSpPr>
        <p:spPr>
          <a:xfrm>
            <a:off x="4301513" y="1316958"/>
            <a:ext cx="4640262" cy="1334951"/>
          </a:xfrm>
          <a:prstGeom prst="rect">
            <a:avLst/>
          </a:prstGeom>
          <a:solidFill>
            <a:srgbClr val="282C34"/>
          </a:solidFill>
          <a:ln>
            <a:noFill/>
          </a:ln>
          <a:effectLst/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>
              <a:lnSpc>
                <a:spcPct val="115000"/>
              </a:lnSpc>
            </a:pPr>
            <a:r>
              <a:rPr lang="ru-RU" sz="1300" b="0" dirty="0">
                <a:solidFill>
                  <a:schemeClr val="tx1"/>
                </a:solidFill>
              </a:rPr>
              <a:t>Использована экосистема Spring как отраслевой стандарт для создания надёжных, безопасных и легко расширяемых приложений, что гарантирует производительность, поддержку сообщества и простую интеграцию с любыми сервисами.</a:t>
            </a:r>
          </a:p>
        </p:txBody>
      </p:sp>
      <p:pic>
        <p:nvPicPr>
          <p:cNvPr id="2056" name="Picture 8" descr="Sample Spring Boot application. – Alex Bezverkhniy – Fullstack Developer  and Teacher. My interests - Programming, Coding, Java, JavaScript, Groovy,  HTML5, CSS, REST, Spring Boot, Docker, Best practices, Tutorials.">
            <a:extLst>
              <a:ext uri="{FF2B5EF4-FFF2-40B4-BE49-F238E27FC236}">
                <a16:creationId xmlns:a16="http://schemas.microsoft.com/office/drawing/2014/main" id="{C04A7DC9-95FD-8F7B-62C0-5ACF9CA591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78630" y="2800292"/>
            <a:ext cx="2486025" cy="13071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Заголовок 9">
            <a:extLst>
              <a:ext uri="{FF2B5EF4-FFF2-40B4-BE49-F238E27FC236}">
                <a16:creationId xmlns:a16="http://schemas.microsoft.com/office/drawing/2014/main" id="{8164A226-97B5-1F87-F2D9-FACF49AF1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Технологический стек - </a:t>
            </a:r>
            <a:r>
              <a:rPr lang="en-US" dirty="0"/>
              <a:t>Backend</a:t>
            </a:r>
            <a:endParaRPr lang="ru-RU" dirty="0"/>
          </a:p>
        </p:txBody>
      </p:sp>
      <p:pic>
        <p:nvPicPr>
          <p:cNvPr id="3" name="Google Shape;286;p49">
            <a:extLst>
              <a:ext uri="{FF2B5EF4-FFF2-40B4-BE49-F238E27FC236}">
                <a16:creationId xmlns:a16="http://schemas.microsoft.com/office/drawing/2014/main" id="{8B122ABB-BE6D-13B1-8C85-504EFEA2F051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64207" y="1481986"/>
            <a:ext cx="588118" cy="5881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A5CB301-52BE-D01F-4E28-0D99AE6C1123}"/>
              </a:ext>
            </a:extLst>
          </p:cNvPr>
          <p:cNvSpPr/>
          <p:nvPr/>
        </p:nvSpPr>
        <p:spPr>
          <a:xfrm>
            <a:off x="4324350" y="2912504"/>
            <a:ext cx="4640263" cy="160393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Google Shape;440;p62">
            <a:extLst>
              <a:ext uri="{FF2B5EF4-FFF2-40B4-BE49-F238E27FC236}">
                <a16:creationId xmlns:a16="http://schemas.microsoft.com/office/drawing/2014/main" id="{EACF5D33-E562-29FD-5C12-0270EBFD1914}"/>
              </a:ext>
            </a:extLst>
          </p:cNvPr>
          <p:cNvSpPr/>
          <p:nvPr/>
        </p:nvSpPr>
        <p:spPr>
          <a:xfrm>
            <a:off x="431800" y="1534455"/>
            <a:ext cx="3414600" cy="2668276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 dirty="0"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99" name="Google Shape;199;p40"/>
          <p:cNvGraphicFramePr/>
          <p:nvPr>
            <p:extLst>
              <p:ext uri="{D42A27DB-BD31-4B8C-83A1-F6EECF244321}">
                <p14:modId xmlns:p14="http://schemas.microsoft.com/office/powerpoint/2010/main" val="1632226789"/>
              </p:ext>
            </p:extLst>
          </p:nvPr>
        </p:nvGraphicFramePr>
        <p:xfrm>
          <a:off x="537725" y="2232781"/>
          <a:ext cx="3308675" cy="1524000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2731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355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PostgreSQL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 dirty="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Liquibase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 dirty="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JPA + Hibernate 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 dirty="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Test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</a:t>
                      </a:r>
                      <a:r>
                        <a:rPr lang="en-US" sz="1600" dirty="0" err="1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ontainers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Google Shape;443;p62">
            <a:extLst>
              <a:ext uri="{FF2B5EF4-FFF2-40B4-BE49-F238E27FC236}">
                <a16:creationId xmlns:a16="http://schemas.microsoft.com/office/drawing/2014/main" id="{1DA963FB-3F79-627B-F1EF-32E856C37830}"/>
              </a:ext>
            </a:extLst>
          </p:cNvPr>
          <p:cNvSpPr txBox="1"/>
          <p:nvPr/>
        </p:nvSpPr>
        <p:spPr>
          <a:xfrm>
            <a:off x="537725" y="1649580"/>
            <a:ext cx="14826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Backend</a:t>
            </a:r>
            <a:r>
              <a:rPr lang="en-US" sz="1700" b="1" dirty="0">
                <a:solidFill>
                  <a:srgbClr val="9857F3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  <a:endParaRPr sz="1700" b="1" dirty="0">
              <a:solidFill>
                <a:srgbClr val="9857F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" name="Google Shape;417;p60">
            <a:extLst>
              <a:ext uri="{FF2B5EF4-FFF2-40B4-BE49-F238E27FC236}">
                <a16:creationId xmlns:a16="http://schemas.microsoft.com/office/drawing/2014/main" id="{CC5F3979-4941-88D0-A6CE-EE96E9AAE3DA}"/>
              </a:ext>
            </a:extLst>
          </p:cNvPr>
          <p:cNvSpPr txBox="1">
            <a:spLocks/>
          </p:cNvSpPr>
          <p:nvPr/>
        </p:nvSpPr>
        <p:spPr>
          <a:xfrm>
            <a:off x="4324349" y="1362025"/>
            <a:ext cx="4640263" cy="1334951"/>
          </a:xfrm>
          <a:prstGeom prst="rect">
            <a:avLst/>
          </a:prstGeom>
          <a:solidFill>
            <a:srgbClr val="282C3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>
              <a:lnSpc>
                <a:spcPct val="115000"/>
              </a:lnSpc>
            </a:pPr>
            <a:r>
              <a:rPr lang="ru-RU" sz="1300" b="0" dirty="0"/>
              <a:t>Обеспечен контроль над данными: от быстрой разработки до стабильного продакшена на </a:t>
            </a:r>
            <a:r>
              <a:rPr lang="ru-RU" sz="1300" b="0" dirty="0" err="1"/>
              <a:t>PostgreSQL</a:t>
            </a:r>
            <a:r>
              <a:rPr lang="ru-RU" sz="1300" b="0" dirty="0"/>
              <a:t>, с гарантией идентичности схем через </a:t>
            </a:r>
            <a:r>
              <a:rPr lang="ru-RU" sz="1300" b="0" dirty="0" err="1"/>
              <a:t>Liquibase</a:t>
            </a:r>
            <a:r>
              <a:rPr lang="ru-RU" sz="1300" b="0" dirty="0"/>
              <a:t>, и тестирование через Тест-контейнеры </a:t>
            </a:r>
            <a:r>
              <a:rPr lang="ru-RU" sz="1300" b="0" dirty="0" err="1"/>
              <a:t>PostgreSQL</a:t>
            </a:r>
            <a:r>
              <a:rPr lang="ru-RU" sz="1300" b="0" dirty="0"/>
              <a:t> для поддержания единства технологий.</a:t>
            </a:r>
          </a:p>
        </p:txBody>
      </p:sp>
      <p:pic>
        <p:nvPicPr>
          <p:cNvPr id="1026" name="Picture 2" descr="PostgreSQL — Википедия">
            <a:extLst>
              <a:ext uri="{FF2B5EF4-FFF2-40B4-BE49-F238E27FC236}">
                <a16:creationId xmlns:a16="http://schemas.microsoft.com/office/drawing/2014/main" id="{6EA899DF-AEC8-57FE-A5A7-8287347940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425" y="3119261"/>
            <a:ext cx="1052513" cy="1085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eo4j plugin for Liquibase - Neo4j Labs">
            <a:extLst>
              <a:ext uri="{FF2B5EF4-FFF2-40B4-BE49-F238E27FC236}">
                <a16:creationId xmlns:a16="http://schemas.microsoft.com/office/drawing/2014/main" id="{B5147D6B-624E-11D0-B057-AD627DD84E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88324" y="3757073"/>
            <a:ext cx="1151565" cy="7593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Тестирование сервисов на Spring с Testcontainers - Уголок сельского джависта">
            <a:extLst>
              <a:ext uri="{FF2B5EF4-FFF2-40B4-BE49-F238E27FC236}">
                <a16:creationId xmlns:a16="http://schemas.microsoft.com/office/drawing/2014/main" id="{FCC7B5C2-CF22-5662-FA61-6968BCB27B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5559" y="2912504"/>
            <a:ext cx="938659" cy="938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Hibernate (@Hibernate) / Posts / X">
            <a:extLst>
              <a:ext uri="{FF2B5EF4-FFF2-40B4-BE49-F238E27FC236}">
                <a16:creationId xmlns:a16="http://schemas.microsoft.com/office/drawing/2014/main" id="{F72AF032-0646-2011-29D7-FF6AEA632A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578" t="14437" r="11458" b="11782"/>
          <a:stretch/>
        </p:blipFill>
        <p:spPr bwMode="auto">
          <a:xfrm>
            <a:off x="5758941" y="3456203"/>
            <a:ext cx="938659" cy="9363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15259E7C-3B6E-832B-F46F-B34103154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200" dirty="0"/>
              <a:t>Данные и Миграция</a:t>
            </a:r>
            <a:endParaRPr lang="ru-RU" dirty="0"/>
          </a:p>
        </p:txBody>
      </p:sp>
      <p:pic>
        <p:nvPicPr>
          <p:cNvPr id="4" name="Google Shape;286;p49">
            <a:extLst>
              <a:ext uri="{FF2B5EF4-FFF2-40B4-BE49-F238E27FC236}">
                <a16:creationId xmlns:a16="http://schemas.microsoft.com/office/drawing/2014/main" id="{07DFFE9F-BF30-93A5-6DAE-BF8DD4FE9A9D}"/>
              </a:ext>
            </a:extLst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364207" y="1441384"/>
            <a:ext cx="588118" cy="58811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487381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440;p62">
            <a:extLst>
              <a:ext uri="{FF2B5EF4-FFF2-40B4-BE49-F238E27FC236}">
                <a16:creationId xmlns:a16="http://schemas.microsoft.com/office/drawing/2014/main" id="{91CE620F-9FFA-521D-148D-CB2AE675DB6E}"/>
              </a:ext>
            </a:extLst>
          </p:cNvPr>
          <p:cNvSpPr/>
          <p:nvPr/>
        </p:nvSpPr>
        <p:spPr>
          <a:xfrm>
            <a:off x="431800" y="1019316"/>
            <a:ext cx="3414600" cy="4037776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 dirty="0"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6" name="Google Shape;199;p40">
            <a:extLst>
              <a:ext uri="{FF2B5EF4-FFF2-40B4-BE49-F238E27FC236}">
                <a16:creationId xmlns:a16="http://schemas.microsoft.com/office/drawing/2014/main" id="{90EB3EF1-EF1F-E81D-7F31-C7ECA2B640D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14127838"/>
              </p:ext>
            </p:extLst>
          </p:nvPr>
        </p:nvGraphicFramePr>
        <p:xfrm>
          <a:off x="537725" y="1449767"/>
          <a:ext cx="3308675" cy="762000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2731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355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+mj-lt"/>
                          <a:sym typeface="Roboto"/>
                        </a:rPr>
                        <a:t>1.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 err="1">
                          <a:latin typeface="+mj-lt"/>
                          <a:sym typeface="Roboto"/>
                        </a:rPr>
                        <a:t>Thymeleaf</a:t>
                      </a:r>
                      <a:r>
                        <a:rPr lang="en-US" sz="1600" dirty="0">
                          <a:latin typeface="+mj-lt"/>
                          <a:sym typeface="Roboto"/>
                        </a:rPr>
                        <a:t> </a:t>
                      </a:r>
                      <a:endParaRPr sz="1600" dirty="0">
                        <a:latin typeface="+mj-lt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+mj-lt"/>
                          <a:sym typeface="Roboto"/>
                        </a:rPr>
                        <a:t>2.</a:t>
                      </a:r>
                      <a:endParaRPr sz="1600" b="1" dirty="0">
                        <a:solidFill>
                          <a:schemeClr val="accent2"/>
                        </a:solidFill>
                        <a:latin typeface="+mj-lt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latin typeface="+mj-lt"/>
                          <a:sym typeface="Roboto"/>
                        </a:rPr>
                        <a:t>HTML5, CSS3</a:t>
                      </a:r>
                      <a:r>
                        <a:rPr lang="ru-RU" sz="1600" dirty="0">
                          <a:latin typeface="+mj-lt"/>
                          <a:sym typeface="Roboto"/>
                        </a:rPr>
                        <a:t>, </a:t>
                      </a:r>
                      <a:r>
                        <a:rPr lang="en-US" sz="1600" dirty="0">
                          <a:latin typeface="+mj-lt"/>
                          <a:sym typeface="Roboto"/>
                        </a:rPr>
                        <a:t>Bootstrap 5</a:t>
                      </a:r>
                      <a:endParaRPr sz="1600" dirty="0">
                        <a:latin typeface="+mj-lt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Google Shape;443;p62">
            <a:extLst>
              <a:ext uri="{FF2B5EF4-FFF2-40B4-BE49-F238E27FC236}">
                <a16:creationId xmlns:a16="http://schemas.microsoft.com/office/drawing/2014/main" id="{47422C43-18EC-EF53-DEC9-25429DFE991D}"/>
              </a:ext>
            </a:extLst>
          </p:cNvPr>
          <p:cNvSpPr txBox="1"/>
          <p:nvPr/>
        </p:nvSpPr>
        <p:spPr>
          <a:xfrm>
            <a:off x="537725" y="1019316"/>
            <a:ext cx="14826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+mj-lt"/>
                <a:ea typeface="Roboto"/>
                <a:cs typeface="Roboto"/>
                <a:sym typeface="Roboto"/>
              </a:rPr>
              <a:t>Frontend:</a:t>
            </a:r>
            <a:endParaRPr sz="1700" b="1" dirty="0">
              <a:solidFill>
                <a:schemeClr val="accent2"/>
              </a:solidFill>
              <a:latin typeface="+mj-lt"/>
              <a:ea typeface="Roboto"/>
              <a:cs typeface="Roboto"/>
              <a:sym typeface="Roboto"/>
            </a:endParaRPr>
          </a:p>
        </p:txBody>
      </p:sp>
      <p:graphicFrame>
        <p:nvGraphicFramePr>
          <p:cNvPr id="8" name="Google Shape;199;p40">
            <a:extLst>
              <a:ext uri="{FF2B5EF4-FFF2-40B4-BE49-F238E27FC236}">
                <a16:creationId xmlns:a16="http://schemas.microsoft.com/office/drawing/2014/main" id="{7585D581-E7AD-A702-4CDE-64E2D322EC2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45013365"/>
              </p:ext>
            </p:extLst>
          </p:nvPr>
        </p:nvGraphicFramePr>
        <p:xfrm>
          <a:off x="537725" y="2622618"/>
          <a:ext cx="3308675" cy="762000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2731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355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REST API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 dirty="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Swagger UI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Google Shape;443;p62">
            <a:extLst>
              <a:ext uri="{FF2B5EF4-FFF2-40B4-BE49-F238E27FC236}">
                <a16:creationId xmlns:a16="http://schemas.microsoft.com/office/drawing/2014/main" id="{6216EC0A-A22C-E85E-3AE5-85D56B575EBB}"/>
              </a:ext>
            </a:extLst>
          </p:cNvPr>
          <p:cNvSpPr txBox="1"/>
          <p:nvPr/>
        </p:nvSpPr>
        <p:spPr>
          <a:xfrm>
            <a:off x="537725" y="2192167"/>
            <a:ext cx="3007900" cy="4462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API &amp; </a:t>
            </a:r>
            <a:r>
              <a:rPr lang="ru-RU" sz="1700" b="1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Документация:</a:t>
            </a:r>
            <a:endParaRPr lang="en-US" sz="1700" b="1"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0" name="Google Shape;199;p40">
            <a:extLst>
              <a:ext uri="{FF2B5EF4-FFF2-40B4-BE49-F238E27FC236}">
                <a16:creationId xmlns:a16="http://schemas.microsoft.com/office/drawing/2014/main" id="{2E6F462A-1AA8-12DF-D49A-8EECE4F38EF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08840304"/>
              </p:ext>
            </p:extLst>
          </p:nvPr>
        </p:nvGraphicFramePr>
        <p:xfrm>
          <a:off x="537725" y="3783392"/>
          <a:ext cx="3308675" cy="1143000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2731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355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Maven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</a:t>
                      </a:r>
                      <a:r>
                        <a:rPr lang="en-US" sz="1600" dirty="0" err="1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Checkstyle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 dirty="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Git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+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Actions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 dirty="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Docker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92920275"/>
                  </a:ext>
                </a:extLst>
              </a:tr>
            </a:tbl>
          </a:graphicData>
        </a:graphic>
      </p:graphicFrame>
      <p:sp>
        <p:nvSpPr>
          <p:cNvPr id="11" name="Google Shape;443;p62">
            <a:extLst>
              <a:ext uri="{FF2B5EF4-FFF2-40B4-BE49-F238E27FC236}">
                <a16:creationId xmlns:a16="http://schemas.microsoft.com/office/drawing/2014/main" id="{D3449711-553E-3DE2-79C6-2F48E723D0AB}"/>
              </a:ext>
            </a:extLst>
          </p:cNvPr>
          <p:cNvSpPr txBox="1"/>
          <p:nvPr/>
        </p:nvSpPr>
        <p:spPr>
          <a:xfrm>
            <a:off x="537725" y="3352941"/>
            <a:ext cx="3007900" cy="4462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Инструменты &amp; Качество:</a:t>
            </a:r>
            <a:endParaRPr lang="en-US" sz="1700" b="1"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9FD13014-91A3-03F5-A7FB-93FF2C52A88E}"/>
              </a:ext>
            </a:extLst>
          </p:cNvPr>
          <p:cNvGrpSpPr/>
          <p:nvPr/>
        </p:nvGrpSpPr>
        <p:grpSpPr>
          <a:xfrm>
            <a:off x="4324349" y="1215532"/>
            <a:ext cx="4617426" cy="3597768"/>
            <a:chOff x="4324349" y="1215532"/>
            <a:chExt cx="4617426" cy="35977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B7B9BC1C-65CD-1EDC-3A6B-C830CC17FF8A}"/>
                </a:ext>
              </a:extLst>
            </p:cNvPr>
            <p:cNvSpPr/>
            <p:nvPr/>
          </p:nvSpPr>
          <p:spPr>
            <a:xfrm>
              <a:off x="4324351" y="3209366"/>
              <a:ext cx="4617424" cy="1603934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12" name="Google Shape;417;p60">
              <a:extLst>
                <a:ext uri="{FF2B5EF4-FFF2-40B4-BE49-F238E27FC236}">
                  <a16:creationId xmlns:a16="http://schemas.microsoft.com/office/drawing/2014/main" id="{9ED7E8F9-2750-DC29-191F-BB8AC46A6CC2}"/>
                </a:ext>
              </a:extLst>
            </p:cNvPr>
            <p:cNvSpPr txBox="1">
              <a:spLocks/>
            </p:cNvSpPr>
            <p:nvPr/>
          </p:nvSpPr>
          <p:spPr>
            <a:xfrm>
              <a:off x="4324349" y="1215532"/>
              <a:ext cx="4617425" cy="2025139"/>
            </a:xfrm>
            <a:prstGeom prst="rect">
              <a:avLst/>
            </a:prstGeom>
            <a:solidFill>
              <a:srgbClr val="282C34"/>
            </a:solidFill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3100"/>
                <a:buFont typeface="Roboto"/>
                <a:buNone/>
                <a:defRPr sz="3100" b="1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Roboto"/>
                <a:buNone/>
                <a:defRPr sz="28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Roboto"/>
                <a:buNone/>
                <a:defRPr sz="28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Roboto"/>
                <a:buNone/>
                <a:defRPr sz="28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Roboto"/>
                <a:buNone/>
                <a:defRPr sz="28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Roboto"/>
                <a:buNone/>
                <a:defRPr sz="28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Roboto"/>
                <a:buNone/>
                <a:defRPr sz="28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Roboto"/>
                <a:buNone/>
                <a:defRPr sz="28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Roboto"/>
                <a:buNone/>
                <a:defRPr sz="28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9pPr>
            </a:lstStyle>
            <a:p>
              <a:pPr>
                <a:lnSpc>
                  <a:spcPct val="115000"/>
                </a:lnSpc>
              </a:pPr>
              <a:r>
                <a:rPr lang="ru-RU" sz="1300" b="0" dirty="0" err="1">
                  <a:cs typeface="Reem Kufi" pitchFamily="2" charset="-78"/>
                </a:rPr>
                <a:t>Frontend</a:t>
              </a:r>
              <a:r>
                <a:rPr lang="ru-RU" sz="1300" b="0" dirty="0">
                  <a:cs typeface="Reem Kufi" pitchFamily="2" charset="-78"/>
                </a:rPr>
                <a:t> как "тонкий клиент" на </a:t>
              </a:r>
              <a:r>
                <a:rPr lang="ru-RU" sz="1300" b="0" dirty="0" err="1">
                  <a:cs typeface="Reem Kufi" pitchFamily="2" charset="-78"/>
                </a:rPr>
                <a:t>Thymeleaf</a:t>
              </a:r>
              <a:r>
                <a:rPr lang="ru-RU" sz="1300" b="0" dirty="0">
                  <a:cs typeface="Reem Kufi" pitchFamily="2" charset="-78"/>
                </a:rPr>
                <a:t>:</a:t>
              </a:r>
            </a:p>
            <a:p>
              <a:pPr>
                <a:lnSpc>
                  <a:spcPct val="115000"/>
                </a:lnSpc>
              </a:pPr>
              <a:r>
                <a:rPr lang="ru-RU" sz="1300" b="0" dirty="0">
                  <a:cs typeface="Reem Kufi" pitchFamily="2" charset="-78"/>
                </a:rPr>
                <a:t>- Быстрая разработка</a:t>
              </a:r>
            </a:p>
            <a:p>
              <a:pPr>
                <a:lnSpc>
                  <a:spcPct val="115000"/>
                </a:lnSpc>
              </a:pPr>
              <a:r>
                <a:rPr lang="ru-RU" sz="1300" b="0" dirty="0">
                  <a:cs typeface="Reem Kufi" pitchFamily="2" charset="-78"/>
                </a:rPr>
                <a:t>- Единая кодовая база</a:t>
              </a:r>
            </a:p>
            <a:p>
              <a:pPr>
                <a:lnSpc>
                  <a:spcPct val="115000"/>
                </a:lnSpc>
              </a:pPr>
              <a:endParaRPr lang="en-US" sz="1300" b="0" dirty="0">
                <a:latin typeface="Reem Kufi" pitchFamily="2" charset="-78"/>
                <a:cs typeface="Reem Kufi" pitchFamily="2" charset="-78"/>
              </a:endParaRPr>
            </a:p>
            <a:p>
              <a:pPr>
                <a:lnSpc>
                  <a:spcPct val="115000"/>
                </a:lnSpc>
              </a:pPr>
              <a:r>
                <a:rPr lang="ru-RU" sz="1300" b="0" dirty="0">
                  <a:cs typeface="Reem Kufi" pitchFamily="2" charset="-78"/>
                </a:rPr>
                <a:t>API + </a:t>
              </a:r>
              <a:r>
                <a:rPr lang="ru-RU" sz="1300" b="0" dirty="0" err="1">
                  <a:cs typeface="Reem Kufi" pitchFamily="2" charset="-78"/>
                </a:rPr>
                <a:t>Swagger</a:t>
              </a:r>
              <a:r>
                <a:rPr lang="ru-RU" sz="1300" b="0" dirty="0">
                  <a:cs typeface="Reem Kufi" pitchFamily="2" charset="-78"/>
                </a:rPr>
                <a:t> для готовности к интеграциям</a:t>
              </a:r>
            </a:p>
            <a:p>
              <a:pPr>
                <a:lnSpc>
                  <a:spcPct val="115000"/>
                </a:lnSpc>
              </a:pPr>
              <a:endParaRPr lang="ru-RU" sz="1300" b="0" dirty="0">
                <a:cs typeface="Reem Kufi" pitchFamily="2" charset="-78"/>
              </a:endParaRPr>
            </a:p>
            <a:p>
              <a:pPr>
                <a:lnSpc>
                  <a:spcPct val="115000"/>
                </a:lnSpc>
              </a:pPr>
              <a:r>
                <a:rPr lang="ru-RU" sz="1300" b="0" dirty="0" err="1">
                  <a:cs typeface="Reem Kufi" pitchFamily="2" charset="-78"/>
                </a:rPr>
                <a:t>Maven</a:t>
              </a:r>
              <a:r>
                <a:rPr lang="ru-RU" sz="1300" b="0" dirty="0">
                  <a:cs typeface="Reem Kufi" pitchFamily="2" charset="-78"/>
                </a:rPr>
                <a:t> + </a:t>
              </a:r>
              <a:r>
                <a:rPr lang="ru-RU" sz="1300" b="0" dirty="0" err="1">
                  <a:cs typeface="Reem Kufi" pitchFamily="2" charset="-78"/>
                </a:rPr>
                <a:t>Checkstyle</a:t>
              </a:r>
              <a:r>
                <a:rPr lang="ru-RU" sz="1300" b="0" dirty="0">
                  <a:cs typeface="Reem Kufi" pitchFamily="2" charset="-78"/>
                </a:rPr>
                <a:t> элементы развертывания и поддержки качество кода</a:t>
              </a:r>
            </a:p>
          </p:txBody>
        </p:sp>
        <p:pic>
          <p:nvPicPr>
            <p:cNvPr id="3076" name="Picture 4" descr="Движок шаблонов Thymeleaf - Уголок сельского джависта">
              <a:extLst>
                <a:ext uri="{FF2B5EF4-FFF2-40B4-BE49-F238E27FC236}">
                  <a16:creationId xmlns:a16="http://schemas.microsoft.com/office/drawing/2014/main" id="{A38825FB-400A-5447-2154-4D57B76C29D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6094" y="4088494"/>
              <a:ext cx="533400" cy="5357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78" name="Picture 6" descr="Рекомендации по бренду · Bootstrap v5.0">
              <a:extLst>
                <a:ext uri="{FF2B5EF4-FFF2-40B4-BE49-F238E27FC236}">
                  <a16:creationId xmlns:a16="http://schemas.microsoft.com/office/drawing/2014/main" id="{7A31F3FA-3AED-DFEB-43FE-71EA0422173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79827" y="3375326"/>
              <a:ext cx="830295" cy="6589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80" name="Picture 8" descr="GitHub - swagger-api/swagger-editor: Swagger Editor">
              <a:extLst>
                <a:ext uri="{FF2B5EF4-FFF2-40B4-BE49-F238E27FC236}">
                  <a16:creationId xmlns:a16="http://schemas.microsoft.com/office/drawing/2014/main" id="{519CBDDE-56C5-E165-B24D-2D26AF5710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16787" y="3247611"/>
              <a:ext cx="535781" cy="5357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82" name="Picture 10">
              <a:extLst>
                <a:ext uri="{FF2B5EF4-FFF2-40B4-BE49-F238E27FC236}">
                  <a16:creationId xmlns:a16="http://schemas.microsoft.com/office/drawing/2014/main" id="{F0C9765F-9F35-9C3F-B278-CE91B4A74D4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77671" y="3271977"/>
              <a:ext cx="1452563" cy="3672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84" name="Picture 12" descr="Git · GitHub">
              <a:extLst>
                <a:ext uri="{FF2B5EF4-FFF2-40B4-BE49-F238E27FC236}">
                  <a16:creationId xmlns:a16="http://schemas.microsoft.com/office/drawing/2014/main" id="{DA51830A-3B5D-68D8-9C7C-1920D3387E1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644481" y="3897265"/>
              <a:ext cx="859472" cy="8594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86" name="Picture 14" descr="Быстрый способ уменьшения размера виртуального диска Docker на Windows /  Хабр">
              <a:extLst>
                <a:ext uri="{FF2B5EF4-FFF2-40B4-BE49-F238E27FC236}">
                  <a16:creationId xmlns:a16="http://schemas.microsoft.com/office/drawing/2014/main" id="{7B863077-1800-DA33-BA62-18BBD499A0C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59639" y="3754897"/>
              <a:ext cx="968116" cy="8286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CE43B63-5756-83DF-5E4A-E20FEFF1D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Frontend,</a:t>
            </a:r>
            <a:r>
              <a:rPr lang="ru-RU" sz="3200" dirty="0"/>
              <a:t> </a:t>
            </a:r>
            <a:r>
              <a:rPr lang="en-US" sz="3200" dirty="0"/>
              <a:t>API </a:t>
            </a:r>
            <a:r>
              <a:rPr lang="ru-RU" sz="3200" dirty="0"/>
              <a:t>и Инструменты</a:t>
            </a:r>
            <a:endParaRPr lang="ru-RU" dirty="0"/>
          </a:p>
        </p:txBody>
      </p:sp>
      <p:pic>
        <p:nvPicPr>
          <p:cNvPr id="3" name="Google Shape;286;p49">
            <a:extLst>
              <a:ext uri="{FF2B5EF4-FFF2-40B4-BE49-F238E27FC236}">
                <a16:creationId xmlns:a16="http://schemas.microsoft.com/office/drawing/2014/main" id="{0B9B007D-AF13-9B19-9FAC-AD3E281EDBB7}"/>
              </a:ext>
            </a:extLst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3258283" y="950284"/>
            <a:ext cx="588118" cy="58811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187046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C436327-7356-70A8-151C-46D3966F8FBD}"/>
              </a:ext>
            </a:extLst>
          </p:cNvPr>
          <p:cNvSpPr/>
          <p:nvPr/>
        </p:nvSpPr>
        <p:spPr>
          <a:xfrm>
            <a:off x="914400" y="1209675"/>
            <a:ext cx="2105622" cy="2162176"/>
          </a:xfrm>
          <a:prstGeom prst="rect">
            <a:avLst/>
          </a:prstGeom>
          <a:solidFill>
            <a:srgbClr val="282C34"/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Google Shape;507;p67">
            <a:extLst>
              <a:ext uri="{FF2B5EF4-FFF2-40B4-BE49-F238E27FC236}">
                <a16:creationId xmlns:a16="http://schemas.microsoft.com/office/drawing/2014/main" id="{2D8F2597-9FC0-95C1-E5C0-AA238F7F09D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80026" y="1363325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3" name="Google Shape;508;p67">
            <a:extLst>
              <a:ext uri="{FF2B5EF4-FFF2-40B4-BE49-F238E27FC236}">
                <a16:creationId xmlns:a16="http://schemas.microsoft.com/office/drawing/2014/main" id="{ED384EAE-7A73-4969-FC75-2E98DAD150CF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95490" y="1902315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4" name="Google Shape;509;p67">
            <a:extLst>
              <a:ext uri="{FF2B5EF4-FFF2-40B4-BE49-F238E27FC236}">
                <a16:creationId xmlns:a16="http://schemas.microsoft.com/office/drawing/2014/main" id="{94E6C49E-C540-A822-3CDF-CACDD23AB16E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954816" y="1902315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" name="Google Shape;510;p67">
            <a:extLst>
              <a:ext uri="{FF2B5EF4-FFF2-40B4-BE49-F238E27FC236}">
                <a16:creationId xmlns:a16="http://schemas.microsoft.com/office/drawing/2014/main" id="{751E652D-0142-F42E-7749-DAE1C48BA959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774202" y="1902315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6" name="Google Shape;512;p67">
            <a:extLst>
              <a:ext uri="{FF2B5EF4-FFF2-40B4-BE49-F238E27FC236}">
                <a16:creationId xmlns:a16="http://schemas.microsoft.com/office/drawing/2014/main" id="{DE9444FC-9DFE-7F14-723E-74A433E11FB7}"/>
              </a:ext>
            </a:extLst>
          </p:cNvPr>
          <p:cNvSpPr txBox="1"/>
          <p:nvPr/>
        </p:nvSpPr>
        <p:spPr>
          <a:xfrm>
            <a:off x="1470181" y="1486815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Controller</a:t>
            </a:r>
            <a:endParaRPr sz="1500" b="1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" name="Google Shape;513;p67">
            <a:extLst>
              <a:ext uri="{FF2B5EF4-FFF2-40B4-BE49-F238E27FC236}">
                <a16:creationId xmlns:a16="http://schemas.microsoft.com/office/drawing/2014/main" id="{41CBE9B9-548A-1C80-EBBA-4F95F4EEC909}"/>
              </a:ext>
            </a:extLst>
          </p:cNvPr>
          <p:cNvSpPr txBox="1"/>
          <p:nvPr/>
        </p:nvSpPr>
        <p:spPr>
          <a:xfrm>
            <a:off x="5324930" y="2072189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Service</a:t>
            </a:r>
            <a:endParaRPr sz="1500" b="1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" name="Google Shape;514;p67">
            <a:extLst>
              <a:ext uri="{FF2B5EF4-FFF2-40B4-BE49-F238E27FC236}">
                <a16:creationId xmlns:a16="http://schemas.microsoft.com/office/drawing/2014/main" id="{051E1B7D-63D6-07E1-CF1F-3456B67970DC}"/>
              </a:ext>
            </a:extLst>
          </p:cNvPr>
          <p:cNvSpPr txBox="1"/>
          <p:nvPr/>
        </p:nvSpPr>
        <p:spPr>
          <a:xfrm>
            <a:off x="3402838" y="1902315"/>
            <a:ext cx="1239076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DTO + </a:t>
            </a:r>
            <a:r>
              <a:rPr lang="en-US" sz="1500" b="1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MapStruct</a:t>
            </a:r>
            <a:endParaRPr sz="1500" b="1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" name="Google Shape;515;p67">
            <a:extLst>
              <a:ext uri="{FF2B5EF4-FFF2-40B4-BE49-F238E27FC236}">
                <a16:creationId xmlns:a16="http://schemas.microsoft.com/office/drawing/2014/main" id="{ECF3C8A1-9710-5F20-5922-0F1484358934}"/>
              </a:ext>
            </a:extLst>
          </p:cNvPr>
          <p:cNvSpPr txBox="1"/>
          <p:nvPr/>
        </p:nvSpPr>
        <p:spPr>
          <a:xfrm>
            <a:off x="7064357" y="2025806"/>
            <a:ext cx="1154294" cy="4154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Repository</a:t>
            </a:r>
            <a:endParaRPr sz="1500" b="1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" name="Google Shape;507;p67">
            <a:extLst>
              <a:ext uri="{FF2B5EF4-FFF2-40B4-BE49-F238E27FC236}">
                <a16:creationId xmlns:a16="http://schemas.microsoft.com/office/drawing/2014/main" id="{CA9F79E4-2FDD-6414-5C15-D0519DD492B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80026" y="2441274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11" name="Google Shape;512;p67">
            <a:extLst>
              <a:ext uri="{FF2B5EF4-FFF2-40B4-BE49-F238E27FC236}">
                <a16:creationId xmlns:a16="http://schemas.microsoft.com/office/drawing/2014/main" id="{EA1E014C-D7EE-1FB0-C833-9ED5B2398641}"/>
              </a:ext>
            </a:extLst>
          </p:cNvPr>
          <p:cNvSpPr txBox="1"/>
          <p:nvPr/>
        </p:nvSpPr>
        <p:spPr>
          <a:xfrm>
            <a:off x="1459619" y="2619464"/>
            <a:ext cx="1353055" cy="4154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Integration</a:t>
            </a:r>
            <a:endParaRPr sz="1500" b="1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" name="Google Shape;463;p64">
            <a:extLst>
              <a:ext uri="{FF2B5EF4-FFF2-40B4-BE49-F238E27FC236}">
                <a16:creationId xmlns:a16="http://schemas.microsoft.com/office/drawing/2014/main" id="{A51CBFE9-442D-B246-07C8-8AE6E30534E6}"/>
              </a:ext>
            </a:extLst>
          </p:cNvPr>
          <p:cNvSpPr txBox="1"/>
          <p:nvPr/>
        </p:nvSpPr>
        <p:spPr>
          <a:xfrm>
            <a:off x="3285648" y="3034932"/>
            <a:ext cx="5053500" cy="19189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Монолит — как оптимальный выбор для MVP.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Архитектура обусловлена:</a:t>
            </a:r>
          </a:p>
          <a:p>
            <a:pPr marL="28575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Четким разделение ответственности между слоями</a:t>
            </a:r>
            <a:r>
              <a:rPr lang="en-US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;</a:t>
            </a:r>
            <a:endParaRPr lang="ru-RU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8575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Легкостью тестирования каждого компонента</a:t>
            </a:r>
            <a:r>
              <a:rPr lang="en-US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;</a:t>
            </a:r>
            <a:endParaRPr lang="ru-RU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8575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Простотой разработки и развёртывания</a:t>
            </a:r>
            <a:r>
              <a:rPr lang="en-US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;</a:t>
            </a:r>
            <a:endParaRPr lang="ru-RU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8575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Готовности к декомпозиции при росте нагрузки</a:t>
            </a:r>
            <a:r>
              <a:rPr lang="en-US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" name="Заголовок 18">
            <a:extLst>
              <a:ext uri="{FF2B5EF4-FFF2-40B4-BE49-F238E27FC236}">
                <a16:creationId xmlns:a16="http://schemas.microsoft.com/office/drawing/2014/main" id="{5D8562BE-082F-BF21-DF44-EFD191F8B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200" dirty="0"/>
              <a:t>Архитектура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510602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2F7BD18-7E1B-697C-0A13-183C7CFEAE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5050" b="28694"/>
          <a:stretch/>
        </p:blipFill>
        <p:spPr>
          <a:xfrm>
            <a:off x="1709102" y="983602"/>
            <a:ext cx="5725795" cy="409272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0D685B40-FE46-09A1-68D5-9EDDEECFE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Базы данных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Заголовок 32">
            <a:extLst>
              <a:ext uri="{FF2B5EF4-FFF2-40B4-BE49-F238E27FC236}">
                <a16:creationId xmlns:a16="http://schemas.microsoft.com/office/drawing/2014/main" id="{93EDDF68-E0E9-6F85-1586-BF6FD3EF6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200" dirty="0"/>
              <a:t>Базовая сущность</a:t>
            </a:r>
            <a:endParaRPr lang="ru-RU" dirty="0"/>
          </a:p>
        </p:txBody>
      </p:sp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66EAC12A-75A2-A24C-23CD-6932771EDE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5733" y="1126912"/>
            <a:ext cx="6006042" cy="4016588"/>
          </a:xfrm>
          <a:prstGeom prst="rect">
            <a:avLst/>
          </a:prstGeom>
        </p:spPr>
      </p:pic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8E2F0294-3338-80C2-674E-2A34DF2C50E3}"/>
              </a:ext>
            </a:extLst>
          </p:cNvPr>
          <p:cNvSpPr/>
          <p:nvPr/>
        </p:nvSpPr>
        <p:spPr>
          <a:xfrm>
            <a:off x="3168144" y="1771650"/>
            <a:ext cx="3399260" cy="552450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A46431D5-A490-B59A-A50A-5996FE0C264B}"/>
              </a:ext>
            </a:extLst>
          </p:cNvPr>
          <p:cNvSpPr/>
          <p:nvPr/>
        </p:nvSpPr>
        <p:spPr>
          <a:xfrm>
            <a:off x="3168144" y="2416387"/>
            <a:ext cx="4008860" cy="1041187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7DF6DC51-DB30-10FB-6FE8-D258A4BCD7C8}"/>
              </a:ext>
            </a:extLst>
          </p:cNvPr>
          <p:cNvSpPr/>
          <p:nvPr/>
        </p:nvSpPr>
        <p:spPr>
          <a:xfrm>
            <a:off x="3168144" y="3549861"/>
            <a:ext cx="5704310" cy="1041187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A0EF446-0548-7D3D-9195-789072DAF9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800" y="1120723"/>
            <a:ext cx="2421252" cy="2406753"/>
          </a:xfrm>
          <a:prstGeom prst="rect">
            <a:avLst/>
          </a:prstGeom>
          <a:ln>
            <a:solidFill>
              <a:schemeClr val="tx2">
                <a:lumMod val="90000"/>
                <a:lumOff val="1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" name="Google Shape;280;p49">
            <a:extLst>
              <a:ext uri="{FF2B5EF4-FFF2-40B4-BE49-F238E27FC236}">
                <a16:creationId xmlns:a16="http://schemas.microsoft.com/office/drawing/2014/main" id="{113CFAB2-97D3-F124-BC3D-6F78264A176B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650085" y="1829388"/>
            <a:ext cx="436975" cy="436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280;p49">
            <a:extLst>
              <a:ext uri="{FF2B5EF4-FFF2-40B4-BE49-F238E27FC236}">
                <a16:creationId xmlns:a16="http://schemas.microsoft.com/office/drawing/2014/main" id="{FBD8592F-1057-E043-01F0-647DD1FAF1DB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0978" y="2718493"/>
            <a:ext cx="436975" cy="436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280;p49">
            <a:extLst>
              <a:ext uri="{FF2B5EF4-FFF2-40B4-BE49-F238E27FC236}">
                <a16:creationId xmlns:a16="http://schemas.microsoft.com/office/drawing/2014/main" id="{2E1F3C9C-F845-F65A-4726-4C66296DC60A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805968" y="3798101"/>
            <a:ext cx="436975" cy="43697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50903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D4D3589E-1278-611B-90E6-0BC17A1B3E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175" y="1019812"/>
            <a:ext cx="4894767" cy="4123688"/>
          </a:xfrm>
          <a:prstGeom prst="rect">
            <a:avLst/>
          </a:prstGeom>
        </p:spPr>
      </p:pic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99090CA4-EFEB-D163-A39A-2A10FA4943BE}"/>
              </a:ext>
            </a:extLst>
          </p:cNvPr>
          <p:cNvSpPr/>
          <p:nvPr/>
        </p:nvSpPr>
        <p:spPr>
          <a:xfrm>
            <a:off x="421175" y="998212"/>
            <a:ext cx="2254862" cy="1362075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06481C8D-33A2-B52C-C0ED-8810B9BDC4F1}"/>
              </a:ext>
            </a:extLst>
          </p:cNvPr>
          <p:cNvSpPr/>
          <p:nvPr/>
        </p:nvSpPr>
        <p:spPr>
          <a:xfrm>
            <a:off x="421175" y="2360288"/>
            <a:ext cx="3358597" cy="925838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0B9EC498-5EFD-ABB7-9E34-AE3B2E81EE96}"/>
              </a:ext>
            </a:extLst>
          </p:cNvPr>
          <p:cNvSpPr/>
          <p:nvPr/>
        </p:nvSpPr>
        <p:spPr>
          <a:xfrm>
            <a:off x="739187" y="4331132"/>
            <a:ext cx="4576756" cy="593293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4CA162EC-CC04-46F3-2CF6-FD3A844D7B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8547" y="1019812"/>
            <a:ext cx="3584658" cy="4123688"/>
          </a:xfrm>
          <a:prstGeom prst="rect">
            <a:avLst/>
          </a:prstGeom>
        </p:spPr>
      </p:pic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0E82EE67-EFC4-8CC2-51A5-48867DAC0D4F}"/>
              </a:ext>
            </a:extLst>
          </p:cNvPr>
          <p:cNvSpPr/>
          <p:nvPr/>
        </p:nvSpPr>
        <p:spPr>
          <a:xfrm>
            <a:off x="5689450" y="3595244"/>
            <a:ext cx="3211150" cy="951217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3" name="Заголовок 32">
            <a:extLst>
              <a:ext uri="{FF2B5EF4-FFF2-40B4-BE49-F238E27FC236}">
                <a16:creationId xmlns:a16="http://schemas.microsoft.com/office/drawing/2014/main" id="{93EDDF68-E0E9-6F85-1586-BF6FD3EF6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200" dirty="0"/>
              <a:t>Сущность </a:t>
            </a:r>
            <a:r>
              <a:rPr lang="en-US" sz="3200" dirty="0" err="1"/>
              <a:t>BankAccount</a:t>
            </a:r>
            <a:endParaRPr lang="ru-RU" dirty="0"/>
          </a:p>
        </p:txBody>
      </p:sp>
      <p:pic>
        <p:nvPicPr>
          <p:cNvPr id="7" name="Google Shape;280;p49">
            <a:extLst>
              <a:ext uri="{FF2B5EF4-FFF2-40B4-BE49-F238E27FC236}">
                <a16:creationId xmlns:a16="http://schemas.microsoft.com/office/drawing/2014/main" id="{595C2C15-9152-6698-A347-CE8E1989B48D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868558" y="1460762"/>
            <a:ext cx="436975" cy="436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280;p49">
            <a:extLst>
              <a:ext uri="{FF2B5EF4-FFF2-40B4-BE49-F238E27FC236}">
                <a16:creationId xmlns:a16="http://schemas.microsoft.com/office/drawing/2014/main" id="{A1B40F12-A212-6F62-12BF-5F19ECCD5916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779772" y="2611692"/>
            <a:ext cx="436975" cy="436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280;p49">
            <a:extLst>
              <a:ext uri="{FF2B5EF4-FFF2-40B4-BE49-F238E27FC236}">
                <a16:creationId xmlns:a16="http://schemas.microsoft.com/office/drawing/2014/main" id="{FD7660EE-9F92-7C25-7DEB-29FAA3C4430B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52475" y="4420012"/>
            <a:ext cx="436975" cy="436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280;p49">
            <a:extLst>
              <a:ext uri="{FF2B5EF4-FFF2-40B4-BE49-F238E27FC236}">
                <a16:creationId xmlns:a16="http://schemas.microsoft.com/office/drawing/2014/main" id="{947CCB8E-34B8-7E97-5D83-D7D5612AB77F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774717" y="3894158"/>
            <a:ext cx="436975" cy="43697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382508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548062-A051-C2C5-CC79-9CDB16D05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DTO + Mappers</a:t>
            </a:r>
            <a:endParaRPr lang="ru-RU" dirty="0"/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7B90735C-FB6A-BB66-2D99-8E006347964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7212"/>
          <a:stretch/>
        </p:blipFill>
        <p:spPr>
          <a:xfrm>
            <a:off x="1682103" y="3477355"/>
            <a:ext cx="6220925" cy="1666145"/>
          </a:xfrm>
          <a:prstGeom prst="rect">
            <a:avLst/>
          </a:prstGeom>
        </p:spPr>
      </p:pic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33AD0C2C-82B0-9EFC-20EE-41AFCF1D55D7}"/>
              </a:ext>
            </a:extLst>
          </p:cNvPr>
          <p:cNvSpPr/>
          <p:nvPr/>
        </p:nvSpPr>
        <p:spPr>
          <a:xfrm>
            <a:off x="1857215" y="4369005"/>
            <a:ext cx="3815797" cy="582770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B25D143E-0C34-1850-965C-0F7A9B0BE4D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" r="20049"/>
          <a:stretch/>
        </p:blipFill>
        <p:spPr>
          <a:xfrm>
            <a:off x="1682103" y="1081393"/>
            <a:ext cx="6220925" cy="2349264"/>
          </a:xfrm>
          <a:prstGeom prst="rect">
            <a:avLst/>
          </a:prstGeom>
        </p:spPr>
      </p:pic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2E762320-0D34-035B-9B43-68D5B19603BD}"/>
              </a:ext>
            </a:extLst>
          </p:cNvPr>
          <p:cNvSpPr/>
          <p:nvPr/>
        </p:nvSpPr>
        <p:spPr>
          <a:xfrm>
            <a:off x="1857215" y="1301193"/>
            <a:ext cx="3881111" cy="843004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Google Shape;280;p49">
            <a:extLst>
              <a:ext uri="{FF2B5EF4-FFF2-40B4-BE49-F238E27FC236}">
                <a16:creationId xmlns:a16="http://schemas.microsoft.com/office/drawing/2014/main" id="{81BBAD50-0D4A-DBFD-F9D7-4F804DDF290E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738326" y="1504208"/>
            <a:ext cx="436975" cy="436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280;p49">
            <a:extLst>
              <a:ext uri="{FF2B5EF4-FFF2-40B4-BE49-F238E27FC236}">
                <a16:creationId xmlns:a16="http://schemas.microsoft.com/office/drawing/2014/main" id="{1EF8FA16-7C89-5C5A-08D7-A17B2C09C7DF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91172" y="4441903"/>
            <a:ext cx="436975" cy="43697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313208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3561375-89E5-5AA9-F64F-FE1A12EBFC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256" y="1093345"/>
            <a:ext cx="7323488" cy="3590469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548062-A051-C2C5-CC79-9CDB16D05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JPA</a:t>
            </a:r>
            <a:r>
              <a:rPr lang="ru-RU" dirty="0"/>
              <a:t> репозитории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33AD0C2C-82B0-9EFC-20EE-41AFCF1D55D7}"/>
              </a:ext>
            </a:extLst>
          </p:cNvPr>
          <p:cNvSpPr/>
          <p:nvPr/>
        </p:nvSpPr>
        <p:spPr>
          <a:xfrm>
            <a:off x="1176081" y="2432909"/>
            <a:ext cx="5047437" cy="636862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2E762320-0D34-035B-9B43-68D5B19603BD}"/>
              </a:ext>
            </a:extLst>
          </p:cNvPr>
          <p:cNvSpPr/>
          <p:nvPr/>
        </p:nvSpPr>
        <p:spPr>
          <a:xfrm>
            <a:off x="1176081" y="1272543"/>
            <a:ext cx="4758188" cy="994795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DD482FBB-4482-2AD9-F6D9-82DD4BE4A611}"/>
              </a:ext>
            </a:extLst>
          </p:cNvPr>
          <p:cNvSpPr/>
          <p:nvPr/>
        </p:nvSpPr>
        <p:spPr>
          <a:xfrm>
            <a:off x="1176080" y="3234094"/>
            <a:ext cx="6642973" cy="1375227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Google Shape;280;p49">
            <a:extLst>
              <a:ext uri="{FF2B5EF4-FFF2-40B4-BE49-F238E27FC236}">
                <a16:creationId xmlns:a16="http://schemas.microsoft.com/office/drawing/2014/main" id="{2FFF99D2-7D55-CA73-07B2-56448816E6BA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34269" y="1525978"/>
            <a:ext cx="436975" cy="436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280;p49">
            <a:extLst>
              <a:ext uri="{FF2B5EF4-FFF2-40B4-BE49-F238E27FC236}">
                <a16:creationId xmlns:a16="http://schemas.microsoft.com/office/drawing/2014/main" id="{39F4E155-DE93-E1AF-31F5-122D75CECC1C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371244" y="2505947"/>
            <a:ext cx="436975" cy="436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280;p49">
            <a:extLst>
              <a:ext uri="{FF2B5EF4-FFF2-40B4-BE49-F238E27FC236}">
                <a16:creationId xmlns:a16="http://schemas.microsoft.com/office/drawing/2014/main" id="{C587B657-7EB0-7FD2-9E4E-58E7069D800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19053" y="3703220"/>
            <a:ext cx="436975" cy="43697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766102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548062-A051-C2C5-CC79-9CDB16D05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Liquibase + PostgreSQL + JPA</a:t>
            </a:r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1D88847-AEB8-26CB-15B8-71EA697B39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6735" y="1051664"/>
            <a:ext cx="3429479" cy="40391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947E42C-2811-7DE2-A35E-C7A4D52D7D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126" y="1051664"/>
            <a:ext cx="2103312" cy="4039164"/>
          </a:xfrm>
          <a:prstGeom prst="rect">
            <a:avLst/>
          </a:prstGeom>
        </p:spPr>
      </p:pic>
      <p:sp>
        <p:nvSpPr>
          <p:cNvPr id="12" name="Правая фигурная скобка 11">
            <a:extLst>
              <a:ext uri="{FF2B5EF4-FFF2-40B4-BE49-F238E27FC236}">
                <a16:creationId xmlns:a16="http://schemas.microsoft.com/office/drawing/2014/main" id="{32E9778A-E15B-93A7-E5BA-87A557449819}"/>
              </a:ext>
            </a:extLst>
          </p:cNvPr>
          <p:cNvSpPr/>
          <p:nvPr/>
        </p:nvSpPr>
        <p:spPr>
          <a:xfrm>
            <a:off x="4608513" y="1478780"/>
            <a:ext cx="234075" cy="508640"/>
          </a:xfrm>
          <a:prstGeom prst="rightBrac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авая фигурная скобка 12">
            <a:extLst>
              <a:ext uri="{FF2B5EF4-FFF2-40B4-BE49-F238E27FC236}">
                <a16:creationId xmlns:a16="http://schemas.microsoft.com/office/drawing/2014/main" id="{529FC313-118B-08BC-46A2-7E57142F71F4}"/>
              </a:ext>
            </a:extLst>
          </p:cNvPr>
          <p:cNvSpPr/>
          <p:nvPr/>
        </p:nvSpPr>
        <p:spPr>
          <a:xfrm>
            <a:off x="5990122" y="2043407"/>
            <a:ext cx="234075" cy="1903436"/>
          </a:xfrm>
          <a:prstGeom prst="rightBrac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8763BE1D-8427-95E9-3A9B-75F5C27D2E01}"/>
              </a:ext>
            </a:extLst>
          </p:cNvPr>
          <p:cNvCxnSpPr/>
          <p:nvPr/>
        </p:nvCxnSpPr>
        <p:spPr>
          <a:xfrm flipH="1">
            <a:off x="3144416" y="2043406"/>
            <a:ext cx="2716650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4E5E4257-C022-3A9A-4F62-EF1E4434BFE3}"/>
              </a:ext>
            </a:extLst>
          </p:cNvPr>
          <p:cNvCxnSpPr/>
          <p:nvPr/>
        </p:nvCxnSpPr>
        <p:spPr>
          <a:xfrm flipH="1">
            <a:off x="3144416" y="3946843"/>
            <a:ext cx="2716650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3E1FEEDD-BA6D-188E-C36A-3066B10ED946}"/>
              </a:ext>
            </a:extLst>
          </p:cNvPr>
          <p:cNvCxnSpPr/>
          <p:nvPr/>
        </p:nvCxnSpPr>
        <p:spPr>
          <a:xfrm flipH="1">
            <a:off x="3144416" y="4879912"/>
            <a:ext cx="2716650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>
            <a:extLst>
              <a:ext uri="{FF2B5EF4-FFF2-40B4-BE49-F238E27FC236}">
                <a16:creationId xmlns:a16="http://schemas.microsoft.com/office/drawing/2014/main" id="{5D28F054-8EA0-EB14-456F-F5A03E7B9FE2}"/>
              </a:ext>
            </a:extLst>
          </p:cNvPr>
          <p:cNvCxnSpPr/>
          <p:nvPr/>
        </p:nvCxnSpPr>
        <p:spPr>
          <a:xfrm flipH="1">
            <a:off x="3144416" y="4114802"/>
            <a:ext cx="2716650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7">
            <a:extLst>
              <a:ext uri="{FF2B5EF4-FFF2-40B4-BE49-F238E27FC236}">
                <a16:creationId xmlns:a16="http://schemas.microsoft.com/office/drawing/2014/main" id="{2350C43B-C618-4343-8318-8B59E478EA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8106" y="1512551"/>
            <a:ext cx="1741943" cy="44109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76176" rIns="0" bIns="76176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914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371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828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2860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743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200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657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F9FAFB"/>
                </a:solidFill>
                <a:effectLst/>
                <a:latin typeface="+mj-lt"/>
              </a:rPr>
              <a:t>Миграция данных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21" name="Rectangle 7">
            <a:extLst>
              <a:ext uri="{FF2B5EF4-FFF2-40B4-BE49-F238E27FC236}">
                <a16:creationId xmlns:a16="http://schemas.microsoft.com/office/drawing/2014/main" id="{7EC5930D-E020-1939-6BED-5DB606201B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50039" y="2723916"/>
            <a:ext cx="1907553" cy="44109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76176" rIns="0" bIns="76176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914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371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828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2860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743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200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657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F9FAFB"/>
                </a:solidFill>
                <a:effectLst/>
                <a:latin typeface="+mj-lt"/>
              </a:rPr>
              <a:t>Миграция структуры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pic>
        <p:nvPicPr>
          <p:cNvPr id="3" name="Google Shape;286;p49">
            <a:extLst>
              <a:ext uri="{FF2B5EF4-FFF2-40B4-BE49-F238E27FC236}">
                <a16:creationId xmlns:a16="http://schemas.microsoft.com/office/drawing/2014/main" id="{A8E83C6F-1214-0B76-DB85-BD790E23C63A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453076" y="915988"/>
            <a:ext cx="588118" cy="58811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793837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06DC5A-368C-08BF-334F-3C87B88DB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F9FAFB"/>
                </a:solidFill>
                <a:effectLst/>
                <a:latin typeface="quote-cjk-patch"/>
              </a:rPr>
              <a:t>Security: JWT Stateless </a:t>
            </a:r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B582420-A127-698A-2FBF-958CB0FAD2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00" y="1096993"/>
            <a:ext cx="4633659" cy="3866891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860F8B4C-9C8F-04F2-F788-42B9204D0E2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0641"/>
          <a:stretch/>
        </p:blipFill>
        <p:spPr>
          <a:xfrm>
            <a:off x="5139086" y="1096993"/>
            <a:ext cx="3802689" cy="85737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A8E9EF4-82D8-1C4A-F6D3-49376F6880E4}"/>
              </a:ext>
            </a:extLst>
          </p:cNvPr>
          <p:cNvSpPr txBox="1"/>
          <p:nvPr/>
        </p:nvSpPr>
        <p:spPr>
          <a:xfrm>
            <a:off x="5139086" y="2152772"/>
            <a:ext cx="3802689" cy="2031325"/>
          </a:xfrm>
          <a:prstGeom prst="rect">
            <a:avLst/>
          </a:prstGeom>
          <a:solidFill>
            <a:schemeClr val="tx2"/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accent1"/>
                </a:solidFill>
              </a:rPr>
              <a:t>JwtRequestFilter</a:t>
            </a:r>
            <a:r>
              <a:rPr lang="en-US" dirty="0">
                <a:solidFill>
                  <a:schemeClr val="tx1"/>
                </a:solidFill>
              </a:rPr>
              <a:t> –</a:t>
            </a:r>
            <a:r>
              <a:rPr lang="ru-RU" dirty="0">
                <a:solidFill>
                  <a:schemeClr val="tx1"/>
                </a:solidFill>
              </a:rPr>
              <a:t> отвечает за обработку запросов и проверку наличия токена.</a:t>
            </a:r>
            <a:br>
              <a:rPr lang="ru-RU" dirty="0">
                <a:solidFill>
                  <a:schemeClr val="tx1"/>
                </a:solidFill>
              </a:rPr>
            </a:br>
            <a:br>
              <a:rPr lang="ru-RU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accent1"/>
                </a:solidFill>
              </a:rPr>
              <a:t>JwtTokenUtil</a:t>
            </a:r>
            <a:r>
              <a:rPr lang="ru-RU" dirty="0">
                <a:solidFill>
                  <a:schemeClr val="tx1"/>
                </a:solidFill>
              </a:rPr>
              <a:t> – отвечает за генерацию, валидацию и обработку токена.</a:t>
            </a:r>
          </a:p>
          <a:p>
            <a:endParaRPr lang="ru-RU" dirty="0">
              <a:solidFill>
                <a:schemeClr val="tx1"/>
              </a:solidFill>
            </a:endParaRPr>
          </a:p>
          <a:p>
            <a:r>
              <a:rPr lang="en-US" dirty="0" err="1">
                <a:solidFill>
                  <a:schemeClr val="accent5"/>
                </a:solidFill>
              </a:rPr>
              <a:t>PasswordService</a:t>
            </a:r>
            <a:r>
              <a:rPr lang="ru-RU" dirty="0">
                <a:solidFill>
                  <a:schemeClr val="tx1"/>
                </a:solidFill>
              </a:rPr>
              <a:t> – шифрует пароль на основании метода шифрования из конфигурации </a:t>
            </a:r>
            <a:r>
              <a:rPr lang="en-US" dirty="0" err="1">
                <a:solidFill>
                  <a:schemeClr val="accent1"/>
                </a:solidFill>
              </a:rPr>
              <a:t>PasswordEncoderConfig</a:t>
            </a:r>
            <a:endParaRPr lang="ru-RU" dirty="0">
              <a:solidFill>
                <a:schemeClr val="accent1"/>
              </a:solidFill>
            </a:endParaRPr>
          </a:p>
        </p:txBody>
      </p:sp>
      <p:pic>
        <p:nvPicPr>
          <p:cNvPr id="3" name="Google Shape;286;p49">
            <a:extLst>
              <a:ext uri="{FF2B5EF4-FFF2-40B4-BE49-F238E27FC236}">
                <a16:creationId xmlns:a16="http://schemas.microsoft.com/office/drawing/2014/main" id="{1BD5ED5A-A297-C7A6-274B-5C829AD32E8C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81475" y="802935"/>
            <a:ext cx="588118" cy="58811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253220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06DC5A-368C-08BF-334F-3C87B88DB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b="1" dirty="0">
                <a:solidFill>
                  <a:srgbClr val="F9FAFB"/>
                </a:solidFill>
                <a:effectLst/>
                <a:latin typeface="quote-cjk-patch"/>
              </a:rPr>
              <a:t>Локализация</a:t>
            </a:r>
          </a:p>
        </p:txBody>
      </p:sp>
      <p:graphicFrame>
        <p:nvGraphicFramePr>
          <p:cNvPr id="33" name="Таблица 32">
            <a:extLst>
              <a:ext uri="{FF2B5EF4-FFF2-40B4-BE49-F238E27FC236}">
                <a16:creationId xmlns:a16="http://schemas.microsoft.com/office/drawing/2014/main" id="{410AC561-3F38-BE10-24D1-436EC5919D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2643599"/>
              </p:ext>
            </p:extLst>
          </p:nvPr>
        </p:nvGraphicFramePr>
        <p:xfrm>
          <a:off x="1059672" y="2693634"/>
          <a:ext cx="7024654" cy="2242136"/>
        </p:xfrm>
        <a:graphic>
          <a:graphicData uri="http://schemas.openxmlformats.org/drawingml/2006/table">
            <a:tbl>
              <a:tblPr/>
              <a:tblGrid>
                <a:gridCol w="1223507">
                  <a:extLst>
                    <a:ext uri="{9D8B030D-6E8A-4147-A177-3AD203B41FA5}">
                      <a16:colId xmlns:a16="http://schemas.microsoft.com/office/drawing/2014/main" val="1323765524"/>
                    </a:ext>
                  </a:extLst>
                </a:gridCol>
                <a:gridCol w="3739875">
                  <a:extLst>
                    <a:ext uri="{9D8B030D-6E8A-4147-A177-3AD203B41FA5}">
                      <a16:colId xmlns:a16="http://schemas.microsoft.com/office/drawing/2014/main" val="3179856514"/>
                    </a:ext>
                  </a:extLst>
                </a:gridCol>
                <a:gridCol w="2061272">
                  <a:extLst>
                    <a:ext uri="{9D8B030D-6E8A-4147-A177-3AD203B41FA5}">
                      <a16:colId xmlns:a16="http://schemas.microsoft.com/office/drawing/2014/main" val="4106381239"/>
                    </a:ext>
                  </a:extLst>
                </a:gridCol>
              </a:tblGrid>
              <a:tr h="395336"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chemeClr val="accent5"/>
                          </a:solidFill>
                          <a:effectLst/>
                          <a:latin typeface="+mj-lt"/>
                        </a:rPr>
                        <a:t>Категория</a:t>
                      </a:r>
                      <a:endParaRPr lang="ru-RU" sz="1200" b="0" dirty="0">
                        <a:solidFill>
                          <a:schemeClr val="accent5"/>
                        </a:solidFill>
                        <a:effectLst/>
                        <a:latin typeface="+mj-lt"/>
                      </a:endParaRPr>
                    </a:p>
                  </a:txBody>
                  <a:tcPr marL="89510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chemeClr val="accent5"/>
                          </a:solidFill>
                          <a:effectLst/>
                          <a:latin typeface="+mj-lt"/>
                        </a:rPr>
                        <a:t>Примеры</a:t>
                      </a:r>
                      <a:endParaRPr lang="ru-RU" sz="1200" b="0" dirty="0">
                        <a:solidFill>
                          <a:schemeClr val="accent5"/>
                        </a:solidFill>
                        <a:effectLst/>
                        <a:latin typeface="+mj-lt"/>
                      </a:endParaRPr>
                    </a:p>
                  </a:txBody>
                  <a:tcPr marL="149183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chemeClr val="accent5"/>
                          </a:solidFill>
                          <a:effectLst/>
                          <a:latin typeface="+mj-lt"/>
                        </a:rPr>
                        <a:t>Назначение</a:t>
                      </a:r>
                      <a:endParaRPr lang="ru-RU" sz="1200" b="0" dirty="0">
                        <a:solidFill>
                          <a:schemeClr val="accent5"/>
                        </a:solidFill>
                        <a:effectLst/>
                        <a:latin typeface="+mj-lt"/>
                      </a:endParaRPr>
                    </a:p>
                  </a:txBody>
                  <a:tcPr marL="149183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161326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1" dirty="0">
                          <a:effectLst/>
                          <a:latin typeface="+mj-lt"/>
                        </a:rPr>
                        <a:t>Validation</a:t>
                      </a:r>
                      <a:endParaRPr lang="en-US" sz="1200" b="0" dirty="0">
                        <a:effectLst/>
                        <a:latin typeface="+mj-lt"/>
                      </a:endParaRPr>
                    </a:p>
                  </a:txBody>
                  <a:tcPr marL="89510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 err="1">
                          <a:effectLst/>
                          <a:latin typeface="+mj-lt"/>
                        </a:rPr>
                        <a:t>validation.BankAccount.accountName.notBlank</a:t>
                      </a:r>
                      <a:endParaRPr lang="en-US" sz="1200" b="0" dirty="0">
                        <a:effectLst/>
                        <a:latin typeface="+mj-lt"/>
                      </a:endParaRPr>
                    </a:p>
                  </a:txBody>
                  <a:tcPr marL="149183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 dirty="0">
                          <a:effectLst/>
                          <a:latin typeface="+mj-lt"/>
                        </a:rPr>
                        <a:t>Валидация форм</a:t>
                      </a:r>
                    </a:p>
                  </a:txBody>
                  <a:tcPr marL="149183" marR="89510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120815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1">
                          <a:effectLst/>
                          <a:latin typeface="+mj-lt"/>
                        </a:rPr>
                        <a:t>Business</a:t>
                      </a:r>
                      <a:endParaRPr lang="en-US" sz="1200" b="0">
                        <a:effectLst/>
                        <a:latin typeface="+mj-lt"/>
                      </a:endParaRPr>
                    </a:p>
                  </a:txBody>
                  <a:tcPr marL="89510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effectLst/>
                          <a:latin typeface="+mj-lt"/>
                        </a:rPr>
                        <a:t>business.transaction.currency.mismatch</a:t>
                      </a:r>
                    </a:p>
                  </a:txBody>
                  <a:tcPr marL="149183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 dirty="0">
                          <a:effectLst/>
                          <a:latin typeface="+mj-lt"/>
                        </a:rPr>
                        <a:t>Бизнес-логика</a:t>
                      </a:r>
                    </a:p>
                  </a:txBody>
                  <a:tcPr marL="149183" marR="89510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270040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1">
                          <a:effectLst/>
                          <a:latin typeface="+mj-lt"/>
                        </a:rPr>
                        <a:t>Exceptions</a:t>
                      </a:r>
                      <a:endParaRPr lang="en-US" sz="1200" b="0">
                        <a:effectLst/>
                        <a:latin typeface="+mj-lt"/>
                      </a:endParaRPr>
                    </a:p>
                  </a:txBody>
                  <a:tcPr marL="89510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 err="1">
                          <a:effectLst/>
                          <a:latin typeface="+mj-lt"/>
                        </a:rPr>
                        <a:t>exception.entity.not.found.bank</a:t>
                      </a:r>
                      <a:endParaRPr lang="en-US" sz="1200" b="0" dirty="0">
                        <a:effectLst/>
                        <a:latin typeface="+mj-lt"/>
                      </a:endParaRPr>
                    </a:p>
                  </a:txBody>
                  <a:tcPr marL="149183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 dirty="0">
                          <a:effectLst/>
                          <a:latin typeface="+mj-lt"/>
                        </a:rPr>
                        <a:t>Обработка ошибок</a:t>
                      </a:r>
                    </a:p>
                  </a:txBody>
                  <a:tcPr marL="149183" marR="89510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5735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1">
                          <a:effectLst/>
                          <a:latin typeface="+mj-lt"/>
                        </a:rPr>
                        <a:t>Security</a:t>
                      </a:r>
                      <a:endParaRPr lang="en-US" sz="1200" b="0">
                        <a:effectLst/>
                        <a:latin typeface="+mj-lt"/>
                      </a:endParaRPr>
                    </a:p>
                  </a:txBody>
                  <a:tcPr marL="89510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 err="1">
                          <a:effectLst/>
                          <a:latin typeface="+mj-lt"/>
                        </a:rPr>
                        <a:t>security.UserService.notAuthenticated</a:t>
                      </a:r>
                      <a:endParaRPr lang="en-US" sz="1200" b="0" dirty="0">
                        <a:effectLst/>
                        <a:latin typeface="+mj-lt"/>
                      </a:endParaRPr>
                    </a:p>
                  </a:txBody>
                  <a:tcPr marL="149183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 dirty="0">
                          <a:effectLst/>
                          <a:latin typeface="+mj-lt"/>
                        </a:rPr>
                        <a:t>Безопасность</a:t>
                      </a:r>
                    </a:p>
                  </a:txBody>
                  <a:tcPr marL="149183" marR="89510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433479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1">
                          <a:effectLst/>
                          <a:latin typeface="+mj-lt"/>
                        </a:rPr>
                        <a:t>Registration</a:t>
                      </a:r>
                      <a:endParaRPr lang="en-US" sz="1200" b="0">
                        <a:effectLst/>
                        <a:latin typeface="+mj-lt"/>
                      </a:endParaRPr>
                    </a:p>
                  </a:txBody>
                  <a:tcPr marL="89510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effectLst/>
                          <a:latin typeface="+mj-lt"/>
                        </a:rPr>
                        <a:t>registration.login.already.exist</a:t>
                      </a:r>
                    </a:p>
                  </a:txBody>
                  <a:tcPr marL="149183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 dirty="0">
                          <a:effectLst/>
                          <a:latin typeface="+mj-lt"/>
                        </a:rPr>
                        <a:t>Регистрация</a:t>
                      </a:r>
                    </a:p>
                  </a:txBody>
                  <a:tcPr marL="149183" marR="89510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7071751"/>
                  </a:ext>
                </a:extLst>
              </a:tr>
            </a:tbl>
          </a:graphicData>
        </a:graphic>
      </p:graphicFrame>
      <p:sp>
        <p:nvSpPr>
          <p:cNvPr id="35" name="Google Shape;440;p62">
            <a:extLst>
              <a:ext uri="{FF2B5EF4-FFF2-40B4-BE49-F238E27FC236}">
                <a16:creationId xmlns:a16="http://schemas.microsoft.com/office/drawing/2014/main" id="{8D2FEF52-879E-690D-2B19-7173B1521BF6}"/>
              </a:ext>
            </a:extLst>
          </p:cNvPr>
          <p:cNvSpPr/>
          <p:nvPr/>
        </p:nvSpPr>
        <p:spPr>
          <a:xfrm>
            <a:off x="863730" y="1042896"/>
            <a:ext cx="7416539" cy="1406971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" name="Google Shape;441;p62">
            <a:extLst>
              <a:ext uri="{FF2B5EF4-FFF2-40B4-BE49-F238E27FC236}">
                <a16:creationId xmlns:a16="http://schemas.microsoft.com/office/drawing/2014/main" id="{1926EBA9-99FA-E6F7-222B-F9E031B7C7C4}"/>
              </a:ext>
            </a:extLst>
          </p:cNvPr>
          <p:cNvSpPr txBox="1"/>
          <p:nvPr/>
        </p:nvSpPr>
        <p:spPr>
          <a:xfrm>
            <a:off x="1112635" y="1229331"/>
            <a:ext cx="6918729" cy="11756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bg1"/>
                </a:solidFill>
                <a:latin typeface="+mn-lt"/>
                <a:ea typeface="Roboto"/>
                <a:cs typeface="Roboto"/>
                <a:sym typeface="Roboto"/>
              </a:rPr>
              <a:t>Реализована е</a:t>
            </a:r>
            <a:r>
              <a:rPr lang="ru-RU" i="0" dirty="0">
                <a:solidFill>
                  <a:schemeClr val="bg1"/>
                </a:solidFill>
                <a:effectLst/>
                <a:latin typeface="+mn-lt"/>
              </a:rPr>
              <a:t>диная система сообщений для валидации, ошибок и бизнес-логики.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i="0" dirty="0">
                <a:solidFill>
                  <a:schemeClr val="bg1"/>
                </a:solidFill>
                <a:effectLst/>
                <a:latin typeface="+mn-lt"/>
              </a:rPr>
              <a:t>От валидации форм до бизнес-ошибок — все сообщения централизованы, </a:t>
            </a:r>
            <a:r>
              <a:rPr lang="ru-RU" i="0" dirty="0" err="1">
                <a:solidFill>
                  <a:schemeClr val="bg1"/>
                </a:solidFill>
                <a:effectLst/>
                <a:latin typeface="+mn-lt"/>
              </a:rPr>
              <a:t>категоризированы</a:t>
            </a:r>
            <a:r>
              <a:rPr lang="ru-RU" i="0" dirty="0">
                <a:solidFill>
                  <a:schemeClr val="bg1"/>
                </a:solidFill>
                <a:effectLst/>
                <a:latin typeface="+mn-lt"/>
              </a:rPr>
              <a:t> и готовы к локализации на любые языки</a:t>
            </a:r>
            <a:endParaRPr dirty="0">
              <a:solidFill>
                <a:schemeClr val="bg1"/>
              </a:solidFill>
              <a:latin typeface="+mn-lt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4069601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06DC5A-368C-08BF-334F-3C87B88DB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b="1" dirty="0">
                <a:solidFill>
                  <a:srgbClr val="F9FAFB"/>
                </a:solidFill>
                <a:effectLst/>
                <a:latin typeface="quote-cjk-patch"/>
              </a:rPr>
              <a:t>Контроллеры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E9F3E18-F471-72FB-47AB-917D26E220D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856" r="8082"/>
          <a:stretch/>
        </p:blipFill>
        <p:spPr>
          <a:xfrm>
            <a:off x="421175" y="1065548"/>
            <a:ext cx="4579620" cy="390269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3B4ADB2-C0C9-BF6D-AFFA-F01AA316402D}"/>
              </a:ext>
            </a:extLst>
          </p:cNvPr>
          <p:cNvSpPr txBox="1"/>
          <p:nvPr/>
        </p:nvSpPr>
        <p:spPr>
          <a:xfrm>
            <a:off x="5067299" y="1065548"/>
            <a:ext cx="3821135" cy="2031325"/>
          </a:xfrm>
          <a:prstGeom prst="rect">
            <a:avLst/>
          </a:prstGeom>
          <a:solidFill>
            <a:srgbClr val="282C34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Разделение ответственности: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Web контроллеры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→ Пользовательский интерфейс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API контроллеры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→ Программный интерфейс</a:t>
            </a:r>
          </a:p>
          <a:p>
            <a:pPr algn="l"/>
            <a:endParaRPr lang="en-US" b="1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Единая аутентификация: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Одинаковый механизм для Web и API</a:t>
            </a:r>
            <a:endParaRPr lang="en-US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JWT токены в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HttpOnly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куках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Стандартные Spring Security аннотации</a:t>
            </a:r>
          </a:p>
        </p:txBody>
      </p:sp>
      <p:pic>
        <p:nvPicPr>
          <p:cNvPr id="3" name="Google Shape;286;p49">
            <a:extLst>
              <a:ext uri="{FF2B5EF4-FFF2-40B4-BE49-F238E27FC236}">
                <a16:creationId xmlns:a16="http://schemas.microsoft.com/office/drawing/2014/main" id="{AAC9B73E-5E8C-BEAB-2AD6-2885EE6B4E7C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79181" y="915988"/>
            <a:ext cx="588118" cy="58811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603339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06DC5A-368C-08BF-334F-3C87B88DB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b="1" dirty="0">
                <a:solidFill>
                  <a:srgbClr val="F9FAFB"/>
                </a:solidFill>
                <a:effectLst/>
                <a:latin typeface="quote-cjk-patch"/>
              </a:rPr>
              <a:t>Обработка ошибок</a:t>
            </a:r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3A5E68DA-4CEA-D670-3AA0-F0DC232E09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6701" y="1056379"/>
            <a:ext cx="5710597" cy="3984484"/>
          </a:xfrm>
          <a:prstGeom prst="rect">
            <a:avLst/>
          </a:prstGeom>
        </p:spPr>
      </p:pic>
      <p:pic>
        <p:nvPicPr>
          <p:cNvPr id="3" name="Google Shape;286;p49">
            <a:extLst>
              <a:ext uri="{FF2B5EF4-FFF2-40B4-BE49-F238E27FC236}">
                <a16:creationId xmlns:a16="http://schemas.microsoft.com/office/drawing/2014/main" id="{FA710E23-DAC9-AA58-006A-6558B4B00F8D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897582" y="927774"/>
            <a:ext cx="588118" cy="58811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110612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06DC5A-368C-08BF-334F-3C87B88DB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b="1" dirty="0">
                <a:solidFill>
                  <a:srgbClr val="F9FAFB"/>
                </a:solidFill>
                <a:effectLst/>
                <a:latin typeface="quote-cjk-patch"/>
              </a:rPr>
              <a:t>Логирование исключений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5BEC5E5-65D9-3CDE-7193-6026611EBF7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8662"/>
          <a:stretch/>
        </p:blipFill>
        <p:spPr>
          <a:xfrm>
            <a:off x="1307717" y="994143"/>
            <a:ext cx="7139597" cy="264056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CF7CA71-A2AF-B077-FFF6-FA3661B38AD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4475"/>
          <a:stretch/>
        </p:blipFill>
        <p:spPr>
          <a:xfrm>
            <a:off x="1307717" y="3750084"/>
            <a:ext cx="7139597" cy="79854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8379788C-E0B3-ADCB-577A-16B82833D561}"/>
              </a:ext>
            </a:extLst>
          </p:cNvPr>
          <p:cNvCxnSpPr>
            <a:cxnSpLocks/>
          </p:cNvCxnSpPr>
          <p:nvPr/>
        </p:nvCxnSpPr>
        <p:spPr>
          <a:xfrm flipH="1">
            <a:off x="1536596" y="1730986"/>
            <a:ext cx="5191864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9BF912B8-0C10-2646-3E24-D46D97AA5843}"/>
              </a:ext>
            </a:extLst>
          </p:cNvPr>
          <p:cNvCxnSpPr>
            <a:cxnSpLocks/>
          </p:cNvCxnSpPr>
          <p:nvPr/>
        </p:nvCxnSpPr>
        <p:spPr>
          <a:xfrm flipH="1">
            <a:off x="1536596" y="2500606"/>
            <a:ext cx="6837784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313FD866-D093-B66F-DF6B-E0C6A53F6102}"/>
              </a:ext>
            </a:extLst>
          </p:cNvPr>
          <p:cNvCxnSpPr>
            <a:cxnSpLocks/>
          </p:cNvCxnSpPr>
          <p:nvPr/>
        </p:nvCxnSpPr>
        <p:spPr>
          <a:xfrm flipH="1">
            <a:off x="1536596" y="3634706"/>
            <a:ext cx="6837784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CA12469B-7F42-3227-233A-F3F8514F8DD6}"/>
              </a:ext>
            </a:extLst>
          </p:cNvPr>
          <p:cNvCxnSpPr>
            <a:cxnSpLocks/>
          </p:cNvCxnSpPr>
          <p:nvPr/>
        </p:nvCxnSpPr>
        <p:spPr>
          <a:xfrm flipH="1">
            <a:off x="1536596" y="4508784"/>
            <a:ext cx="6837784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Правая фигурная скобка 9">
            <a:extLst>
              <a:ext uri="{FF2B5EF4-FFF2-40B4-BE49-F238E27FC236}">
                <a16:creationId xmlns:a16="http://schemas.microsoft.com/office/drawing/2014/main" id="{7EAD65B7-DE29-E8D5-0A1E-9A1C4FE37BFE}"/>
              </a:ext>
            </a:extLst>
          </p:cNvPr>
          <p:cNvSpPr/>
          <p:nvPr/>
        </p:nvSpPr>
        <p:spPr>
          <a:xfrm>
            <a:off x="6787833" y="1202323"/>
            <a:ext cx="234075" cy="508640"/>
          </a:xfrm>
          <a:prstGeom prst="rightBrac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авая фигурная скобка 10">
            <a:extLst>
              <a:ext uri="{FF2B5EF4-FFF2-40B4-BE49-F238E27FC236}">
                <a16:creationId xmlns:a16="http://schemas.microsoft.com/office/drawing/2014/main" id="{409A2D29-755B-BA19-97F7-4C9AB82ED58B}"/>
              </a:ext>
            </a:extLst>
          </p:cNvPr>
          <p:cNvSpPr/>
          <p:nvPr/>
        </p:nvSpPr>
        <p:spPr>
          <a:xfrm>
            <a:off x="6787832" y="1777332"/>
            <a:ext cx="234075" cy="723274"/>
          </a:xfrm>
          <a:prstGeom prst="rightBrac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авая фигурная скобка 11">
            <a:extLst>
              <a:ext uri="{FF2B5EF4-FFF2-40B4-BE49-F238E27FC236}">
                <a16:creationId xmlns:a16="http://schemas.microsoft.com/office/drawing/2014/main" id="{1C9A09ED-72B8-8589-49B8-B976000DB310}"/>
              </a:ext>
            </a:extLst>
          </p:cNvPr>
          <p:cNvSpPr/>
          <p:nvPr/>
        </p:nvSpPr>
        <p:spPr>
          <a:xfrm>
            <a:off x="8447314" y="2500606"/>
            <a:ext cx="234075" cy="1134100"/>
          </a:xfrm>
          <a:prstGeom prst="rightBrac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авая фигурная скобка 15">
            <a:extLst>
              <a:ext uri="{FF2B5EF4-FFF2-40B4-BE49-F238E27FC236}">
                <a16:creationId xmlns:a16="http://schemas.microsoft.com/office/drawing/2014/main" id="{E9F40EFD-D9F9-B19B-6FD6-AC87DA0CD8A2}"/>
              </a:ext>
            </a:extLst>
          </p:cNvPr>
          <p:cNvSpPr/>
          <p:nvPr/>
        </p:nvSpPr>
        <p:spPr>
          <a:xfrm>
            <a:off x="8447314" y="3634706"/>
            <a:ext cx="234075" cy="874078"/>
          </a:xfrm>
          <a:prstGeom prst="rightBrac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Google Shape;300;p49">
            <a:extLst>
              <a:ext uri="{FF2B5EF4-FFF2-40B4-BE49-F238E27FC236}">
                <a16:creationId xmlns:a16="http://schemas.microsoft.com/office/drawing/2014/main" id="{7786E0C5-2B2D-24FA-1087-4EB1E7765C5E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162800" y="1228312"/>
            <a:ext cx="378973" cy="422723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300;p49">
            <a:extLst>
              <a:ext uri="{FF2B5EF4-FFF2-40B4-BE49-F238E27FC236}">
                <a16:creationId xmlns:a16="http://schemas.microsoft.com/office/drawing/2014/main" id="{393BA120-50EF-36ED-159F-BC892281AA0D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162800" y="1879272"/>
            <a:ext cx="378973" cy="42272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300;p49">
            <a:extLst>
              <a:ext uri="{FF2B5EF4-FFF2-40B4-BE49-F238E27FC236}">
                <a16:creationId xmlns:a16="http://schemas.microsoft.com/office/drawing/2014/main" id="{A863C3FE-BC82-024E-7D15-11423AC2A884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681389" y="2856295"/>
            <a:ext cx="378973" cy="422723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Google Shape;300;p49">
            <a:extLst>
              <a:ext uri="{FF2B5EF4-FFF2-40B4-BE49-F238E27FC236}">
                <a16:creationId xmlns:a16="http://schemas.microsoft.com/office/drawing/2014/main" id="{FC2B6110-4047-7B92-DB08-E00EC0D53822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677284" y="3751563"/>
            <a:ext cx="378973" cy="42272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755258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06DC5A-368C-08BF-334F-3C87B88DB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b="1" dirty="0">
                <a:solidFill>
                  <a:srgbClr val="F9FAFB"/>
                </a:solidFill>
                <a:effectLst/>
                <a:latin typeface="quote-cjk-patch"/>
              </a:rPr>
              <a:t>Тестирование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845FFA4-54FA-9300-0E74-577A35613F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020" y="995484"/>
            <a:ext cx="5144904" cy="358978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F63B959-8F87-715E-3512-6AD5C80391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0065" y="995484"/>
            <a:ext cx="2832915" cy="2258571"/>
          </a:xfrm>
          <a:prstGeom prst="rect">
            <a:avLst/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Google Shape;286;p49">
            <a:extLst>
              <a:ext uri="{FF2B5EF4-FFF2-40B4-BE49-F238E27FC236}">
                <a16:creationId xmlns:a16="http://schemas.microsoft.com/office/drawing/2014/main" id="{A9AAC0AB-3418-D9E3-FFFB-5CE77282BA65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181947" y="816928"/>
            <a:ext cx="588118" cy="58811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301272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06DC5A-368C-08BF-334F-3C87B88DB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b="1" dirty="0">
                <a:solidFill>
                  <a:srgbClr val="F9FAFB"/>
                </a:solidFill>
                <a:effectLst/>
                <a:latin typeface="quote-cjk-patch"/>
              </a:rPr>
              <a:t>Docker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AAF09DD-94FC-31C4-A002-BF984EAEF32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6732" b="15959"/>
          <a:stretch/>
        </p:blipFill>
        <p:spPr>
          <a:xfrm>
            <a:off x="1790969" y="2157923"/>
            <a:ext cx="5781011" cy="265484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3D2554B-0825-B091-79B6-BB548267B565}"/>
              </a:ext>
            </a:extLst>
          </p:cNvPr>
          <p:cNvSpPr txBox="1"/>
          <p:nvPr/>
        </p:nvSpPr>
        <p:spPr>
          <a:xfrm>
            <a:off x="1768108" y="1173516"/>
            <a:ext cx="5803871" cy="738664"/>
          </a:xfrm>
          <a:prstGeom prst="rect">
            <a:avLst/>
          </a:prstGeom>
          <a:solidFill>
            <a:srgbClr val="282C34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Приложение и БД в одной сети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Нет прямого доступа извне к БД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Безопасная коммуникация между контейнерами</a:t>
            </a:r>
          </a:p>
        </p:txBody>
      </p:sp>
      <p:pic>
        <p:nvPicPr>
          <p:cNvPr id="3" name="Google Shape;286;p49">
            <a:extLst>
              <a:ext uri="{FF2B5EF4-FFF2-40B4-BE49-F238E27FC236}">
                <a16:creationId xmlns:a16="http://schemas.microsoft.com/office/drawing/2014/main" id="{3BFBE2D0-CD08-B858-C8D6-4720B4F528B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8972" y="1983634"/>
            <a:ext cx="588118" cy="58811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416350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06DC5A-368C-08BF-334F-3C87B88DB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F9FAFB"/>
                </a:solidFill>
                <a:effectLst/>
                <a:latin typeface="quote-cjk-patch"/>
              </a:rPr>
              <a:t>CI/CD: Автоматизация сборки и мониторинга</a:t>
            </a:r>
            <a:endParaRPr lang="en-US" b="1" dirty="0">
              <a:solidFill>
                <a:srgbClr val="F9FAFB"/>
              </a:solidFill>
              <a:effectLst/>
              <a:latin typeface="quote-cjk-patch"/>
            </a:endParaRPr>
          </a:p>
        </p:txBody>
      </p:sp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66311320-F9B1-D12E-90AA-8C9CC8151D4C}"/>
              </a:ext>
            </a:extLst>
          </p:cNvPr>
          <p:cNvGrpSpPr/>
          <p:nvPr/>
        </p:nvGrpSpPr>
        <p:grpSpPr>
          <a:xfrm>
            <a:off x="1551753" y="1059180"/>
            <a:ext cx="6259444" cy="3962400"/>
            <a:chOff x="1634877" y="1028700"/>
            <a:chExt cx="6259444" cy="3962400"/>
          </a:xfrm>
        </p:grpSpPr>
        <p:pic>
          <p:nvPicPr>
            <p:cNvPr id="7" name="Рисунок 6">
              <a:extLst>
                <a:ext uri="{FF2B5EF4-FFF2-40B4-BE49-F238E27FC236}">
                  <a16:creationId xmlns:a16="http://schemas.microsoft.com/office/drawing/2014/main" id="{D6C835F8-CF18-BF66-B265-5B0A565D981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9373" r="49798" b="9245"/>
            <a:stretch/>
          </p:blipFill>
          <p:spPr>
            <a:xfrm>
              <a:off x="1634877" y="1028700"/>
              <a:ext cx="1972804" cy="396240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5A91C14-D28B-8567-6163-62205E0E9819}"/>
                </a:ext>
              </a:extLst>
            </p:cNvPr>
            <p:cNvSpPr txBox="1"/>
            <p:nvPr/>
          </p:nvSpPr>
          <p:spPr>
            <a:xfrm>
              <a:off x="3711209" y="1028700"/>
              <a:ext cx="4183112" cy="1600438"/>
            </a:xfrm>
            <a:prstGeom prst="rect">
              <a:avLst/>
            </a:prstGeom>
            <a:solidFill>
              <a:srgbClr val="282C34"/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>
              <a:spAutoFit/>
            </a:bodyPr>
            <a:lstStyle/>
            <a:p>
              <a:pPr algn="l"/>
              <a:r>
                <a:rPr lang="ru-RU" b="1" i="0" dirty="0">
                  <a:solidFill>
                    <a:srgbClr val="F9FAFB"/>
                  </a:solidFill>
                  <a:effectLst/>
                  <a:latin typeface="quote-cjk-patch"/>
                </a:rPr>
                <a:t>Многоуровневая архитектура </a:t>
              </a:r>
              <a:r>
                <a:rPr lang="ru-RU" b="1" i="0" dirty="0" err="1">
                  <a:solidFill>
                    <a:srgbClr val="F9FAFB"/>
                  </a:solidFill>
                  <a:effectLst/>
                  <a:latin typeface="quote-cjk-patch"/>
                </a:rPr>
                <a:t>workflow</a:t>
              </a:r>
              <a:r>
                <a:rPr lang="ru-RU" b="1" i="0" dirty="0">
                  <a:solidFill>
                    <a:srgbClr val="F9FAFB"/>
                  </a:solidFill>
                  <a:effectLst/>
                  <a:latin typeface="quote-cjk-patch"/>
                </a:rPr>
                <a:t>:</a:t>
              </a:r>
              <a:endParaRPr lang="ru-RU" b="0" i="0" dirty="0">
                <a:solidFill>
                  <a:srgbClr val="F9FAFB"/>
                </a:solidFill>
                <a:effectLst/>
                <a:latin typeface="quote-cjk-patch"/>
              </a:endParaRPr>
            </a:p>
            <a:p>
              <a:pPr algn="l">
                <a:buFont typeface="Arial" panose="020B0604020202020204" pitchFamily="34" charset="0"/>
                <a:buChar char="•"/>
              </a:pPr>
              <a:r>
                <a:rPr lang="ru-RU" b="0" i="0" dirty="0">
                  <a:solidFill>
                    <a:srgbClr val="F9FAFB"/>
                  </a:solidFill>
                  <a:effectLst/>
                  <a:latin typeface="quote-cjk-patch"/>
                </a:rPr>
                <a:t>Автоматическая сборка и тестирование при создании PR</a:t>
              </a:r>
            </a:p>
            <a:p>
              <a:pPr algn="l">
                <a:buFont typeface="Arial" panose="020B0604020202020204" pitchFamily="34" charset="0"/>
                <a:buChar char="•"/>
              </a:pPr>
              <a:r>
                <a:rPr lang="ru-RU" b="0" i="0" dirty="0">
                  <a:solidFill>
                    <a:srgbClr val="F9FAFB"/>
                  </a:solidFill>
                  <a:effectLst/>
                  <a:latin typeface="quote-cjk-patch"/>
                </a:rPr>
                <a:t>Мгновенные уведомления в </a:t>
              </a:r>
              <a:r>
                <a:rPr lang="ru-RU" b="0" i="0" dirty="0" err="1">
                  <a:solidFill>
                    <a:srgbClr val="F9FAFB"/>
                  </a:solidFill>
                  <a:effectLst/>
                  <a:latin typeface="quote-cjk-patch"/>
                </a:rPr>
                <a:t>Telegram</a:t>
              </a:r>
              <a:r>
                <a:rPr lang="ru-RU" b="0" i="0" dirty="0">
                  <a:solidFill>
                    <a:srgbClr val="F9FAFB"/>
                  </a:solidFill>
                  <a:effectLst/>
                  <a:latin typeface="quote-cjk-patch"/>
                </a:rPr>
                <a:t> о статусе сборки</a:t>
              </a:r>
            </a:p>
            <a:p>
              <a:pPr algn="l">
                <a:buFont typeface="Arial" panose="020B0604020202020204" pitchFamily="34" charset="0"/>
                <a:buChar char="•"/>
              </a:pPr>
              <a:r>
                <a:rPr lang="ru-RU" b="0" i="0" dirty="0">
                  <a:solidFill>
                    <a:srgbClr val="F9FAFB"/>
                  </a:solidFill>
                  <a:effectLst/>
                  <a:latin typeface="quote-cjk-patch"/>
                </a:rPr>
                <a:t>Мониторинг активности </a:t>
              </a:r>
              <a:r>
                <a:rPr lang="ru-RU" b="0" i="0" dirty="0" err="1">
                  <a:solidFill>
                    <a:srgbClr val="F9FAFB"/>
                  </a:solidFill>
                  <a:effectLst/>
                  <a:latin typeface="quote-cjk-patch"/>
                </a:rPr>
                <a:t>code</a:t>
              </a:r>
              <a:r>
                <a:rPr lang="ru-RU" b="0" i="0" dirty="0">
                  <a:solidFill>
                    <a:srgbClr val="F9FAFB"/>
                  </a:solidFill>
                  <a:effectLst/>
                  <a:latin typeface="quote-cjk-patch"/>
                </a:rPr>
                <a:t> </a:t>
              </a:r>
              <a:r>
                <a:rPr lang="ru-RU" b="0" i="0" dirty="0" err="1">
                  <a:solidFill>
                    <a:srgbClr val="F9FAFB"/>
                  </a:solidFill>
                  <a:effectLst/>
                  <a:latin typeface="quote-cjk-patch"/>
                </a:rPr>
                <a:t>review</a:t>
              </a:r>
              <a:r>
                <a:rPr lang="ru-RU" b="0" i="0" dirty="0">
                  <a:solidFill>
                    <a:srgbClr val="F9FAFB"/>
                  </a:solidFill>
                  <a:effectLst/>
                  <a:latin typeface="quote-cjk-patch"/>
                </a:rPr>
                <a:t> в реальном времени</a:t>
              </a:r>
            </a:p>
          </p:txBody>
        </p:sp>
        <p:pic>
          <p:nvPicPr>
            <p:cNvPr id="16" name="Рисунок 15">
              <a:extLst>
                <a:ext uri="{FF2B5EF4-FFF2-40B4-BE49-F238E27FC236}">
                  <a16:creationId xmlns:a16="http://schemas.microsoft.com/office/drawing/2014/main" id="{55F4E86A-C4F5-1451-13A6-003F24925A2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356" t="8279" r="17617" b="5549"/>
            <a:stretch/>
          </p:blipFill>
          <p:spPr>
            <a:xfrm>
              <a:off x="3711209" y="2979420"/>
              <a:ext cx="4183112" cy="2011680"/>
            </a:xfrm>
            <a:prstGeom prst="rect">
              <a:avLst/>
            </a:prstGeom>
          </p:spPr>
        </p:pic>
      </p:grpSp>
      <p:pic>
        <p:nvPicPr>
          <p:cNvPr id="18" name="Google Shape;286;p49">
            <a:extLst>
              <a:ext uri="{FF2B5EF4-FFF2-40B4-BE49-F238E27FC236}">
                <a16:creationId xmlns:a16="http://schemas.microsoft.com/office/drawing/2014/main" id="{33E398B0-97E0-7831-1CED-824A5DD293C2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408122" y="2868091"/>
            <a:ext cx="588118" cy="58811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271836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" name="Google Shape;614;p7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" y="0"/>
            <a:ext cx="9144003" cy="5103318"/>
          </a:xfrm>
          <a:prstGeom prst="rect">
            <a:avLst/>
          </a:prstGeom>
          <a:noFill/>
          <a:ln>
            <a:noFill/>
          </a:ln>
        </p:spPr>
      </p:pic>
      <p:sp>
        <p:nvSpPr>
          <p:cNvPr id="615" name="Google Shape;615;p77"/>
          <p:cNvSpPr txBox="1"/>
          <p:nvPr/>
        </p:nvSpPr>
        <p:spPr>
          <a:xfrm>
            <a:off x="765720" y="1176485"/>
            <a:ext cx="7130700" cy="18274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4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Демонстрация работы приложения</a:t>
            </a:r>
            <a:endParaRPr sz="5000" b="1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endParaRPr sz="2500" dirty="0">
              <a:solidFill>
                <a:schemeClr val="tx1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  <p:extLst>
      <p:ext uri="{BB962C8B-B14F-4D97-AF65-F5344CB8AC3E}">
        <p14:creationId xmlns:p14="http://schemas.microsoft.com/office/powerpoint/2010/main" val="5108992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6" name="Google Shape;186;p39"/>
          <p:cNvGraphicFramePr/>
          <p:nvPr>
            <p:extLst>
              <p:ext uri="{D42A27DB-BD31-4B8C-83A1-F6EECF244321}">
                <p14:modId xmlns:p14="http://schemas.microsoft.com/office/powerpoint/2010/main" val="1899746406"/>
              </p:ext>
            </p:extLst>
          </p:nvPr>
        </p:nvGraphicFramePr>
        <p:xfrm>
          <a:off x="431799" y="2495090"/>
          <a:ext cx="8509975" cy="2576530"/>
        </p:xfrm>
        <a:graphic>
          <a:graphicData uri="http://schemas.openxmlformats.org/drawingml/2006/table">
            <a:tbl>
              <a:tblPr>
                <a:noFill/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{7EB45D60-7195-4C9D-AB46-2696C140063F}</a:tableStyleId>
              </a:tblPr>
              <a:tblGrid>
                <a:gridCol w="5753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346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700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0" i="0" u="none" strike="noStrike" cap="none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Создано полноценное веб-приложение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00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Реализованы ключевые фичи: </a:t>
                      </a:r>
                      <a:r>
                        <a:rPr lang="en-U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JWT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аналитика, интеграции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00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Использованы базовые практики: Spring Boot, JWT, REST, </a:t>
                      </a:r>
                      <a:r>
                        <a:rPr lang="ru-RU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Liquibase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i18n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308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Уделено внимание UX и визуалу</a:t>
                      </a: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902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Arial"/>
                        </a:rPr>
                        <a:t>5.</a:t>
                      </a:r>
                      <a:endParaRPr sz="1600" b="1" i="0" u="none" strike="noStrike" cap="none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Arial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Код соответствует стандартам (</a:t>
                      </a:r>
                      <a:r>
                        <a:rPr lang="ru-RU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Checkstyle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</a:t>
                      </a:r>
                      <a:r>
                        <a:rPr lang="ru-RU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Maven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)</a:t>
                      </a: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902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b="1" i="0" u="none" strike="noStrike" cap="none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Arial"/>
                        </a:rPr>
                        <a:t>6.</a:t>
                      </a:r>
                      <a:endParaRPr sz="1600" b="1" i="0" u="none" strike="noStrike" cap="none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Arial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Реализованы базовые сценарии тестирования</a:t>
                      </a: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81116"/>
                  </a:ext>
                </a:extLst>
              </a:tr>
            </a:tbl>
          </a:graphicData>
        </a:graphic>
      </p:graphicFrame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94381585-AB22-E4D5-D003-549C78C51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</a:pPr>
            <a:r>
              <a:rPr lang="ru-RU" sz="32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Выводы</a:t>
            </a:r>
          </a:p>
        </p:txBody>
      </p:sp>
      <p:sp>
        <p:nvSpPr>
          <p:cNvPr id="6" name="Google Shape;440;p62">
            <a:extLst>
              <a:ext uri="{FF2B5EF4-FFF2-40B4-BE49-F238E27FC236}">
                <a16:creationId xmlns:a16="http://schemas.microsoft.com/office/drawing/2014/main" id="{44CA1502-1DA0-7EEA-CB78-0DB4657F2446}"/>
              </a:ext>
            </a:extLst>
          </p:cNvPr>
          <p:cNvSpPr/>
          <p:nvPr/>
        </p:nvSpPr>
        <p:spPr>
          <a:xfrm>
            <a:off x="431800" y="1008388"/>
            <a:ext cx="2567185" cy="1376672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 dirty="0"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7" name="Google Shape;199;p40">
            <a:extLst>
              <a:ext uri="{FF2B5EF4-FFF2-40B4-BE49-F238E27FC236}">
                <a16:creationId xmlns:a16="http://schemas.microsoft.com/office/drawing/2014/main" id="{0CA81C84-F461-EE13-58A8-ABA564DE11C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95668539"/>
              </p:ext>
            </p:extLst>
          </p:nvPr>
        </p:nvGraphicFramePr>
        <p:xfrm>
          <a:off x="484762" y="1071606"/>
          <a:ext cx="2461260" cy="1279652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12449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6282">
                  <a:extLst>
                    <a:ext uri="{9D8B030D-6E8A-4147-A177-3AD203B41FA5}">
                      <a16:colId xmlns:a16="http://schemas.microsoft.com/office/drawing/2014/main" val="1293977955"/>
                    </a:ext>
                  </a:extLst>
                </a:gridCol>
              </a:tblGrid>
              <a:tr h="250904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Сложность  </a:t>
                      </a:r>
                      <a:endParaRPr sz="1400" b="1" dirty="0">
                        <a:solidFill>
                          <a:schemeClr val="accent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1" dirty="0">
                          <a:solidFill>
                            <a:schemeClr val="accent5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Roboto"/>
                          <a:ea typeface="Roboto"/>
                          <a:cs typeface="Roboto"/>
                          <a:sym typeface="Roboto"/>
                        </a:rPr>
                        <a:t>3 балла</a:t>
                      </a:r>
                      <a:endParaRPr sz="1400" b="1" dirty="0">
                        <a:solidFill>
                          <a:schemeClr val="accent5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0904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Полезность </a:t>
                      </a:r>
                      <a:endParaRPr sz="1400" b="1" dirty="0">
                        <a:solidFill>
                          <a:schemeClr val="accent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1" dirty="0">
                          <a:solidFill>
                            <a:schemeClr val="accent5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Roboto"/>
                          <a:ea typeface="Roboto"/>
                          <a:cs typeface="Roboto"/>
                          <a:sym typeface="Roboto"/>
                        </a:rPr>
                        <a:t>10 баллов</a:t>
                      </a:r>
                      <a:endParaRPr sz="1400" b="1" dirty="0">
                        <a:solidFill>
                          <a:schemeClr val="accent5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0904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Время</a:t>
                      </a:r>
                      <a:endParaRPr lang="ru-RU" sz="1400" b="1" dirty="0">
                        <a:solidFill>
                          <a:schemeClr val="accent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accent5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Roboto"/>
                          <a:ea typeface="Roboto"/>
                          <a:cs typeface="Roboto"/>
                          <a:sym typeface="Roboto"/>
                        </a:rPr>
                        <a:t>10</a:t>
                      </a:r>
                      <a:r>
                        <a:rPr lang="ru-RU" sz="1400" b="1" dirty="0">
                          <a:solidFill>
                            <a:schemeClr val="accent5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Roboto"/>
                          <a:ea typeface="Roboto"/>
                          <a:cs typeface="Roboto"/>
                          <a:sym typeface="Roboto"/>
                        </a:rPr>
                        <a:t> баллов </a:t>
                      </a:r>
                      <a:endParaRPr sz="1400" b="1" dirty="0">
                        <a:solidFill>
                          <a:schemeClr val="bg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0904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Коммитов</a:t>
                      </a:r>
                      <a:endParaRPr sz="1400" b="1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 dirty="0">
                          <a:solidFill>
                            <a:schemeClr val="accent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sym typeface="Roboto"/>
                        </a:rPr>
                        <a:t>~</a:t>
                      </a:r>
                      <a:r>
                        <a:rPr lang="ru-RU" b="1" dirty="0">
                          <a:solidFill>
                            <a:schemeClr val="accent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sym typeface="Roboto"/>
                        </a:rPr>
                        <a:t>80</a:t>
                      </a:r>
                      <a:endParaRPr b="1" dirty="0">
                        <a:solidFill>
                          <a:schemeClr val="accent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2115630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217D05F2-0602-7746-CBB2-65B1982CD638}"/>
              </a:ext>
            </a:extLst>
          </p:cNvPr>
          <p:cNvSpPr txBox="1"/>
          <p:nvPr/>
        </p:nvSpPr>
        <p:spPr>
          <a:xfrm>
            <a:off x="3104910" y="1157883"/>
            <a:ext cx="5859703" cy="1055608"/>
          </a:xfrm>
          <a:prstGeom prst="roundRect">
            <a:avLst/>
          </a:prstGeom>
          <a:solidFill>
            <a:schemeClr val="accent2"/>
          </a:solidFill>
        </p:spPr>
        <p:txBody>
          <a:bodyPr wrap="square" anchor="ctr">
            <a:noAutofit/>
          </a:bodyPr>
          <a:lstStyle/>
          <a:p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Bank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Analyzer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достойно показывает переход от учебного проекта к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production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-готовому решению, сочетая практическую пользу с технической реализацией. </a:t>
            </a:r>
            <a:endParaRPr lang="ru-RU" b="1" dirty="0">
              <a:solidFill>
                <a:srgbClr val="F9FAFB"/>
              </a:solidFill>
              <a:latin typeface="quote-cjk-patch"/>
            </a:endParaRPr>
          </a:p>
        </p:txBody>
      </p:sp>
      <p:pic>
        <p:nvPicPr>
          <p:cNvPr id="16" name="Google Shape;337;p50">
            <a:extLst>
              <a:ext uri="{FF2B5EF4-FFF2-40B4-BE49-F238E27FC236}">
                <a16:creationId xmlns:a16="http://schemas.microsoft.com/office/drawing/2014/main" id="{257E6093-398F-4A78-68BA-D5E751B66B3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51933" y="4389717"/>
            <a:ext cx="1812680" cy="6275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00742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43"/>
          <p:cNvSpPr txBox="1"/>
          <p:nvPr/>
        </p:nvSpPr>
        <p:spPr>
          <a:xfrm>
            <a:off x="387050" y="1844625"/>
            <a:ext cx="7584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 sz="45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3" name="Google Shape;223;p43"/>
          <p:cNvSpPr txBox="1"/>
          <p:nvPr/>
        </p:nvSpPr>
        <p:spPr>
          <a:xfrm>
            <a:off x="1214696" y="3061975"/>
            <a:ext cx="19275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есть вопросы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4" name="Google Shape;224;p43"/>
          <p:cNvSpPr txBox="1"/>
          <p:nvPr/>
        </p:nvSpPr>
        <p:spPr>
          <a:xfrm>
            <a:off x="4934996" y="3061975"/>
            <a:ext cx="2145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5" name="Google Shape;225;p43"/>
          <p:cNvSpPr txBox="1"/>
          <p:nvPr/>
        </p:nvSpPr>
        <p:spPr>
          <a:xfrm>
            <a:off x="7230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6" name="Google Shape;226;p43"/>
          <p:cNvSpPr txBox="1"/>
          <p:nvPr/>
        </p:nvSpPr>
        <p:spPr>
          <a:xfrm>
            <a:off x="44433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– 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Google Shape;234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4"/>
          <p:cNvSpPr txBox="1">
            <a:spLocks noGrp="1"/>
          </p:cNvSpPr>
          <p:nvPr>
            <p:ph type="title" idx="4294967295"/>
          </p:nvPr>
        </p:nvSpPr>
        <p:spPr>
          <a:xfrm>
            <a:off x="629000" y="1932525"/>
            <a:ext cx="7295100" cy="195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5000" dirty="0">
                <a:solidFill>
                  <a:schemeClr val="tx1"/>
                </a:solidFill>
              </a:rPr>
              <a:t>Спасибо за внимание!</a:t>
            </a:r>
            <a:endParaRPr sz="5000" dirty="0">
              <a:solidFill>
                <a:schemeClr val="tx1"/>
              </a:solidFill>
            </a:endParaRPr>
          </a:p>
        </p:txBody>
      </p:sp>
      <p:pic>
        <p:nvPicPr>
          <p:cNvPr id="236" name="Google Shape;236;p44" title="marker-graduating-cap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27300" y="231871"/>
            <a:ext cx="2270875" cy="3042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45" title="ролик_об_отусе_blue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18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Другая 2">
      <a:dk1>
        <a:srgbClr val="FFFFFF"/>
      </a:dk1>
      <a:lt1>
        <a:srgbClr val="21252B"/>
      </a:lt1>
      <a:dk2>
        <a:srgbClr val="FFFFFF"/>
      </a:dk2>
      <a:lt2>
        <a:srgbClr val="282C34"/>
      </a:lt2>
      <a:accent1>
        <a:srgbClr val="C9492C"/>
      </a:accent1>
      <a:accent2>
        <a:srgbClr val="40299B"/>
      </a:accent2>
      <a:accent3>
        <a:srgbClr val="555D6F"/>
      </a:accent3>
      <a:accent4>
        <a:srgbClr val="C00000"/>
      </a:accent4>
      <a:accent5>
        <a:srgbClr val="C9492C"/>
      </a:accent5>
      <a:accent6>
        <a:srgbClr val="D58C2E"/>
      </a:accent6>
      <a:hlink>
        <a:srgbClr val="0563C1"/>
      </a:hlink>
      <a:folHlink>
        <a:srgbClr val="954F72"/>
      </a:folHlink>
    </a:clrScheme>
    <a:fontScheme name="Roboto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720</TotalTime>
  <Words>1386</Words>
  <Application>Microsoft Office PowerPoint</Application>
  <PresentationFormat>Экран (16:9)</PresentationFormat>
  <Paragraphs>284</Paragraphs>
  <Slides>27</Slides>
  <Notes>27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27</vt:i4>
      </vt:variant>
    </vt:vector>
  </HeadingPairs>
  <TitlesOfParts>
    <vt:vector size="35" baseType="lpstr">
      <vt:lpstr>quote-cjk-patch</vt:lpstr>
      <vt:lpstr>Courier New</vt:lpstr>
      <vt:lpstr>Arial</vt:lpstr>
      <vt:lpstr>Roboto Medium</vt:lpstr>
      <vt:lpstr>Roboto</vt:lpstr>
      <vt:lpstr>Reem Kufi</vt:lpstr>
      <vt:lpstr>Светлая тема</vt:lpstr>
      <vt:lpstr>Светлая тема</vt:lpstr>
      <vt:lpstr>Презентация PowerPoint</vt:lpstr>
      <vt:lpstr>Меня хорошо видно &amp; слышно?</vt:lpstr>
      <vt:lpstr>Защита проекта Тема: Менеджер банковских операций   </vt:lpstr>
      <vt:lpstr>Цель и задачи проекта</vt:lpstr>
      <vt:lpstr>Технологический стек - Backend</vt:lpstr>
      <vt:lpstr>Данные и Миграция</vt:lpstr>
      <vt:lpstr>Frontend, API и Инструменты</vt:lpstr>
      <vt:lpstr>Архитектура</vt:lpstr>
      <vt:lpstr>Структура Базы данных</vt:lpstr>
      <vt:lpstr>Базовая сущность</vt:lpstr>
      <vt:lpstr>Сущность BankAccount</vt:lpstr>
      <vt:lpstr>DTO + Mappers</vt:lpstr>
      <vt:lpstr>JPA репозитории</vt:lpstr>
      <vt:lpstr>Liquibase + PostgreSQL + JPA</vt:lpstr>
      <vt:lpstr>Security: JWT Stateless </vt:lpstr>
      <vt:lpstr>Локализация</vt:lpstr>
      <vt:lpstr>Контроллеры</vt:lpstr>
      <vt:lpstr>Обработка ошибок</vt:lpstr>
      <vt:lpstr>Логирование исключений</vt:lpstr>
      <vt:lpstr>Тестирование</vt:lpstr>
      <vt:lpstr>Docker</vt:lpstr>
      <vt:lpstr>CI/CD: Автоматизация сборки и мониторинга</vt:lpstr>
      <vt:lpstr>Презентация PowerPoint</vt:lpstr>
      <vt:lpstr>Выводы</vt:lpstr>
      <vt:lpstr>Презентация PowerPoint</vt:lpstr>
      <vt:lpstr>Спасибо за внимание!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semva</dc:creator>
  <cp:lastModifiedBy>semvasek@gmail.com</cp:lastModifiedBy>
  <cp:revision>24</cp:revision>
  <dcterms:modified xsi:type="dcterms:W3CDTF">2025-11-14T22:05:07Z</dcterms:modified>
</cp:coreProperties>
</file>