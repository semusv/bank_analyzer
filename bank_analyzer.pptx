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31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7" r:id="rId15"/>
    <p:sldId id="310" r:id="rId16"/>
    <p:sldId id="308" r:id="rId17"/>
    <p:sldId id="309" r:id="rId18"/>
    <p:sldId id="315" r:id="rId19"/>
    <p:sldId id="312" r:id="rId20"/>
    <p:sldId id="314" r:id="rId21"/>
    <p:sldId id="313" r:id="rId22"/>
    <p:sldId id="316" r:id="rId23"/>
    <p:sldId id="317" r:id="rId24"/>
    <p:sldId id="318" r:id="rId25"/>
    <p:sldId id="319" r:id="rId26"/>
    <p:sldId id="320" r:id="rId27"/>
    <p:sldId id="264" r:id="rId28"/>
    <p:sldId id="265" r:id="rId29"/>
    <p:sldId id="266" r:id="rId30"/>
  </p:sldIdLst>
  <p:sldSz cx="9144000" cy="5143500" type="screen16x9"/>
  <p:notesSz cx="6858000" cy="9144000"/>
  <p:embeddedFontLst>
    <p:embeddedFont>
      <p:font typeface="Reem Kufi" pitchFamily="2" charset="-78"/>
      <p:regular r:id="rId32"/>
      <p:bold r:id="rId33"/>
    </p:embeddedFon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Medium" panose="02000000000000000000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  <p15:guide id="4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C34"/>
    <a:srgbClr val="21252B"/>
    <a:srgbClr val="402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90" autoAdjust="0"/>
  </p:normalViewPr>
  <p:slideViewPr>
    <p:cSldViewPr snapToGrid="0">
      <p:cViewPr>
        <p:scale>
          <a:sx n="150" d="100"/>
          <a:sy n="150" d="100"/>
        </p:scale>
        <p:origin x="396" y="72"/>
      </p:cViewPr>
      <p:guideLst>
        <p:guide orient="horz" pos="3240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8.fntdata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Преимущества подхода с </a:t>
            </a:r>
            <a:r>
              <a:rPr lang="ru-RU" b="1" dirty="0" err="1">
                <a:solidFill>
                  <a:srgbClr val="F9FAFB"/>
                </a:solidFill>
                <a:effectLst/>
                <a:latin typeface="quote-cjk-patch"/>
              </a:rPr>
              <a:t>columnDefinition</a:t>
            </a:r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Единый источник истины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время из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нужно ручного управления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меньше Java-кода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Согласованность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все обновления через БД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🚀 Ключевые техники: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Update операции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Прямое выполнение в БД, минуя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context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Высокая производительность для массовых изменений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N+1 проблем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Контролируемая жадная загрузка связей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Оптимальные JOIN запросы вместо множественных SELECT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DTO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Projections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в JPQL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Выборка только нужных данных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currency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code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SUM)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Меньший объем передаваемых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Группировка и агрегация на стороне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None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Что подчеркиваем: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операции, DTO проекции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Решение классических проблем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N+1 запросов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Типобезопасность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всё компилируется, нет SQL в строках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 простых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derived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queries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до сложных JPQL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0282831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Liquibase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— это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вашей базы данных. Мы управляем миграциями схемы так же строго, как и исходным кодом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Результат: полный контроль над эволюцией данных, предсказуемость развертываний и гарантия идентичности схем на всех окружениях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Профессиональный подход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ручные SQL скрипты, а система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JPA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validate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защищает от рассинхронизации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контексты для разных сред, откаты изменений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Готовность к CI/CD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автоматическое применение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пайплайнах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2048563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7223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2958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453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5477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283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04737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7435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75800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1251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3820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52153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e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1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37;p50">
            <a:extLst>
              <a:ext uri="{FF2B5EF4-FFF2-40B4-BE49-F238E27FC236}">
                <a16:creationId xmlns:a16="http://schemas.microsoft.com/office/drawing/2014/main" id="{4B3F32CC-EDC3-51FA-3100-7820DD0505F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630000" y="240957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DB74259-C200-A3B6-72F3-DCF7AF4A0F92}"/>
              </a:ext>
            </a:extLst>
          </p:cNvPr>
          <p:cNvGrpSpPr/>
          <p:nvPr/>
        </p:nvGrpSpPr>
        <p:grpSpPr>
          <a:xfrm>
            <a:off x="3599325" y="2772297"/>
            <a:ext cx="4237262" cy="1593257"/>
            <a:chOff x="3591705" y="2409576"/>
            <a:chExt cx="4237262" cy="1593257"/>
          </a:xfrm>
        </p:grpSpPr>
        <p:sp>
          <p:nvSpPr>
            <p:cNvPr id="6" name="Google Shape;440;p62">
              <a:extLst>
                <a:ext uri="{FF2B5EF4-FFF2-40B4-BE49-F238E27FC236}">
                  <a16:creationId xmlns:a16="http://schemas.microsoft.com/office/drawing/2014/main" id="{CA0F73D8-155E-574B-194D-AE9C0F7B2FEF}"/>
                </a:ext>
              </a:extLst>
            </p:cNvPr>
            <p:cNvSpPr/>
            <p:nvPr/>
          </p:nvSpPr>
          <p:spPr>
            <a:xfrm>
              <a:off x="3591705" y="2409576"/>
              <a:ext cx="4237262" cy="1593257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" name="Google Shape;165;p37"/>
            <p:cNvSpPr txBox="1"/>
            <p:nvPr/>
          </p:nvSpPr>
          <p:spPr>
            <a:xfrm>
              <a:off x="3899475" y="2799601"/>
              <a:ext cx="3701700" cy="37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300" b="1" dirty="0">
                  <a:solidFill>
                    <a:srgbClr val="3F299A"/>
                  </a:solidFill>
                  <a:latin typeface="Roboto"/>
                  <a:ea typeface="Roboto"/>
                  <a:cs typeface="Roboto"/>
                  <a:sym typeface="Roboto"/>
                </a:rPr>
                <a:t>Семенов Василий</a:t>
              </a:r>
              <a:endParaRPr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" name="Google Shape;166;p37"/>
            <p:cNvSpPr txBox="1"/>
            <p:nvPr/>
          </p:nvSpPr>
          <p:spPr>
            <a:xfrm>
              <a:off x="3899475" y="3175501"/>
              <a:ext cx="3193200" cy="424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Разработчик </a:t>
              </a:r>
              <a:r>
                <a:rPr lang="en-US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ERP</a:t>
              </a:r>
              <a:r>
                <a:rPr lang="ru-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 систем.</a:t>
              </a:r>
              <a:endParaRPr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495181" y="148816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7" name="Google Shape;337;p50">
            <a:extLst>
              <a:ext uri="{FF2B5EF4-FFF2-40B4-BE49-F238E27FC236}">
                <a16:creationId xmlns:a16="http://schemas.microsoft.com/office/drawing/2014/main" id="{0B59052E-B87A-8EC7-E7D1-352E0DC6F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748453551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911DB8C9-D6E3-2927-FE00-D258E5F6FA0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1275" y="149886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AE45E86-CA95-D987-0598-7724415BFB96}"/>
              </a:ext>
            </a:extLst>
          </p:cNvPr>
          <p:cNvGrpSpPr/>
          <p:nvPr/>
        </p:nvGrpSpPr>
        <p:grpSpPr>
          <a:xfrm>
            <a:off x="431800" y="1523668"/>
            <a:ext cx="3414600" cy="2668276"/>
            <a:chOff x="724750" y="1194674"/>
            <a:chExt cx="3414600" cy="2668276"/>
          </a:xfrm>
        </p:grpSpPr>
        <p:sp>
          <p:nvSpPr>
            <p:cNvPr id="5" name="Google Shape;440;p62">
              <a:extLst>
                <a:ext uri="{FF2B5EF4-FFF2-40B4-BE49-F238E27FC236}">
                  <a16:creationId xmlns:a16="http://schemas.microsoft.com/office/drawing/2014/main" id="{EACF5D33-E562-29FD-5C12-0270EBFD1914}"/>
                </a:ext>
              </a:extLst>
            </p:cNvPr>
            <p:cNvSpPr/>
            <p:nvPr/>
          </p:nvSpPr>
          <p:spPr>
            <a:xfrm>
              <a:off x="724750" y="1194674"/>
              <a:ext cx="3414600" cy="2668276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graphicFrame>
          <p:nvGraphicFramePr>
            <p:cNvPr id="199" name="Google Shape;199;p40"/>
            <p:cNvGraphicFramePr/>
            <p:nvPr>
              <p:extLst>
                <p:ext uri="{D42A27DB-BD31-4B8C-83A1-F6EECF244321}">
                  <p14:modId xmlns:p14="http://schemas.microsoft.com/office/powerpoint/2010/main" val="1398568972"/>
                </p:ext>
              </p:extLst>
            </p:nvPr>
          </p:nvGraphicFramePr>
          <p:xfrm>
            <a:off x="830675" y="1893000"/>
            <a:ext cx="3308675" cy="1524000"/>
          </p:xfrm>
          <a:graphic>
            <a:graphicData uri="http://schemas.openxmlformats.org/drawingml/2006/table">
              <a:tbl>
                <a:tblPr>
                  <a:noFill/>
                  <a:tableStyleId>{7EB45D60-7195-4C9D-AB46-2696C140063F}</a:tableStyleId>
                </a:tblPr>
                <a:tblGrid>
                  <a:gridCol w="27314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03553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1.</a:t>
                        </a: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Boot 3.4.7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2.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Web, Security, Data JPA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3.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Integration, Validation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4.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JWT, </a:t>
                        </a:r>
                        <a:r>
                          <a:rPr lang="en-US" sz="1600" dirty="0" err="1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MapStruct</a:t>
                        </a: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, Lombok 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" name="Google Shape;443;p62">
              <a:extLst>
                <a:ext uri="{FF2B5EF4-FFF2-40B4-BE49-F238E27FC236}">
                  <a16:creationId xmlns:a16="http://schemas.microsoft.com/office/drawing/2014/main" id="{1DA963FB-3F79-627B-F1EF-32E856C37830}"/>
                </a:ext>
              </a:extLst>
            </p:cNvPr>
            <p:cNvSpPr txBox="1"/>
            <p:nvPr/>
          </p:nvSpPr>
          <p:spPr>
            <a:xfrm>
              <a:off x="830675" y="1309799"/>
              <a:ext cx="1482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Backend</a:t>
              </a:r>
              <a:r>
                <a:rPr lang="en-US" sz="1700" b="1" dirty="0">
                  <a:solidFill>
                    <a:srgbClr val="9857F3"/>
                  </a:solidFill>
                  <a:latin typeface="Roboto"/>
                  <a:ea typeface="Roboto"/>
                  <a:cs typeface="Roboto"/>
                  <a:sym typeface="Roboto"/>
                </a:rPr>
                <a:t>:</a:t>
              </a:r>
              <a:endParaRPr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01512" y="2717223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01513" y="1316958"/>
            <a:ext cx="4640262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/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630" y="2800292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8B122ABB-BE6D-13B1-8C85-504EFEA2F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4207" y="1481986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2912504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431800" y="1534455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632226789"/>
              </p:ext>
            </p:extLst>
          </p:nvPr>
        </p:nvGraphicFramePr>
        <p:xfrm>
          <a:off x="537725" y="2232781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537725" y="164958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62025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119261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3757073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2912504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456203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  <p:pic>
        <p:nvPicPr>
          <p:cNvPr id="4" name="Google Shape;286;p49">
            <a:extLst>
              <a:ext uri="{FF2B5EF4-FFF2-40B4-BE49-F238E27FC236}">
                <a16:creationId xmlns:a16="http://schemas.microsoft.com/office/drawing/2014/main" id="{07DFFE9F-BF30-93A5-6DAE-BF8DD4FE9A9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64207" y="14413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431800" y="1019316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127838"/>
              </p:ext>
            </p:extLst>
          </p:nvPr>
        </p:nvGraphicFramePr>
        <p:xfrm>
          <a:off x="537725" y="144976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latin typeface="+mj-lt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 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+mj-lt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latin typeface="+mj-lt"/>
                          <a:sym typeface="Roboto"/>
                        </a:rPr>
                        <a:t>, 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Bootstrap 5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537725" y="1019316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+mj-lt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chemeClr val="accent2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5013365"/>
              </p:ext>
            </p:extLst>
          </p:nvPr>
        </p:nvGraphicFramePr>
        <p:xfrm>
          <a:off x="537725" y="2622618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537725" y="2192167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8840304"/>
              </p:ext>
            </p:extLst>
          </p:nvPr>
        </p:nvGraphicFramePr>
        <p:xfrm>
          <a:off x="537725" y="3783392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537725" y="3352941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FD13014-91A3-03F5-A7FB-93FF2C52A88E}"/>
              </a:ext>
            </a:extLst>
          </p:cNvPr>
          <p:cNvGrpSpPr/>
          <p:nvPr/>
        </p:nvGrpSpPr>
        <p:grpSpPr>
          <a:xfrm>
            <a:off x="4324349" y="1215532"/>
            <a:ext cx="4617426" cy="3597768"/>
            <a:chOff x="4324349" y="1215532"/>
            <a:chExt cx="4617426" cy="3597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B7B9BC1C-65CD-1EDC-3A6B-C830CC17FF8A}"/>
                </a:ext>
              </a:extLst>
            </p:cNvPr>
            <p:cNvSpPr/>
            <p:nvPr/>
          </p:nvSpPr>
          <p:spPr>
            <a:xfrm>
              <a:off x="4324351" y="3209366"/>
              <a:ext cx="4617424" cy="16039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Google Shape;417;p60">
              <a:extLst>
                <a:ext uri="{FF2B5EF4-FFF2-40B4-BE49-F238E27FC236}">
                  <a16:creationId xmlns:a16="http://schemas.microsoft.com/office/drawing/2014/main" id="{9ED7E8F9-2750-DC29-191F-BB8AC46A6CC2}"/>
                </a:ext>
              </a:extLst>
            </p:cNvPr>
            <p:cNvSpPr txBox="1">
              <a:spLocks/>
            </p:cNvSpPr>
            <p:nvPr/>
          </p:nvSpPr>
          <p:spPr>
            <a:xfrm>
              <a:off x="4324349" y="1215532"/>
              <a:ext cx="4617425" cy="2025139"/>
            </a:xfrm>
            <a:prstGeom prst="rect">
              <a:avLst/>
            </a:prstGeom>
            <a:solidFill>
              <a:srgbClr val="282C34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100"/>
                <a:buFont typeface="Roboto"/>
                <a:buNone/>
                <a:defRPr sz="31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Frontend</a:t>
              </a:r>
              <a:r>
                <a:rPr lang="ru-RU" sz="1300" b="0" dirty="0">
                  <a:cs typeface="Reem Kufi" pitchFamily="2" charset="-78"/>
                </a:rPr>
                <a:t> как "тонкий клиент" на </a:t>
              </a:r>
              <a:r>
                <a:rPr lang="ru-RU" sz="1300" b="0" dirty="0" err="1">
                  <a:cs typeface="Reem Kufi" pitchFamily="2" charset="-78"/>
                </a:rPr>
                <a:t>Thymeleaf</a:t>
              </a:r>
              <a:r>
                <a:rPr lang="ru-RU" sz="1300" b="0" dirty="0">
                  <a:cs typeface="Reem Kufi" pitchFamily="2" charset="-78"/>
                </a:rPr>
                <a:t>: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Быстрая разработка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Единая кодовая база</a:t>
              </a:r>
            </a:p>
            <a:p>
              <a:pPr>
                <a:lnSpc>
                  <a:spcPct val="115000"/>
                </a:lnSpc>
              </a:pPr>
              <a:endParaRPr lang="en-US" sz="1300" b="0" dirty="0">
                <a:latin typeface="Reem Kufi" pitchFamily="2" charset="-78"/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API + </a:t>
              </a:r>
              <a:r>
                <a:rPr lang="ru-RU" sz="1300" b="0" dirty="0" err="1">
                  <a:cs typeface="Reem Kufi" pitchFamily="2" charset="-78"/>
                </a:rPr>
                <a:t>Swagger</a:t>
              </a:r>
              <a:r>
                <a:rPr lang="ru-RU" sz="1300" b="0" dirty="0">
                  <a:cs typeface="Reem Kufi" pitchFamily="2" charset="-78"/>
                </a:rPr>
                <a:t> для готовности к интеграциям</a:t>
              </a:r>
            </a:p>
            <a:p>
              <a:pPr>
                <a:lnSpc>
                  <a:spcPct val="115000"/>
                </a:lnSpc>
              </a:pPr>
              <a:endParaRPr lang="ru-RU" sz="1300" b="0" dirty="0"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Maven</a:t>
              </a:r>
              <a:r>
                <a:rPr lang="ru-RU" sz="1300" b="0" dirty="0">
                  <a:cs typeface="Reem Kufi" pitchFamily="2" charset="-78"/>
                </a:rPr>
                <a:t> + </a:t>
              </a:r>
              <a:r>
                <a:rPr lang="ru-RU" sz="1300" b="0" dirty="0" err="1">
                  <a:cs typeface="Reem Kufi" pitchFamily="2" charset="-78"/>
                </a:rPr>
                <a:t>Checkstyle</a:t>
              </a:r>
              <a:r>
                <a:rPr lang="ru-RU" sz="1300" b="0" dirty="0">
                  <a:cs typeface="Reem Kufi" pitchFamily="2" charset="-78"/>
                </a:rPr>
                <a:t> элементы развертывания и поддержки качество кода</a:t>
              </a:r>
            </a:p>
          </p:txBody>
        </p:sp>
        <p:pic>
          <p:nvPicPr>
            <p:cNvPr id="3076" name="Picture 4" descr="Движок шаблонов Thymeleaf - Уголок сельского джависта">
              <a:extLst>
                <a:ext uri="{FF2B5EF4-FFF2-40B4-BE49-F238E27FC236}">
                  <a16:creationId xmlns:a16="http://schemas.microsoft.com/office/drawing/2014/main" id="{A38825FB-400A-5447-2154-4D57B76C29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6094" y="4088494"/>
              <a:ext cx="533400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Рекомендации по бренду · Bootstrap v5.0">
              <a:extLst>
                <a:ext uri="{FF2B5EF4-FFF2-40B4-BE49-F238E27FC236}">
                  <a16:creationId xmlns:a16="http://schemas.microsoft.com/office/drawing/2014/main" id="{7A31F3FA-3AED-DFEB-43FE-71EA042217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9827" y="3375326"/>
              <a:ext cx="830295" cy="6589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0" name="Picture 8" descr="GitHub - swagger-api/swagger-editor: Swagger Editor">
              <a:extLst>
                <a:ext uri="{FF2B5EF4-FFF2-40B4-BE49-F238E27FC236}">
                  <a16:creationId xmlns:a16="http://schemas.microsoft.com/office/drawing/2014/main" id="{519CBDDE-56C5-E165-B24D-2D26AF571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16787" y="3247611"/>
              <a:ext cx="535781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2" name="Picture 10">
              <a:extLst>
                <a:ext uri="{FF2B5EF4-FFF2-40B4-BE49-F238E27FC236}">
                  <a16:creationId xmlns:a16="http://schemas.microsoft.com/office/drawing/2014/main" id="{F0C9765F-9F35-9C3F-B278-CE91B4A74D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7671" y="3271977"/>
              <a:ext cx="1452563" cy="367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4" name="Picture 12" descr="Git · GitHub">
              <a:extLst>
                <a:ext uri="{FF2B5EF4-FFF2-40B4-BE49-F238E27FC236}">
                  <a16:creationId xmlns:a16="http://schemas.microsoft.com/office/drawing/2014/main" id="{DA51830A-3B5D-68D8-9C7C-1920D3387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4481" y="3897265"/>
              <a:ext cx="859472" cy="859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6" name="Picture 14" descr="Быстрый способ уменьшения размера виртуального диска Docker на Windows /  Хабр">
              <a:extLst>
                <a:ext uri="{FF2B5EF4-FFF2-40B4-BE49-F238E27FC236}">
                  <a16:creationId xmlns:a16="http://schemas.microsoft.com/office/drawing/2014/main" id="{7B863077-1800-DA33-BA62-18BBD499A0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59639" y="3754897"/>
              <a:ext cx="968116" cy="828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0B9B007D-AF13-9B19-9FAC-AD3E281EDBB7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258283" y="9502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как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09102" y="983602"/>
            <a:ext cx="5725795" cy="40927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3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3168144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3168144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3168144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0EF446-0548-7D3D-9195-789072DAF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" y="1120723"/>
            <a:ext cx="2421252" cy="2406753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113CFAB2-97D3-F124-BC3D-6F78264A176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0085" y="182938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FBD8592F-1057-E043-01F0-647DD1FAF1D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0978" y="2718493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80;p49">
            <a:extLst>
              <a:ext uri="{FF2B5EF4-FFF2-40B4-BE49-F238E27FC236}">
                <a16:creationId xmlns:a16="http://schemas.microsoft.com/office/drawing/2014/main" id="{2E1F3C9C-F845-F65A-4726-4C66296DC60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05968" y="3798101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75" y="1019812"/>
            <a:ext cx="4894767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421175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421175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739187" y="4331132"/>
            <a:ext cx="4576756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54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68945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595C2C15-9152-6698-A347-CE8E1989B48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8558" y="146076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80;p49">
            <a:extLst>
              <a:ext uri="{FF2B5EF4-FFF2-40B4-BE49-F238E27FC236}">
                <a16:creationId xmlns:a16="http://schemas.microsoft.com/office/drawing/2014/main" id="{A1B40F12-A212-6F62-12BF-5F19ECCD591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79772" y="261169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80;p49">
            <a:extLst>
              <a:ext uri="{FF2B5EF4-FFF2-40B4-BE49-F238E27FC236}">
                <a16:creationId xmlns:a16="http://schemas.microsoft.com/office/drawing/2014/main" id="{FD7660EE-9F92-7C25-7DEB-29FAA3C44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52475" y="442001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80;p49">
            <a:extLst>
              <a:ext uri="{FF2B5EF4-FFF2-40B4-BE49-F238E27FC236}">
                <a16:creationId xmlns:a16="http://schemas.microsoft.com/office/drawing/2014/main" id="{947CCB8E-34B8-7E97-5D83-D7D5612AB77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74717" y="3894158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DTO + Mappers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90735C-FB6A-BB66-2D99-8E0063479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212"/>
          <a:stretch/>
        </p:blipFill>
        <p:spPr>
          <a:xfrm>
            <a:off x="1682103" y="3477355"/>
            <a:ext cx="6220925" cy="1666145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857215" y="4369005"/>
            <a:ext cx="3815797" cy="58277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5D143E-0C34-1850-965C-0F7A9B0BE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20049"/>
          <a:stretch/>
        </p:blipFill>
        <p:spPr>
          <a:xfrm>
            <a:off x="1682103" y="1081393"/>
            <a:ext cx="6220925" cy="2349264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857215" y="1301193"/>
            <a:ext cx="3881111" cy="84300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81BBAD50-0D4A-DBFD-F9D7-4F804DDF290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38326" y="150420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1EF8FA16-7C89-5C5A-08D7-A17B2C09C7D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1172" y="444190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561375-89E5-5AA9-F64F-FE1A12EB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56" y="1093345"/>
            <a:ext cx="7323488" cy="35904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</a:t>
            </a:r>
            <a:r>
              <a:rPr lang="ru-RU" dirty="0"/>
              <a:t> репозитории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176081" y="2432909"/>
            <a:ext cx="5047437" cy="636862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176081" y="1272543"/>
            <a:ext cx="4758188" cy="99479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482FBB-4482-2AD9-F6D9-82DD4BE4A611}"/>
              </a:ext>
            </a:extLst>
          </p:cNvPr>
          <p:cNvSpPr/>
          <p:nvPr/>
        </p:nvSpPr>
        <p:spPr>
          <a:xfrm>
            <a:off x="1176080" y="3234094"/>
            <a:ext cx="6642973" cy="137522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2FFF99D2-7D55-CA73-07B2-56448816E6B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4269" y="152597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80;p49">
            <a:extLst>
              <a:ext uri="{FF2B5EF4-FFF2-40B4-BE49-F238E27FC236}">
                <a16:creationId xmlns:a16="http://schemas.microsoft.com/office/drawing/2014/main" id="{39F4E155-DE93-E1AF-31F5-122D75CECC1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1244" y="2505947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C587B657-7EB0-7FD2-9E4E-58E7069D800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9053" y="3703220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6610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Liquibase + PostgreSQL + JPA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D88847-AEB8-26CB-15B8-71EA697B3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1051664"/>
            <a:ext cx="3429479" cy="40391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47E42C-2811-7DE2-A35E-C7A4D52D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126" y="1051664"/>
            <a:ext cx="2103312" cy="4039164"/>
          </a:xfrm>
          <a:prstGeom prst="rect">
            <a:avLst/>
          </a:prstGeom>
        </p:spPr>
      </p:pic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32E9778A-E15B-93A7-E5BA-87A557449819}"/>
              </a:ext>
            </a:extLst>
          </p:cNvPr>
          <p:cNvSpPr/>
          <p:nvPr/>
        </p:nvSpPr>
        <p:spPr>
          <a:xfrm>
            <a:off x="4608513" y="1478780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авая фигурная скобка 12">
            <a:extLst>
              <a:ext uri="{FF2B5EF4-FFF2-40B4-BE49-F238E27FC236}">
                <a16:creationId xmlns:a16="http://schemas.microsoft.com/office/drawing/2014/main" id="{529FC313-118B-08BC-46A2-7E57142F71F4}"/>
              </a:ext>
            </a:extLst>
          </p:cNvPr>
          <p:cNvSpPr/>
          <p:nvPr/>
        </p:nvSpPr>
        <p:spPr>
          <a:xfrm>
            <a:off x="5990122" y="2043407"/>
            <a:ext cx="234075" cy="190343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763BE1D-8427-95E9-3A9B-75F5C27D2E01}"/>
              </a:ext>
            </a:extLst>
          </p:cNvPr>
          <p:cNvCxnSpPr/>
          <p:nvPr/>
        </p:nvCxnSpPr>
        <p:spPr>
          <a:xfrm flipH="1">
            <a:off x="3144416" y="2043406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4E5E4257-C022-3A9A-4F62-EF1E4434BFE3}"/>
              </a:ext>
            </a:extLst>
          </p:cNvPr>
          <p:cNvCxnSpPr/>
          <p:nvPr/>
        </p:nvCxnSpPr>
        <p:spPr>
          <a:xfrm flipH="1">
            <a:off x="3144416" y="3946843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E1FEEDD-BA6D-188E-C36A-3066B10ED946}"/>
              </a:ext>
            </a:extLst>
          </p:cNvPr>
          <p:cNvCxnSpPr/>
          <p:nvPr/>
        </p:nvCxnSpPr>
        <p:spPr>
          <a:xfrm flipH="1">
            <a:off x="3144416" y="487991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D28F054-8EA0-EB14-456F-F5A03E7B9FE2}"/>
              </a:ext>
            </a:extLst>
          </p:cNvPr>
          <p:cNvCxnSpPr/>
          <p:nvPr/>
        </p:nvCxnSpPr>
        <p:spPr>
          <a:xfrm flipH="1">
            <a:off x="3144416" y="411480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7">
            <a:extLst>
              <a:ext uri="{FF2B5EF4-FFF2-40B4-BE49-F238E27FC236}">
                <a16:creationId xmlns:a16="http://schemas.microsoft.com/office/drawing/2014/main" id="{2350C43B-C618-4343-8318-8B59E478E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8106" y="1512551"/>
            <a:ext cx="174194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данных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7EC5930D-E020-1939-6BED-5DB60620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39" y="2723916"/>
            <a:ext cx="190755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структуры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8E83C6F-1214-0B76-DB85-BD790E23C63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53076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9383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Security: JWT Stateless 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B582420-A127-698A-2FBF-958CB0FAD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096993"/>
            <a:ext cx="4633659" cy="386689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60F8B4C-9C8F-04F2-F788-42B9204D0E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641"/>
          <a:stretch/>
        </p:blipFill>
        <p:spPr>
          <a:xfrm>
            <a:off x="5139086" y="1096993"/>
            <a:ext cx="3802689" cy="8573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A8E9EF4-82D8-1C4A-F6D3-49376F6880E4}"/>
              </a:ext>
            </a:extLst>
          </p:cNvPr>
          <p:cNvSpPr txBox="1"/>
          <p:nvPr/>
        </p:nvSpPr>
        <p:spPr>
          <a:xfrm>
            <a:off x="5139086" y="2152772"/>
            <a:ext cx="3802689" cy="203132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JwtRequestFilter</a:t>
            </a:r>
            <a:r>
              <a:rPr lang="en-US" dirty="0">
                <a:solidFill>
                  <a:schemeClr val="tx1"/>
                </a:solidFill>
              </a:rPr>
              <a:t> –</a:t>
            </a:r>
            <a:r>
              <a:rPr lang="ru-RU" dirty="0">
                <a:solidFill>
                  <a:schemeClr val="tx1"/>
                </a:solidFill>
              </a:rPr>
              <a:t> отвечает за обработку запросов и проверку наличия токена.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accent1"/>
                </a:solidFill>
              </a:rPr>
              <a:t>JwtTokenUtil</a:t>
            </a:r>
            <a:r>
              <a:rPr lang="ru-RU" dirty="0">
                <a:solidFill>
                  <a:schemeClr val="tx1"/>
                </a:solidFill>
              </a:rPr>
              <a:t> – отвечает за генерацию, валидацию и обработку токена.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PasswordService</a:t>
            </a:r>
            <a:r>
              <a:rPr lang="ru-RU" dirty="0">
                <a:solidFill>
                  <a:schemeClr val="tx1"/>
                </a:solidFill>
              </a:rPr>
              <a:t> – шифрует пароль на основании метода шифрования из конфигурации </a:t>
            </a:r>
            <a:r>
              <a:rPr lang="en-US" dirty="0" err="1">
                <a:solidFill>
                  <a:schemeClr val="accent1"/>
                </a:solidFill>
              </a:rPr>
              <a:t>PasswordEncoderConfig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1BD5ED5A-A297-C7A6-274B-5C829AD32E8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475" y="802935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5322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Локализация</a:t>
            </a:r>
          </a:p>
        </p:txBody>
      </p:sp>
      <p:graphicFrame>
        <p:nvGraphicFramePr>
          <p:cNvPr id="33" name="Таблица 32">
            <a:extLst>
              <a:ext uri="{FF2B5EF4-FFF2-40B4-BE49-F238E27FC236}">
                <a16:creationId xmlns:a16="http://schemas.microsoft.com/office/drawing/2014/main" id="{410AC561-3F38-BE10-24D1-436EC591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643599"/>
              </p:ext>
            </p:extLst>
          </p:nvPr>
        </p:nvGraphicFramePr>
        <p:xfrm>
          <a:off x="1059672" y="2693634"/>
          <a:ext cx="7024654" cy="2242136"/>
        </p:xfrm>
        <a:graphic>
          <a:graphicData uri="http://schemas.openxmlformats.org/drawingml/2006/table">
            <a:tbl>
              <a:tblPr/>
              <a:tblGrid>
                <a:gridCol w="1223507">
                  <a:extLst>
                    <a:ext uri="{9D8B030D-6E8A-4147-A177-3AD203B41FA5}">
                      <a16:colId xmlns:a16="http://schemas.microsoft.com/office/drawing/2014/main" val="1323765524"/>
                    </a:ext>
                  </a:extLst>
                </a:gridCol>
                <a:gridCol w="3739875">
                  <a:extLst>
                    <a:ext uri="{9D8B030D-6E8A-4147-A177-3AD203B41FA5}">
                      <a16:colId xmlns:a16="http://schemas.microsoft.com/office/drawing/2014/main" val="3179856514"/>
                    </a:ext>
                  </a:extLst>
                </a:gridCol>
                <a:gridCol w="2061272">
                  <a:extLst>
                    <a:ext uri="{9D8B030D-6E8A-4147-A177-3AD203B41FA5}">
                      <a16:colId xmlns:a16="http://schemas.microsoft.com/office/drawing/2014/main" val="4106381239"/>
                    </a:ext>
                  </a:extLst>
                </a:gridCol>
              </a:tblGrid>
              <a:tr h="395336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Категория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Примеры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Назначение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613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+mj-lt"/>
                        </a:rPr>
                        <a:t>Validation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validation.BankAccount.accountName.notBlank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Валидация форм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208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Business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business.transaction.currency.mismatch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Бизнес-логика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0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Exceptions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exception.entity.not.found.bank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Обработка ошибок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Security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security.UserService.notAuthenticated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Безопасность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334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Registration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registration.login.already.exist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Регистрация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71751"/>
                  </a:ext>
                </a:extLst>
              </a:tr>
            </a:tbl>
          </a:graphicData>
        </a:graphic>
      </p:graphicFrame>
      <p:sp>
        <p:nvSpPr>
          <p:cNvPr id="35" name="Google Shape;440;p62">
            <a:extLst>
              <a:ext uri="{FF2B5EF4-FFF2-40B4-BE49-F238E27FC236}">
                <a16:creationId xmlns:a16="http://schemas.microsoft.com/office/drawing/2014/main" id="{8D2FEF52-879E-690D-2B19-7173B1521BF6}"/>
              </a:ext>
            </a:extLst>
          </p:cNvPr>
          <p:cNvSpPr/>
          <p:nvPr/>
        </p:nvSpPr>
        <p:spPr>
          <a:xfrm>
            <a:off x="863730" y="1042896"/>
            <a:ext cx="7416539" cy="1406971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" name="Google Shape;441;p62">
            <a:extLst>
              <a:ext uri="{FF2B5EF4-FFF2-40B4-BE49-F238E27FC236}">
                <a16:creationId xmlns:a16="http://schemas.microsoft.com/office/drawing/2014/main" id="{1926EBA9-99FA-E6F7-222B-F9E031B7C7C4}"/>
              </a:ext>
            </a:extLst>
          </p:cNvPr>
          <p:cNvSpPr txBox="1"/>
          <p:nvPr/>
        </p:nvSpPr>
        <p:spPr>
          <a:xfrm>
            <a:off x="1112635" y="1229331"/>
            <a:ext cx="6918729" cy="1175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n-lt"/>
                <a:ea typeface="Roboto"/>
                <a:cs typeface="Roboto"/>
                <a:sym typeface="Roboto"/>
              </a:rPr>
              <a:t>Реализована е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диная система сообщений для валидации, ошибок и бизнес-логики.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От валидации форм до бизнес-ошибок — все сообщения централизованы, </a:t>
            </a:r>
            <a:r>
              <a:rPr lang="ru-RU" i="0" dirty="0" err="1">
                <a:solidFill>
                  <a:schemeClr val="bg1"/>
                </a:solidFill>
                <a:effectLst/>
                <a:latin typeface="+mn-lt"/>
              </a:rPr>
              <a:t>категоризированы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 и готовы к локализации на любые языки</a:t>
            </a:r>
            <a:endParaRPr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6960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Контроллеры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9F3E18-F471-72FB-47AB-917D26E2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56" r="8082"/>
          <a:stretch/>
        </p:blipFill>
        <p:spPr>
          <a:xfrm>
            <a:off x="421175" y="1065548"/>
            <a:ext cx="4579620" cy="39026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B4ADB2-C0C9-BF6D-AFFA-F01AA316402D}"/>
              </a:ext>
            </a:extLst>
          </p:cNvPr>
          <p:cNvSpPr txBox="1"/>
          <p:nvPr/>
        </p:nvSpPr>
        <p:spPr>
          <a:xfrm>
            <a:off x="5067299" y="1065548"/>
            <a:ext cx="3821135" cy="2031325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Разделение ответственности: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Web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Пользовательский интерфейс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API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Программный интерфейс</a:t>
            </a:r>
          </a:p>
          <a:p>
            <a:pPr algn="l"/>
            <a:endParaRPr lang="en-US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Единая аутентификация: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Одинаковый механизм для Web и API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JWT токены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куках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Стандартные Spring Security аннотации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AC9B73E-5E8C-BEAB-2AD6-2885EE6B4E7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9181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0333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Обработка ошибок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A5E68DA-4CEA-D670-3AA0-F0DC232E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01" y="1056379"/>
            <a:ext cx="5710597" cy="3984484"/>
          </a:xfrm>
          <a:prstGeom prst="rect">
            <a:avLst/>
          </a:prstGeom>
        </p:spPr>
      </p:pic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FA710E23-DAC9-AA58-006A-6558B4B00F8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7582" y="92777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106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Логирование исключений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BEC5E5-65D9-3CDE-7193-6026611EB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662"/>
          <a:stretch/>
        </p:blipFill>
        <p:spPr>
          <a:xfrm>
            <a:off x="1307717" y="994143"/>
            <a:ext cx="7139597" cy="26405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F7CA71-A2AF-B077-FFF6-FA3661B38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475"/>
          <a:stretch/>
        </p:blipFill>
        <p:spPr>
          <a:xfrm>
            <a:off x="1307717" y="3750084"/>
            <a:ext cx="7139597" cy="7985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8379788C-E0B3-ADCB-577A-16B82833D561}"/>
              </a:ext>
            </a:extLst>
          </p:cNvPr>
          <p:cNvCxnSpPr>
            <a:cxnSpLocks/>
          </p:cNvCxnSpPr>
          <p:nvPr/>
        </p:nvCxnSpPr>
        <p:spPr>
          <a:xfrm flipH="1">
            <a:off x="1536596" y="1730986"/>
            <a:ext cx="519186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BF912B8-0C10-2646-3E24-D46D97AA5843}"/>
              </a:ext>
            </a:extLst>
          </p:cNvPr>
          <p:cNvCxnSpPr>
            <a:cxnSpLocks/>
          </p:cNvCxnSpPr>
          <p:nvPr/>
        </p:nvCxnSpPr>
        <p:spPr>
          <a:xfrm flipH="1">
            <a:off x="1536596" y="25006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13FD866-D093-B66F-DF6B-E0C6A53F6102}"/>
              </a:ext>
            </a:extLst>
          </p:cNvPr>
          <p:cNvCxnSpPr>
            <a:cxnSpLocks/>
          </p:cNvCxnSpPr>
          <p:nvPr/>
        </p:nvCxnSpPr>
        <p:spPr>
          <a:xfrm flipH="1">
            <a:off x="1536596" y="36347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A12469B-7F42-3227-233A-F3F8514F8DD6}"/>
              </a:ext>
            </a:extLst>
          </p:cNvPr>
          <p:cNvCxnSpPr>
            <a:cxnSpLocks/>
          </p:cNvCxnSpPr>
          <p:nvPr/>
        </p:nvCxnSpPr>
        <p:spPr>
          <a:xfrm flipH="1">
            <a:off x="1536596" y="4508784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авая фигурная скобка 9">
            <a:extLst>
              <a:ext uri="{FF2B5EF4-FFF2-40B4-BE49-F238E27FC236}">
                <a16:creationId xmlns:a16="http://schemas.microsoft.com/office/drawing/2014/main" id="{7EAD65B7-DE29-E8D5-0A1E-9A1C4FE37BFE}"/>
              </a:ext>
            </a:extLst>
          </p:cNvPr>
          <p:cNvSpPr/>
          <p:nvPr/>
        </p:nvSpPr>
        <p:spPr>
          <a:xfrm>
            <a:off x="6787833" y="1202323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авая фигурная скобка 10">
            <a:extLst>
              <a:ext uri="{FF2B5EF4-FFF2-40B4-BE49-F238E27FC236}">
                <a16:creationId xmlns:a16="http://schemas.microsoft.com/office/drawing/2014/main" id="{409A2D29-755B-BA19-97F7-4C9AB82ED58B}"/>
              </a:ext>
            </a:extLst>
          </p:cNvPr>
          <p:cNvSpPr/>
          <p:nvPr/>
        </p:nvSpPr>
        <p:spPr>
          <a:xfrm>
            <a:off x="6787832" y="1777332"/>
            <a:ext cx="234075" cy="723274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1C9A09ED-72B8-8589-49B8-B976000DB310}"/>
              </a:ext>
            </a:extLst>
          </p:cNvPr>
          <p:cNvSpPr/>
          <p:nvPr/>
        </p:nvSpPr>
        <p:spPr>
          <a:xfrm>
            <a:off x="8447314" y="2500606"/>
            <a:ext cx="234075" cy="113410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авая фигурная скобка 15">
            <a:extLst>
              <a:ext uri="{FF2B5EF4-FFF2-40B4-BE49-F238E27FC236}">
                <a16:creationId xmlns:a16="http://schemas.microsoft.com/office/drawing/2014/main" id="{E9F40EFD-D9F9-B19B-6FD6-AC87DA0CD8A2}"/>
              </a:ext>
            </a:extLst>
          </p:cNvPr>
          <p:cNvSpPr/>
          <p:nvPr/>
        </p:nvSpPr>
        <p:spPr>
          <a:xfrm>
            <a:off x="8447314" y="3634706"/>
            <a:ext cx="234075" cy="874078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Google Shape;300;p49">
            <a:extLst>
              <a:ext uri="{FF2B5EF4-FFF2-40B4-BE49-F238E27FC236}">
                <a16:creationId xmlns:a16="http://schemas.microsoft.com/office/drawing/2014/main" id="{7786E0C5-2B2D-24FA-1087-4EB1E7765C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22831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300;p49">
            <a:extLst>
              <a:ext uri="{FF2B5EF4-FFF2-40B4-BE49-F238E27FC236}">
                <a16:creationId xmlns:a16="http://schemas.microsoft.com/office/drawing/2014/main" id="{393BA120-50EF-36ED-159F-BC892281AA0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87927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300;p49">
            <a:extLst>
              <a:ext uri="{FF2B5EF4-FFF2-40B4-BE49-F238E27FC236}">
                <a16:creationId xmlns:a16="http://schemas.microsoft.com/office/drawing/2014/main" id="{A863C3FE-BC82-024E-7D15-11423AC2A88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81389" y="2856295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00;p49">
            <a:extLst>
              <a:ext uri="{FF2B5EF4-FFF2-40B4-BE49-F238E27FC236}">
                <a16:creationId xmlns:a16="http://schemas.microsoft.com/office/drawing/2014/main" id="{FC2B6110-4047-7B92-DB08-E00EC0D53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77284" y="3751563"/>
            <a:ext cx="378973" cy="4227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525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Тестирование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45FFA4-54FA-9300-0E74-577A35613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" y="995484"/>
            <a:ext cx="5144904" cy="35897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63B959-8F87-715E-3512-6AD5C8039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065" y="995484"/>
            <a:ext cx="2832915" cy="2258571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oogle Shape;286;p49">
            <a:extLst>
              <a:ext uri="{FF2B5EF4-FFF2-40B4-BE49-F238E27FC236}">
                <a16:creationId xmlns:a16="http://schemas.microsoft.com/office/drawing/2014/main" id="{A9AAC0AB-3418-D9E3-FFFB-5CE77282BA6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81947" y="81692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30127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Docker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AF09DD-94FC-31C4-A002-BF984EAEF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2" b="15959"/>
          <a:stretch/>
        </p:blipFill>
        <p:spPr>
          <a:xfrm>
            <a:off x="1790969" y="2157923"/>
            <a:ext cx="5781011" cy="2654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D2554B-0825-B091-79B6-BB548267B565}"/>
              </a:ext>
            </a:extLst>
          </p:cNvPr>
          <p:cNvSpPr txBox="1"/>
          <p:nvPr/>
        </p:nvSpPr>
        <p:spPr>
          <a:xfrm>
            <a:off x="1768108" y="1173516"/>
            <a:ext cx="5803871" cy="738664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Приложение и БД в одной сети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прямого доступа извне к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Безопасная коммуникация между контейнерами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3BFBE2D0-CD08-B858-C8D6-4720B4F528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8972" y="198363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1635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CI/CD: Автоматизация сборки и мониторинга</a:t>
            </a:r>
            <a:endParaRPr lang="en-US" b="1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6311320-F9B1-D12E-90AA-8C9CC8151D4C}"/>
              </a:ext>
            </a:extLst>
          </p:cNvPr>
          <p:cNvGrpSpPr/>
          <p:nvPr/>
        </p:nvGrpSpPr>
        <p:grpSpPr>
          <a:xfrm>
            <a:off x="1551753" y="1059180"/>
            <a:ext cx="6259444" cy="3962400"/>
            <a:chOff x="1634877" y="1028700"/>
            <a:chExt cx="6259444" cy="3962400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D6C835F8-CF18-BF66-B265-5B0A565D9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373" r="49798" b="9245"/>
            <a:stretch/>
          </p:blipFill>
          <p:spPr>
            <a:xfrm>
              <a:off x="1634877" y="1028700"/>
              <a:ext cx="1972804" cy="3962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91C14-D28B-8567-6163-62205E0E9819}"/>
                </a:ext>
              </a:extLst>
            </p:cNvPr>
            <p:cNvSpPr txBox="1"/>
            <p:nvPr/>
          </p:nvSpPr>
          <p:spPr>
            <a:xfrm>
              <a:off x="3711209" y="1028700"/>
              <a:ext cx="4183112" cy="1600438"/>
            </a:xfrm>
            <a:prstGeom prst="rect">
              <a:avLst/>
            </a:prstGeom>
            <a:solidFill>
              <a:srgbClr val="282C34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l"/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Многоуровневая архитектура </a:t>
              </a:r>
              <a:r>
                <a:rPr lang="ru-RU" b="1" i="0" dirty="0" err="1">
                  <a:solidFill>
                    <a:srgbClr val="F9FAFB"/>
                  </a:solidFill>
                  <a:effectLst/>
                  <a:latin typeface="quote-cjk-patch"/>
                </a:rPr>
                <a:t>workflow</a:t>
              </a:r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:</a:t>
              </a:r>
              <a:endParaRPr lang="ru-RU" b="0" i="0" dirty="0">
                <a:solidFill>
                  <a:srgbClr val="F9FAFB"/>
                </a:solidFill>
                <a:effectLst/>
                <a:latin typeface="quote-cjk-patch"/>
              </a:endParaRP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Автоматическая сборка и тестирование при создании PR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Мгновенные уведомления в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Telegram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о статусе сборки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Мониторинг активности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code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review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в реальном времени</a:t>
              </a: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5F4E86A-C4F5-1451-13A6-003F24925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356" t="8279" r="17617" b="5549"/>
            <a:stretch/>
          </p:blipFill>
          <p:spPr>
            <a:xfrm>
              <a:off x="3711209" y="2979420"/>
              <a:ext cx="4183112" cy="2011680"/>
            </a:xfrm>
            <a:prstGeom prst="rect">
              <a:avLst/>
            </a:prstGeom>
          </p:spPr>
        </p:pic>
      </p:grpSp>
      <p:pic>
        <p:nvPicPr>
          <p:cNvPr id="18" name="Google Shape;286;p49">
            <a:extLst>
              <a:ext uri="{FF2B5EF4-FFF2-40B4-BE49-F238E27FC236}">
                <a16:creationId xmlns:a16="http://schemas.microsoft.com/office/drawing/2014/main" id="{33E398B0-97E0-7831-1CED-824A5DD293C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8122" y="2868091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7183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0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65720" y="1176485"/>
            <a:ext cx="7130700" cy="182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Демонстрация работы приложения</a:t>
            </a:r>
            <a:endParaRPr sz="50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 dirty="0">
              <a:solidFill>
                <a:schemeClr val="tx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108992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Хронология событий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D0B3747-94CC-A16F-0D10-D51213C552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259" b="29044"/>
          <a:stretch/>
        </p:blipFill>
        <p:spPr>
          <a:xfrm>
            <a:off x="454638" y="2658128"/>
            <a:ext cx="8509975" cy="22897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2C9377D9-3BB2-D75B-1DE6-B9FC0BC44C8E}"/>
              </a:ext>
            </a:extLst>
          </p:cNvPr>
          <p:cNvGrpSpPr/>
          <p:nvPr/>
        </p:nvGrpSpPr>
        <p:grpSpPr>
          <a:xfrm>
            <a:off x="508074" y="972349"/>
            <a:ext cx="2608868" cy="1483391"/>
            <a:chOff x="562362" y="991378"/>
            <a:chExt cx="2608868" cy="1483391"/>
          </a:xfrm>
        </p:grpSpPr>
        <p:pic>
          <p:nvPicPr>
            <p:cNvPr id="19" name="Google Shape;479;p66">
              <a:extLst>
                <a:ext uri="{FF2B5EF4-FFF2-40B4-BE49-F238E27FC236}">
                  <a16:creationId xmlns:a16="http://schemas.microsoft.com/office/drawing/2014/main" id="{93826E25-5274-BE44-9DCB-3CB1C910BDF9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62362" y="991378"/>
              <a:ext cx="2608868" cy="644958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2" name="Google Shape;485;p66">
              <a:extLst>
                <a:ext uri="{FF2B5EF4-FFF2-40B4-BE49-F238E27FC236}">
                  <a16:creationId xmlns:a16="http://schemas.microsoft.com/office/drawing/2014/main" id="{D02766A3-4B93-4562-28DA-91CC21890DF4}"/>
                </a:ext>
              </a:extLst>
            </p:cNvPr>
            <p:cNvSpPr txBox="1"/>
            <p:nvPr/>
          </p:nvSpPr>
          <p:spPr>
            <a:xfrm>
              <a:off x="984680" y="1064793"/>
              <a:ext cx="2129799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Летний релакс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" name="Rectangle 4">
              <a:extLst>
                <a:ext uri="{FF2B5EF4-FFF2-40B4-BE49-F238E27FC236}">
                  <a16:creationId xmlns:a16="http://schemas.microsoft.com/office/drawing/2014/main" id="{6642E857-FBEF-FE35-E085-9087B9D5E3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2362" y="1736105"/>
              <a:ext cx="2519921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[15 коммитов] ███░░░░░░░ 17%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"У меня ещё куча времени!"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0.25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Перерывы на мороженое 🍦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736525CF-1C01-E7B7-7352-995EFCB4BFB8}"/>
              </a:ext>
            </a:extLst>
          </p:cNvPr>
          <p:cNvGrpSpPr/>
          <p:nvPr/>
        </p:nvGrpSpPr>
        <p:grpSpPr>
          <a:xfrm>
            <a:off x="3377041" y="977936"/>
            <a:ext cx="2608868" cy="1502185"/>
            <a:chOff x="3377041" y="977936"/>
            <a:chExt cx="2608868" cy="1502185"/>
          </a:xfrm>
        </p:grpSpPr>
        <p:pic>
          <p:nvPicPr>
            <p:cNvPr id="20" name="Google Shape;481;p66">
              <a:extLst>
                <a:ext uri="{FF2B5EF4-FFF2-40B4-BE49-F238E27FC236}">
                  <a16:creationId xmlns:a16="http://schemas.microsoft.com/office/drawing/2014/main" id="{A4F850A3-4AC4-2D59-AA35-890FD08076AA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377041" y="977936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3" name="Google Shape;487;p66">
              <a:extLst>
                <a:ext uri="{FF2B5EF4-FFF2-40B4-BE49-F238E27FC236}">
                  <a16:creationId xmlns:a16="http://schemas.microsoft.com/office/drawing/2014/main" id="{DA03C80C-A2EB-EB8F-DF3B-8CCC17DB5772}"/>
                </a:ext>
              </a:extLst>
            </p:cNvPr>
            <p:cNvSpPr txBox="1"/>
            <p:nvPr/>
          </p:nvSpPr>
          <p:spPr>
            <a:xfrm>
              <a:off x="3897240" y="1080222"/>
              <a:ext cx="1824110" cy="4154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500" b="1" dirty="0">
                  <a:solidFill>
                    <a:schemeClr val="tx1"/>
                  </a:solidFill>
                  <a:latin typeface="Roboto"/>
                  <a:ea typeface="Roboto"/>
                  <a:cs typeface="Roboto"/>
                  <a:sym typeface="Roboto"/>
                </a:rPr>
                <a:t>Осенняя хондра</a:t>
              </a:r>
              <a:endParaRPr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DAF64EB6-35B2-3FA6-8357-3253B15C4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7041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[5 коммитов] █░░░░░░░░░ 6%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"Надо бы начать..."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0.08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Продуктивная прокрастинация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3E7B3A18-9B45-F0E8-D03A-7FAEAA8235FA}"/>
              </a:ext>
            </a:extLst>
          </p:cNvPr>
          <p:cNvGrpSpPr/>
          <p:nvPr/>
        </p:nvGrpSpPr>
        <p:grpSpPr>
          <a:xfrm>
            <a:off x="6238207" y="927774"/>
            <a:ext cx="2616448" cy="1552347"/>
            <a:chOff x="6118388" y="927774"/>
            <a:chExt cx="2616448" cy="1552347"/>
          </a:xfrm>
        </p:grpSpPr>
        <p:pic>
          <p:nvPicPr>
            <p:cNvPr id="21" name="Google Shape;483;p66">
              <a:extLst>
                <a:ext uri="{FF2B5EF4-FFF2-40B4-BE49-F238E27FC236}">
                  <a16:creationId xmlns:a16="http://schemas.microsoft.com/office/drawing/2014/main" id="{609BBC7F-E1EE-3964-4729-89C4357C3E6B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125968" y="1005415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4" name="Google Shape;489;p66">
              <a:extLst>
                <a:ext uri="{FF2B5EF4-FFF2-40B4-BE49-F238E27FC236}">
                  <a16:creationId xmlns:a16="http://schemas.microsoft.com/office/drawing/2014/main" id="{A12C15C3-87DF-CE9C-0617-D6CD2F5AE0F7}"/>
                </a:ext>
              </a:extLst>
            </p:cNvPr>
            <p:cNvSpPr txBox="1"/>
            <p:nvPr/>
          </p:nvSpPr>
          <p:spPr>
            <a:xfrm>
              <a:off x="6684192" y="927774"/>
              <a:ext cx="1577340" cy="8001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Финальный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марафон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" name="Rectangle 6">
              <a:extLst>
                <a:ext uri="{FF2B5EF4-FFF2-40B4-BE49-F238E27FC236}">
                  <a16:creationId xmlns:a16="http://schemas.microsoft.com/office/drawing/2014/main" id="{C3F7290E-7131-7EEA-3ECE-8F963A70D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8388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[70 коммитов] ██████████ 77%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«Вот чем я займусь в отпуске"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3.5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Кофе наше все☕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074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/>
        </p:nvGraphicFramePr>
        <p:xfrm>
          <a:off x="431799" y="2495090"/>
          <a:ext cx="8509975" cy="257653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575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Создано полноценное веб-приложение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ключевые фичи: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JWT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аналитика, интеграции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Использованы базовые практики: Spring Boot, JWT, REST,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i18n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Уделено внимание UX и визуалу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Код соответствует стандартам (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6.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базовые сценарии тестирования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1116"/>
                  </a:ext>
                </a:extLst>
              </a:tr>
            </a:tbl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</a:p>
        </p:txBody>
      </p:sp>
      <p:sp>
        <p:nvSpPr>
          <p:cNvPr id="6" name="Google Shape;440;p62">
            <a:extLst>
              <a:ext uri="{FF2B5EF4-FFF2-40B4-BE49-F238E27FC236}">
                <a16:creationId xmlns:a16="http://schemas.microsoft.com/office/drawing/2014/main" id="{44CA1502-1DA0-7EEA-CB78-0DB4657F2446}"/>
              </a:ext>
            </a:extLst>
          </p:cNvPr>
          <p:cNvSpPr/>
          <p:nvPr/>
        </p:nvSpPr>
        <p:spPr>
          <a:xfrm>
            <a:off x="431800" y="1008388"/>
            <a:ext cx="2567185" cy="1376672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" name="Google Shape;199;p40">
            <a:extLst>
              <a:ext uri="{FF2B5EF4-FFF2-40B4-BE49-F238E27FC236}">
                <a16:creationId xmlns:a16="http://schemas.microsoft.com/office/drawing/2014/main" id="{0CA81C84-F461-EE13-58A8-ABA564DE11CC}"/>
              </a:ext>
            </a:extLst>
          </p:cNvPr>
          <p:cNvGraphicFramePr/>
          <p:nvPr/>
        </p:nvGraphicFramePr>
        <p:xfrm>
          <a:off x="484762" y="1071606"/>
          <a:ext cx="2461260" cy="127965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244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282">
                  <a:extLst>
                    <a:ext uri="{9D8B030D-6E8A-4147-A177-3AD203B41FA5}">
                      <a16:colId xmlns:a16="http://schemas.microsoft.com/office/drawing/2014/main" val="1293977955"/>
                    </a:ext>
                  </a:extLst>
                </a:gridCol>
              </a:tblGrid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Сложность 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3 балла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Полезность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 баллов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Время</a:t>
                      </a:r>
                      <a:endParaRPr lang="ru-RU"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 баллов </a:t>
                      </a:r>
                      <a:endParaRPr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Коммитов</a:t>
                      </a:r>
                      <a:endParaRPr sz="14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b="1" dirty="0">
                          <a:solidFill>
                            <a:schemeClr val="accent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Roboto"/>
                        </a:rPr>
                        <a:t>+/- 90 штук</a:t>
                      </a:r>
                      <a:endParaRPr b="1" dirty="0">
                        <a:solidFill>
                          <a:schemeClr val="accent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11563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17D05F2-0602-7746-CBB2-65B1982CD638}"/>
              </a:ext>
            </a:extLst>
          </p:cNvPr>
          <p:cNvSpPr txBox="1"/>
          <p:nvPr/>
        </p:nvSpPr>
        <p:spPr>
          <a:xfrm>
            <a:off x="3104910" y="1157883"/>
            <a:ext cx="5859703" cy="1055608"/>
          </a:xfrm>
          <a:prstGeom prst="roundRect">
            <a:avLst/>
          </a:prstGeom>
          <a:solidFill>
            <a:schemeClr val="accent2"/>
          </a:solidFill>
        </p:spPr>
        <p:txBody>
          <a:bodyPr wrap="square" anchor="ctr">
            <a:noAutofit/>
          </a:bodyPr>
          <a:lstStyle/>
          <a:p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Bank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Analyzer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достойно показывает переход от учебного проекта к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production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-готовому решению, сочетая практическую пользу с технической реализацией. </a:t>
            </a:r>
            <a:endParaRPr lang="ru-RU" b="1" dirty="0">
              <a:solidFill>
                <a:srgbClr val="F9FAFB"/>
              </a:solidFill>
              <a:latin typeface="quote-cjk-patch"/>
            </a:endParaRPr>
          </a:p>
        </p:txBody>
      </p:sp>
      <p:pic>
        <p:nvPicPr>
          <p:cNvPr id="16" name="Google Shape;337;p50">
            <a:extLst>
              <a:ext uri="{FF2B5EF4-FFF2-40B4-BE49-F238E27FC236}">
                <a16:creationId xmlns:a16="http://schemas.microsoft.com/office/drawing/2014/main" id="{257E6093-398F-4A78-68BA-D5E751B66B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0529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tx1"/>
                </a:solidFill>
              </a:rPr>
              <a:t>Спасибо за внимание!</a:t>
            </a:r>
            <a:endParaRPr sz="5000" dirty="0">
              <a:solidFill>
                <a:schemeClr val="tx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21252B"/>
      </a:lt1>
      <a:dk2>
        <a:srgbClr val="FFFFFF"/>
      </a:dk2>
      <a:lt2>
        <a:srgbClr val="282C34"/>
      </a:lt2>
      <a:accent1>
        <a:srgbClr val="C9492C"/>
      </a:accent1>
      <a:accent2>
        <a:srgbClr val="40299B"/>
      </a:accent2>
      <a:accent3>
        <a:srgbClr val="555D6F"/>
      </a:accent3>
      <a:accent4>
        <a:srgbClr val="C00000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1467</Words>
  <Application>Microsoft Office PowerPoint</Application>
  <PresentationFormat>Экран (16:9)</PresentationFormat>
  <Paragraphs>301</Paragraphs>
  <Slides>28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28</vt:i4>
      </vt:variant>
    </vt:vector>
  </HeadingPairs>
  <TitlesOfParts>
    <vt:vector size="36" baseType="lpstr">
      <vt:lpstr>quote-cjk-patch</vt:lpstr>
      <vt:lpstr>Courier New</vt:lpstr>
      <vt:lpstr>Arial</vt:lpstr>
      <vt:lpstr>Roboto Medium</vt:lpstr>
      <vt:lpstr>Roboto</vt:lpstr>
      <vt:lpstr>Reem Kufi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JPA репозитории</vt:lpstr>
      <vt:lpstr>Liquibase + PostgreSQL + JPA</vt:lpstr>
      <vt:lpstr>Security: JWT Stateless </vt:lpstr>
      <vt:lpstr>Локализация</vt:lpstr>
      <vt:lpstr>Контроллеры</vt:lpstr>
      <vt:lpstr>Обработка ошибок</vt:lpstr>
      <vt:lpstr>Логирование исключений</vt:lpstr>
      <vt:lpstr>Тестирование</vt:lpstr>
      <vt:lpstr>Docker</vt:lpstr>
      <vt:lpstr>CI/CD: Автоматизация сборки и мониторинга</vt:lpstr>
      <vt:lpstr>Презентация PowerPoint</vt:lpstr>
      <vt:lpstr>Хронология событий</vt:lpstr>
      <vt:lpstr>Выводы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semva</dc:creator>
  <cp:lastModifiedBy>semvasek@gmail.com</cp:lastModifiedBy>
  <cp:revision>29</cp:revision>
  <dcterms:modified xsi:type="dcterms:W3CDTF">2025-11-14T23:09:18Z</dcterms:modified>
</cp:coreProperties>
</file>