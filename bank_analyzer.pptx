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1" r:id="rId2"/>
  </p:sldMasterIdLst>
  <p:notesMasterIdLst>
    <p:notesMasterId r:id="rId52"/>
  </p:notesMasterIdLst>
  <p:sldIdLst>
    <p:sldId id="256" r:id="rId3"/>
    <p:sldId id="257" r:id="rId4"/>
    <p:sldId id="258" r:id="rId5"/>
    <p:sldId id="260" r:id="rId6"/>
    <p:sldId id="261" r:id="rId7"/>
    <p:sldId id="300" r:id="rId8"/>
    <p:sldId id="299" r:id="rId9"/>
    <p:sldId id="301" r:id="rId10"/>
    <p:sldId id="262" r:id="rId11"/>
    <p:sldId id="303" r:id="rId12"/>
    <p:sldId id="306" r:id="rId13"/>
    <p:sldId id="305" r:id="rId14"/>
    <p:sldId id="30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</p:sldIdLst>
  <p:sldSz cx="9144000" cy="5143500" type="screen16x9"/>
  <p:notesSz cx="6858000" cy="9144000"/>
  <p:embeddedFontLst>
    <p:embeddedFont>
      <p:font typeface="Reem Kufi" pitchFamily="2" charset="-78"/>
      <p:regular r:id="rId53"/>
      <p:bold r:id="rId54"/>
    </p:embeddedFont>
    <p:embeddedFont>
      <p:font typeface="Roboto" panose="02000000000000000000" pitchFamily="2" charset="0"/>
      <p:regular r:id="rId55"/>
      <p:bold r:id="rId56"/>
      <p:italic r:id="rId57"/>
      <p:boldItalic r:id="rId58"/>
    </p:embeddedFont>
    <p:embeddedFont>
      <p:font typeface="Roboto Medium" panose="02000000000000000000" pitchFamily="2" charset="0"/>
      <p:regular r:id="rId59"/>
      <p:bold r:id="rId60"/>
      <p:italic r:id="rId61"/>
      <p:boldItalic r:id="rId6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3" orient="horz" pos="324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299B"/>
    <a:srgbClr val="282C34"/>
    <a:srgbClr val="2125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EB45D60-7195-4C9D-AB46-2696C140063F}">
  <a:tblStyle styleId="{7EB45D60-7195-4C9D-AB46-2696C140063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2902" autoAdjust="0"/>
  </p:normalViewPr>
  <p:slideViewPr>
    <p:cSldViewPr snapToGrid="0">
      <p:cViewPr>
        <p:scale>
          <a:sx n="100" d="100"/>
          <a:sy n="100" d="100"/>
        </p:scale>
        <p:origin x="936" y="126"/>
      </p:cViewPr>
      <p:guideLst>
        <p:guide orient="horz" pos="324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font" Target="fonts/font3.fntdata"/><Relationship Id="rId63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66" Type="http://schemas.openxmlformats.org/officeDocument/2006/relationships/tableStyles" Target="tableStyles.xml"/><Relationship Id="rId5" Type="http://schemas.openxmlformats.org/officeDocument/2006/relationships/slide" Target="slides/slide3.xml"/><Relationship Id="rId61" Type="http://schemas.openxmlformats.org/officeDocument/2006/relationships/font" Target="fonts/font9.fntdata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font" Target="fonts/font4.fntdata"/><Relationship Id="rId64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font" Target="fonts/font7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2.fntdata"/><Relationship Id="rId62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font" Target="fonts/font5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notesMaster" Target="notesMasters/notesMaster1.xml"/><Relationship Id="rId60" Type="http://schemas.openxmlformats.org/officeDocument/2006/relationships/font" Target="fonts/font8.fntdata"/><Relationship Id="rId65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42032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33757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79259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b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⏱️ Временные метки (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Auditing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):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CreationTimestamp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момент создания (неизменяем)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UpdateTimestamp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момент изменения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автообновление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Прямо в БД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 DEFAULT CURRENT_TIMESTAMP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🔒 Параллельный доступ: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@Version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оптимистичная блокировка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Защита от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lost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updates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в конкурентных сценариях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Исключение 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OptimisticLockException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при конфликте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🎯 Продвинутая идентичность: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Обработка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Hibernate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прокси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equals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()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Безопасное сравнение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лениво загруженных сущностей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hashCode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() на основе класса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стабильность 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HashSet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/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HashMap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|</a:t>
            </a:r>
            <a:b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Это не просто базовый класс — это инфраструктура для работы с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persistence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-контекстом на промышленном уровне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Мы решили сложные проблемы: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Конкурентный доступ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через оптимистичную блокировку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Ленивая загрузка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в коллекциях через обработку прокси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Автоматический аудит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изменений на уровне БД</a:t>
            </a:r>
          </a:p>
        </p:txBody>
      </p:sp>
    </p:spTree>
    <p:extLst>
      <p:ext uri="{BB962C8B-B14F-4D97-AF65-F5344CB8AC3E}">
        <p14:creationId xmlns:p14="http://schemas.microsoft.com/office/powerpoint/2010/main" val="4205801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Структурные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Наследование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от 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AbstractBaseEntity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единый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ID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timestamp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Нормализация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отдельные сущности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Bank, Currency, User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Каскадные операции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удаление/сохранение карт вместе со счётом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⚡ Оптимизации производительности: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FetchType.LAZY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везде кроме 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для контролируемой жадной загрузки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orphanRemoval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автоматическое удаление карт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🔒 Гарантии целостности: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@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NotNull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обязательные поля на уровне БД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unique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уникальность номера счёта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precision = 19, scale = 2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точность для денежных операций</a:t>
            </a: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Архитектурные паттерны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наследование, нормализация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осознанное использование LAZY +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Целостность данных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ограничения на уровне БД, а не только приложения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Практический опыт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понимание проблем N+1 запросов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937815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Структурные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Наследование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от 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AbstractBaseEntity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единый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ID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timestamp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Нормализация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отдельные сущности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Bank, Currency, User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Каскадные операции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удаление/сохранение карт вместе со счётом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⚡ Оптимизации производительности: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FetchType.LAZY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везде кроме 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для контролируемой жадной загрузки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orphanRemoval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автоматическое удаление карт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🔒 Гарантии целостности: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@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NotNull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обязательные поля на уровне БД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unique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уникальность номера счёта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precision = 19, scale = 2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точность для денежных операций</a:t>
            </a: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Архитектурные паттерны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наследование, нормализация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осознанное использование LAZY +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Целостность данных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ограничения на уровне БД, а не только приложения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Практический опыт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понимание проблем N+1 запросов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895009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6900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41727d1a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41727d1a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0f7d84ce1d_0_4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0f7d84ce1d_0_4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0f7d84ce1d_0_4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0f7d84ce1d_0_4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0f7d84ce1d_0_4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0f7d84ce1d_0_4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3ce85d903d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3ce85d903d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3ce85d903d_0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3ce85d903d_0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0f7d84ce1d_0_2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30f7d84ce1d_0_21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3ce85d903d_0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8" name="Google Shape;358;g33ce85d903d_0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3ce85d903d_0_2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33ce85d903d_0_2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33ce85d903d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g33ce85d903d_0_2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3ce85d903d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33ce85d903d_0_2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3ce85d903d_0_4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" name="Google Shape;385;g33ce85d903d_0_4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3ce85d903d_0_4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9" name="Google Shape;399;g33ce85d903d_0_4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3ce85d903d_0_5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33ce85d903d_0_5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3ce85d903d_0_5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33ce85d903d_0_5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3ce85d903d_0_5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33ce85d903d_0_5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3ce85d903d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33ce85d903d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3ce85d903d_0_5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33ce85d903d_0_5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3ce85d903d_0_5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8" name="Google Shape;458;g33ce85d903d_0_5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33ce85d903d_0_6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" name="Google Shape;467;g33ce85d903d_0_6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33ce85d903d_0_6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6" name="Google Shape;476;g33ce85d903d_0_6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3ce85d903d_0_6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3ce85d903d_0_6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3ce85d903d_0_6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9" name="Google Shape;519;g33ce85d903d_0_6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33ce85d903d_0_6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5" name="Google Shape;535;g33ce85d903d_0_6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33ce85d903d_0_6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33ce85d903d_0_6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3ce85d903d_0_7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2" name="Google Shape;572;g33ce85d903d_0_7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g33ce85d903d_0_7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1" name="Google Shape;581;g33ce85d903d_0_7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3ce85d903d_0_7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3ce85d903d_0_7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g33ce85d903d_0_7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3" name="Google Shape;593;g33ce85d903d_0_7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33ce85d903d_0_7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0" name="Google Shape;600;g33ce85d903d_0_7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33ce85d903d_0_7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6" name="Google Shape;606;g33ce85d903d_0_7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33ce85d903d_0_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2" name="Google Shape;612;g33ce85d903d_0_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 dirty="0"/>
          </a:p>
        </p:txBody>
      </p:sp>
      <p:sp>
        <p:nvSpPr>
          <p:cNvPr id="122" name="Google Shape;12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 userDrawn="1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421175" y="330736"/>
            <a:ext cx="8520600" cy="597038"/>
          </a:xfrm>
          <a:prstGeom prst="roundRect">
            <a:avLst>
              <a:gd name="adj" fmla="val 23048"/>
            </a:avLst>
          </a:prstGeom>
          <a:solidFill>
            <a:srgbClr val="40299B"/>
          </a:solidFill>
          <a:effectLst>
            <a:softEdge rad="0"/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31"/>
          <p:cNvSpPr/>
          <p:nvPr/>
        </p:nvSpPr>
        <p:spPr>
          <a:xfrm>
            <a:off x="606200" y="1441163"/>
            <a:ext cx="7938600" cy="35649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31"/>
          <p:cNvSpPr txBox="1">
            <a:spLocks noGrp="1"/>
          </p:cNvSpPr>
          <p:nvPr>
            <p:ph type="subTitle" idx="1"/>
          </p:nvPr>
        </p:nvSpPr>
        <p:spPr>
          <a:xfrm>
            <a:off x="743675" y="1496071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_3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 1">
  <p:cSld name="CUSTOM_2_1_1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3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3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 1">
  <p:cSld name="CUSTOM_4_2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3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40" name="Google Shape;140;p3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3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21252B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chemeClr val="accent5">
              <a:lumMod val="60000"/>
              <a:lumOff val="40000"/>
            </a:schemeClr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77" userDrawn="1">
          <p15:clr>
            <a:srgbClr val="F26B43"/>
          </p15:clr>
        </p15:guide>
        <p15:guide id="2" pos="272" userDrawn="1">
          <p15:clr>
            <a:srgbClr val="F26B43"/>
          </p15:clr>
        </p15:guide>
        <p15:guide id="3" pos="5647" userDrawn="1">
          <p15:clr>
            <a:srgbClr val="F26B43"/>
          </p15:clr>
        </p15:guide>
        <p15:guide id="4" orient="horz" pos="284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6.jpe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drive/folders/1_jBkKU2HRLL26Wzz7eOPESOVAaIuvibp?usp=drive_link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56.png"/><Relationship Id="rId21" Type="http://schemas.openxmlformats.org/officeDocument/2006/relationships/image" Target="../media/image9.png"/><Relationship Id="rId42" Type="http://schemas.openxmlformats.org/officeDocument/2006/relationships/image" Target="../media/image72.png"/><Relationship Id="rId47" Type="http://schemas.openxmlformats.org/officeDocument/2006/relationships/image" Target="../media/image77.png"/><Relationship Id="rId63" Type="http://schemas.openxmlformats.org/officeDocument/2006/relationships/image" Target="../media/image93.png"/><Relationship Id="rId68" Type="http://schemas.openxmlformats.org/officeDocument/2006/relationships/image" Target="../media/image98.png"/><Relationship Id="rId7" Type="http://schemas.openxmlformats.org/officeDocument/2006/relationships/image" Target="../media/image39.png"/><Relationship Id="rId71" Type="http://schemas.openxmlformats.org/officeDocument/2006/relationships/image" Target="../media/image101.png"/><Relationship Id="rId2" Type="http://schemas.openxmlformats.org/officeDocument/2006/relationships/notesSlide" Target="../notesSlides/notesSlide21.xml"/><Relationship Id="rId16" Type="http://schemas.openxmlformats.org/officeDocument/2006/relationships/image" Target="../media/image35.png"/><Relationship Id="rId29" Type="http://schemas.openxmlformats.org/officeDocument/2006/relationships/image" Target="../media/image59.png"/><Relationship Id="rId11" Type="http://schemas.openxmlformats.org/officeDocument/2006/relationships/image" Target="../media/image43.png"/><Relationship Id="rId24" Type="http://schemas.openxmlformats.org/officeDocument/2006/relationships/image" Target="../media/image54.png"/><Relationship Id="rId32" Type="http://schemas.openxmlformats.org/officeDocument/2006/relationships/image" Target="../media/image62.png"/><Relationship Id="rId37" Type="http://schemas.openxmlformats.org/officeDocument/2006/relationships/image" Target="../media/image67.png"/><Relationship Id="rId40" Type="http://schemas.openxmlformats.org/officeDocument/2006/relationships/image" Target="../media/image70.png"/><Relationship Id="rId45" Type="http://schemas.openxmlformats.org/officeDocument/2006/relationships/image" Target="../media/image75.png"/><Relationship Id="rId53" Type="http://schemas.openxmlformats.org/officeDocument/2006/relationships/image" Target="../media/image83.png"/><Relationship Id="rId58" Type="http://schemas.openxmlformats.org/officeDocument/2006/relationships/image" Target="../media/image88.png"/><Relationship Id="rId66" Type="http://schemas.openxmlformats.org/officeDocument/2006/relationships/image" Target="../media/image96.png"/><Relationship Id="rId5" Type="http://schemas.openxmlformats.org/officeDocument/2006/relationships/image" Target="../media/image34.png"/><Relationship Id="rId61" Type="http://schemas.openxmlformats.org/officeDocument/2006/relationships/image" Target="../media/image91.png"/><Relationship Id="rId19" Type="http://schemas.openxmlformats.org/officeDocument/2006/relationships/image" Target="../media/image50.png"/><Relationship Id="rId14" Type="http://schemas.openxmlformats.org/officeDocument/2006/relationships/image" Target="../media/image46.png"/><Relationship Id="rId22" Type="http://schemas.openxmlformats.org/officeDocument/2006/relationships/image" Target="../media/image52.png"/><Relationship Id="rId27" Type="http://schemas.openxmlformats.org/officeDocument/2006/relationships/image" Target="../media/image57.png"/><Relationship Id="rId30" Type="http://schemas.openxmlformats.org/officeDocument/2006/relationships/image" Target="../media/image60.png"/><Relationship Id="rId35" Type="http://schemas.openxmlformats.org/officeDocument/2006/relationships/image" Target="../media/image65.png"/><Relationship Id="rId43" Type="http://schemas.openxmlformats.org/officeDocument/2006/relationships/image" Target="../media/image73.png"/><Relationship Id="rId48" Type="http://schemas.openxmlformats.org/officeDocument/2006/relationships/image" Target="../media/image78.png"/><Relationship Id="rId56" Type="http://schemas.openxmlformats.org/officeDocument/2006/relationships/image" Target="../media/image86.png"/><Relationship Id="rId64" Type="http://schemas.openxmlformats.org/officeDocument/2006/relationships/image" Target="../media/image94.png"/><Relationship Id="rId69" Type="http://schemas.openxmlformats.org/officeDocument/2006/relationships/image" Target="../media/image99.png"/><Relationship Id="rId8" Type="http://schemas.openxmlformats.org/officeDocument/2006/relationships/image" Target="../media/image40.png"/><Relationship Id="rId51" Type="http://schemas.openxmlformats.org/officeDocument/2006/relationships/image" Target="../media/image81.png"/><Relationship Id="rId3" Type="http://schemas.openxmlformats.org/officeDocument/2006/relationships/image" Target="../media/image36.png"/><Relationship Id="rId12" Type="http://schemas.openxmlformats.org/officeDocument/2006/relationships/image" Target="../media/image44.png"/><Relationship Id="rId17" Type="http://schemas.openxmlformats.org/officeDocument/2006/relationships/image" Target="../media/image48.png"/><Relationship Id="rId25" Type="http://schemas.openxmlformats.org/officeDocument/2006/relationships/image" Target="../media/image55.png"/><Relationship Id="rId33" Type="http://schemas.openxmlformats.org/officeDocument/2006/relationships/image" Target="../media/image63.png"/><Relationship Id="rId38" Type="http://schemas.openxmlformats.org/officeDocument/2006/relationships/image" Target="../media/image68.png"/><Relationship Id="rId46" Type="http://schemas.openxmlformats.org/officeDocument/2006/relationships/image" Target="../media/image76.png"/><Relationship Id="rId59" Type="http://schemas.openxmlformats.org/officeDocument/2006/relationships/image" Target="../media/image89.png"/><Relationship Id="rId67" Type="http://schemas.openxmlformats.org/officeDocument/2006/relationships/image" Target="../media/image97.png"/><Relationship Id="rId20" Type="http://schemas.openxmlformats.org/officeDocument/2006/relationships/image" Target="../media/image51.png"/><Relationship Id="rId41" Type="http://schemas.openxmlformats.org/officeDocument/2006/relationships/image" Target="../media/image71.png"/><Relationship Id="rId54" Type="http://schemas.openxmlformats.org/officeDocument/2006/relationships/image" Target="../media/image84.png"/><Relationship Id="rId62" Type="http://schemas.openxmlformats.org/officeDocument/2006/relationships/image" Target="../media/image92.png"/><Relationship Id="rId70" Type="http://schemas.openxmlformats.org/officeDocument/2006/relationships/image" Target="../media/image100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38.png"/><Relationship Id="rId15" Type="http://schemas.openxmlformats.org/officeDocument/2006/relationships/image" Target="../media/image47.png"/><Relationship Id="rId23" Type="http://schemas.openxmlformats.org/officeDocument/2006/relationships/image" Target="../media/image53.png"/><Relationship Id="rId28" Type="http://schemas.openxmlformats.org/officeDocument/2006/relationships/image" Target="../media/image58.png"/><Relationship Id="rId36" Type="http://schemas.openxmlformats.org/officeDocument/2006/relationships/image" Target="../media/image66.png"/><Relationship Id="rId49" Type="http://schemas.openxmlformats.org/officeDocument/2006/relationships/image" Target="../media/image79.png"/><Relationship Id="rId57" Type="http://schemas.openxmlformats.org/officeDocument/2006/relationships/image" Target="../media/image87.png"/><Relationship Id="rId10" Type="http://schemas.openxmlformats.org/officeDocument/2006/relationships/image" Target="../media/image42.png"/><Relationship Id="rId31" Type="http://schemas.openxmlformats.org/officeDocument/2006/relationships/image" Target="../media/image61.png"/><Relationship Id="rId44" Type="http://schemas.openxmlformats.org/officeDocument/2006/relationships/image" Target="../media/image74.png"/><Relationship Id="rId52" Type="http://schemas.openxmlformats.org/officeDocument/2006/relationships/image" Target="../media/image82.png"/><Relationship Id="rId60" Type="http://schemas.openxmlformats.org/officeDocument/2006/relationships/image" Target="../media/image90.png"/><Relationship Id="rId65" Type="http://schemas.openxmlformats.org/officeDocument/2006/relationships/image" Target="../media/image95.png"/><Relationship Id="rId4" Type="http://schemas.openxmlformats.org/officeDocument/2006/relationships/image" Target="../media/image37.png"/><Relationship Id="rId9" Type="http://schemas.openxmlformats.org/officeDocument/2006/relationships/image" Target="../media/image41.png"/><Relationship Id="rId13" Type="http://schemas.openxmlformats.org/officeDocument/2006/relationships/image" Target="../media/image45.png"/><Relationship Id="rId18" Type="http://schemas.openxmlformats.org/officeDocument/2006/relationships/image" Target="../media/image49.png"/><Relationship Id="rId39" Type="http://schemas.openxmlformats.org/officeDocument/2006/relationships/image" Target="../media/image69.png"/><Relationship Id="rId34" Type="http://schemas.openxmlformats.org/officeDocument/2006/relationships/image" Target="../media/image64.png"/><Relationship Id="rId50" Type="http://schemas.openxmlformats.org/officeDocument/2006/relationships/image" Target="../media/image80.png"/><Relationship Id="rId55" Type="http://schemas.openxmlformats.org/officeDocument/2006/relationships/image" Target="../media/image85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13" Type="http://schemas.openxmlformats.org/officeDocument/2006/relationships/image" Target="../media/image6.png"/><Relationship Id="rId3" Type="http://schemas.openxmlformats.org/officeDocument/2006/relationships/image" Target="../media/image5.png"/><Relationship Id="rId7" Type="http://schemas.openxmlformats.org/officeDocument/2006/relationships/image" Target="../media/image105.png"/><Relationship Id="rId12" Type="http://schemas.openxmlformats.org/officeDocument/2006/relationships/image" Target="../media/image1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04.png"/><Relationship Id="rId11" Type="http://schemas.openxmlformats.org/officeDocument/2006/relationships/image" Target="../media/image109.png"/><Relationship Id="rId5" Type="http://schemas.openxmlformats.org/officeDocument/2006/relationships/image" Target="../media/image103.png"/><Relationship Id="rId15" Type="http://schemas.openxmlformats.org/officeDocument/2006/relationships/image" Target="../media/image112.png"/><Relationship Id="rId10" Type="http://schemas.openxmlformats.org/officeDocument/2006/relationships/image" Target="../media/image108.png"/><Relationship Id="rId4" Type="http://schemas.openxmlformats.org/officeDocument/2006/relationships/image" Target="../media/image102.png"/><Relationship Id="rId9" Type="http://schemas.openxmlformats.org/officeDocument/2006/relationships/image" Target="../media/image107.png"/><Relationship Id="rId14" Type="http://schemas.openxmlformats.org/officeDocument/2006/relationships/image" Target="../media/image1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habr.com/ru/companies/rosatom/articles/841842/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31.png"/><Relationship Id="rId5" Type="http://schemas.openxmlformats.org/officeDocument/2006/relationships/image" Target="../media/image34.png"/><Relationship Id="rId4" Type="http://schemas.openxmlformats.org/officeDocument/2006/relationships/image" Target="../media/image37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7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png"/><Relationship Id="rId3" Type="http://schemas.openxmlformats.org/officeDocument/2006/relationships/image" Target="../media/image113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11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11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0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1"/>
          <a:stretch/>
        </p:blipFill>
        <p:spPr>
          <a:xfrm>
            <a:off x="-85725" y="0"/>
            <a:ext cx="92472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1410586" y="1534950"/>
            <a:ext cx="723153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Bank Analyzer</a:t>
            </a:r>
            <a:endParaRPr lang="ru-RU" sz="4500" b="1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418995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759376" y="4138025"/>
            <a:ext cx="4266975" cy="447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Разработчик на </a:t>
            </a:r>
            <a:r>
              <a:rPr lang="en-US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Spring Framework</a:t>
            </a:r>
            <a:endParaRPr lang="ru-RU"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29027C0-6BEC-B8A4-30EB-1D9C8F4B922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9794" y="1524300"/>
            <a:ext cx="673768" cy="673768"/>
          </a:xfrm>
          <a:prstGeom prst="rect">
            <a:avLst/>
          </a:prstGeom>
        </p:spPr>
      </p:pic>
      <p:sp>
        <p:nvSpPr>
          <p:cNvPr id="6" name="Google Shape;147;p35">
            <a:extLst>
              <a:ext uri="{FF2B5EF4-FFF2-40B4-BE49-F238E27FC236}">
                <a16:creationId xmlns:a16="http://schemas.microsoft.com/office/drawing/2014/main" id="{5058AD7D-BE85-5F1B-E992-D3D80AE5726C}"/>
              </a:ext>
            </a:extLst>
          </p:cNvPr>
          <p:cNvSpPr txBox="1"/>
          <p:nvPr/>
        </p:nvSpPr>
        <p:spPr>
          <a:xfrm>
            <a:off x="630238" y="2209393"/>
            <a:ext cx="8267685" cy="600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Менеджер банковских операций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 idx="4294967295"/>
          </p:nvPr>
        </p:nvSpPr>
        <p:spPr>
          <a:xfrm>
            <a:off x="611188" y="1416050"/>
            <a:ext cx="7934325" cy="141605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 dirty="0">
                <a:solidFill>
                  <a:schemeClr val="tx1"/>
                </a:solidFill>
              </a:rPr>
              <a:t>Меня хорошо видно</a:t>
            </a:r>
            <a:endParaRPr sz="40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dirty="0">
                <a:solidFill>
                  <a:schemeClr val="tx1"/>
                </a:solidFill>
              </a:rPr>
              <a:t>&amp; слышно?</a:t>
            </a:r>
            <a:endParaRPr sz="4000" dirty="0">
              <a:solidFill>
                <a:schemeClr val="tx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361;p52">
            <a:extLst>
              <a:ext uri="{FF2B5EF4-FFF2-40B4-BE49-F238E27FC236}">
                <a16:creationId xmlns:a16="http://schemas.microsoft.com/office/drawing/2014/main" id="{1C6DF43D-3593-2D34-3E3B-DDCB8ACEE594}"/>
              </a:ext>
            </a:extLst>
          </p:cNvPr>
          <p:cNvSpPr/>
          <p:nvPr/>
        </p:nvSpPr>
        <p:spPr>
          <a:xfrm>
            <a:off x="431800" y="332573"/>
            <a:ext cx="8532813" cy="1070700"/>
          </a:xfrm>
          <a:prstGeom prst="roundRect">
            <a:avLst>
              <a:gd name="adj" fmla="val 16667"/>
            </a:avLst>
          </a:prstGeom>
          <a:solidFill>
            <a:srgbClr val="40299B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00" dirty="0">
              <a:solidFill>
                <a:srgbClr val="FFFFFF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4" name="Google Shape;374;p54">
            <a:extLst>
              <a:ext uri="{FF2B5EF4-FFF2-40B4-BE49-F238E27FC236}">
                <a16:creationId xmlns:a16="http://schemas.microsoft.com/office/drawing/2014/main" id="{95B39D5E-2111-3E5F-47B7-C5E158D083A7}"/>
              </a:ext>
            </a:extLst>
          </p:cNvPr>
          <p:cNvSpPr/>
          <p:nvPr/>
        </p:nvSpPr>
        <p:spPr>
          <a:xfrm>
            <a:off x="3563713" y="2461801"/>
            <a:ext cx="4237262" cy="1427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" name="Google Shape;163;p37"/>
          <p:cNvSpPr txBox="1">
            <a:spLocks noGrp="1"/>
          </p:cNvSpPr>
          <p:nvPr>
            <p:ph type="title" idx="4294967295"/>
          </p:nvPr>
        </p:nvSpPr>
        <p:spPr>
          <a:xfrm>
            <a:off x="622300" y="314325"/>
            <a:ext cx="8521700" cy="10001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>
                <a:solidFill>
                  <a:schemeClr val="tx1"/>
                </a:solidFill>
              </a:rPr>
              <a:t>Защита проекта</a:t>
            </a:r>
            <a:endParaRPr sz="30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000" dirty="0">
                <a:solidFill>
                  <a:schemeClr val="tx1"/>
                </a:solidFill>
              </a:rPr>
              <a:t>Тема: Менеджер банковских операций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bg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ru-RU" dirty="0">
              <a:solidFill>
                <a:schemeClr val="bg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bg1"/>
              </a:solidFill>
            </a:endParaRPr>
          </a:p>
        </p:txBody>
      </p:sp>
      <p:pic>
        <p:nvPicPr>
          <p:cNvPr id="164" name="Google Shape;164;p37"/>
          <p:cNvPicPr preferRelativeResize="0"/>
          <p:nvPr/>
        </p:nvPicPr>
        <p:blipFill rotWithShape="1">
          <a:blip r:embed="rId3">
            <a:alphaModFix/>
          </a:blip>
          <a:srcRect t="30931" b="13765"/>
          <a:stretch/>
        </p:blipFill>
        <p:spPr>
          <a:xfrm>
            <a:off x="630000" y="2409576"/>
            <a:ext cx="2349900" cy="23187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5" name="Google Shape;165;p37"/>
          <p:cNvSpPr txBox="1"/>
          <p:nvPr/>
        </p:nvSpPr>
        <p:spPr>
          <a:xfrm>
            <a:off x="3899475" y="27996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Семенов Василий</a:t>
            </a:r>
            <a:endParaRPr sz="23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899475" y="3175501"/>
            <a:ext cx="3193200" cy="424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Разработчик </a:t>
            </a:r>
            <a:r>
              <a:rPr lang="en-US" sz="13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ERP</a:t>
            </a:r>
            <a:r>
              <a:rPr lang="ru-RU" sz="13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 систем.</a:t>
            </a:r>
            <a:endParaRPr sz="1300" dirty="0">
              <a:solidFill>
                <a:schemeClr val="tx1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2D400C-1482-4A7B-1DD7-C441D5679EDA}"/>
              </a:ext>
            </a:extLst>
          </p:cNvPr>
          <p:cNvSpPr txBox="1"/>
          <p:nvPr/>
        </p:nvSpPr>
        <p:spPr>
          <a:xfrm>
            <a:off x="630000" y="1403273"/>
            <a:ext cx="8153638" cy="5820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ru-RU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Система анализа личных финансов на Spring Boot. Веб-приложение для учёта и анализа банковских операций. Помогает контролировать доходы, расходы и баланс.</a:t>
            </a:r>
            <a:endParaRPr lang="en-US" sz="14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1798092281"/>
              </p:ext>
            </p:extLst>
          </p:nvPr>
        </p:nvGraphicFramePr>
        <p:xfrm>
          <a:off x="952500" y="2382125"/>
          <a:ext cx="7239000" cy="214984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регистрацию и аутентификацию 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Обеспечить учёт транзакций с категориями и фильтрацией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Интегрироваться с ЦБ РФ для актуальных курсов валют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0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Построить 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дашборды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с аналитикой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02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Arial"/>
                        </a:rPr>
                        <a:t>5.</a:t>
                      </a:r>
                      <a:endParaRPr sz="1600" b="1" i="0" u="none" strike="noStrike" cap="none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Arial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MVP</a:t>
                      </a:r>
                      <a:r>
                        <a:rPr lang="ru-RU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для возможности расширения функционала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1628250" y="1386300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bg1">
                    <a:lumMod val="95000"/>
                    <a:lumOff val="5000"/>
                  </a:schemeClr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 проекта: </a:t>
            </a:r>
            <a:r>
              <a:rPr lang="ru-RU" sz="1500" dirty="0">
                <a:solidFill>
                  <a:schemeClr val="bg1">
                    <a:lumMod val="95000"/>
                    <a:lumOff val="5000"/>
                  </a:schemeClr>
                </a:solidFill>
                <a:latin typeface="Roboto Medium"/>
                <a:ea typeface="Roboto Medium"/>
                <a:cs typeface="Roboto Medium"/>
                <a:sym typeface="Roboto Medium"/>
              </a:rPr>
              <a:t>Создать инструмент для ведения личных финансов с автоматизацией и визуализацией (</a:t>
            </a:r>
            <a:r>
              <a:rPr lang="en-US" sz="1500" dirty="0">
                <a:solidFill>
                  <a:schemeClr val="bg1">
                    <a:lumMod val="95000"/>
                    <a:lumOff val="5000"/>
                  </a:schemeClr>
                </a:solidFill>
                <a:latin typeface="Roboto Medium"/>
                <a:ea typeface="Roboto Medium"/>
                <a:cs typeface="Roboto Medium"/>
                <a:sym typeface="Roboto Medium"/>
              </a:rPr>
              <a:t>MVP</a:t>
            </a:r>
            <a:r>
              <a:rPr lang="ru-RU" sz="1500" dirty="0">
                <a:solidFill>
                  <a:schemeClr val="bg1">
                    <a:lumMod val="95000"/>
                    <a:lumOff val="5000"/>
                  </a:schemeClr>
                </a:solidFill>
                <a:latin typeface="Roboto Medium"/>
                <a:ea typeface="Roboto Medium"/>
                <a:cs typeface="Roboto Medium"/>
                <a:sym typeface="Roboto Medium"/>
              </a:rPr>
              <a:t>). 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4381585-AB22-E4D5-D003-549C78C51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r>
              <a:rPr lang="ru-RU" sz="32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7A7873A-1496-021B-1420-3D77C8BA0CF9}"/>
              </a:ext>
            </a:extLst>
          </p:cNvPr>
          <p:cNvSpPr/>
          <p:nvPr/>
        </p:nvSpPr>
        <p:spPr>
          <a:xfrm>
            <a:off x="4324350" y="3209366"/>
            <a:ext cx="4640263" cy="160393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Google Shape;440;p62">
            <a:extLst>
              <a:ext uri="{FF2B5EF4-FFF2-40B4-BE49-F238E27FC236}">
                <a16:creationId xmlns:a16="http://schemas.microsoft.com/office/drawing/2014/main" id="{EACF5D33-E562-29FD-5C12-0270EBFD1914}"/>
              </a:ext>
            </a:extLst>
          </p:cNvPr>
          <p:cNvSpPr/>
          <p:nvPr/>
        </p:nvSpPr>
        <p:spPr>
          <a:xfrm>
            <a:off x="724750" y="1194674"/>
            <a:ext cx="3414600" cy="2668276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3248889271"/>
              </p:ext>
            </p:extLst>
          </p:nvPr>
        </p:nvGraphicFramePr>
        <p:xfrm>
          <a:off x="830675" y="1893000"/>
          <a:ext cx="3308675" cy="1524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Spring Boot 3.4.7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Spring Web, Security, Data JPA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Spring Integration, Validation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JWT,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MapStruct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Lombok 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Google Shape;443;p62">
            <a:extLst>
              <a:ext uri="{FF2B5EF4-FFF2-40B4-BE49-F238E27FC236}">
                <a16:creationId xmlns:a16="http://schemas.microsoft.com/office/drawing/2014/main" id="{1DA963FB-3F79-627B-F1EF-32E856C37830}"/>
              </a:ext>
            </a:extLst>
          </p:cNvPr>
          <p:cNvSpPr txBox="1"/>
          <p:nvPr/>
        </p:nvSpPr>
        <p:spPr>
          <a:xfrm>
            <a:off x="830675" y="1309799"/>
            <a:ext cx="14826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Backend:</a:t>
            </a:r>
            <a:endParaRPr sz="1700" b="1" dirty="0">
              <a:solidFill>
                <a:srgbClr val="9857F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417;p60">
            <a:extLst>
              <a:ext uri="{FF2B5EF4-FFF2-40B4-BE49-F238E27FC236}">
                <a16:creationId xmlns:a16="http://schemas.microsoft.com/office/drawing/2014/main" id="{CC5F3979-4941-88D0-A6CE-EE96E9AAE3DA}"/>
              </a:ext>
            </a:extLst>
          </p:cNvPr>
          <p:cNvSpPr txBox="1">
            <a:spLocks/>
          </p:cNvSpPr>
          <p:nvPr/>
        </p:nvSpPr>
        <p:spPr>
          <a:xfrm>
            <a:off x="4245275" y="1756199"/>
            <a:ext cx="4239900" cy="1334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>
              <a:lnSpc>
                <a:spcPct val="115000"/>
              </a:lnSpc>
            </a:pPr>
            <a:r>
              <a:rPr lang="ru-RU" sz="1300" b="0" dirty="0">
                <a:solidFill>
                  <a:schemeClr val="tx1"/>
                </a:solidFill>
              </a:rPr>
              <a:t>Использована экосистема Spring как отраслевой стандарт для создания надёжных, безопасных и легко расширяемых приложений, что гарантирует производительность, поддержку сообщества и простую интеграцию с любыми сервисами.</a:t>
            </a:r>
          </a:p>
        </p:txBody>
      </p:sp>
      <p:pic>
        <p:nvPicPr>
          <p:cNvPr id="2056" name="Picture 8" descr="Sample Spring Boot application. – Alex Bezverkhniy – Fullstack Developer  and Teacher. My interests - Programming, Coding, Java, JavaScript, Groovy,  HTML5, CSS, REST, Spring Boot, Docker, Best practices, Tutorials.">
            <a:extLst>
              <a:ext uri="{FF2B5EF4-FFF2-40B4-BE49-F238E27FC236}">
                <a16:creationId xmlns:a16="http://schemas.microsoft.com/office/drawing/2014/main" id="{C04A7DC9-95FD-8F7B-62C0-5ACF9CA591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1468" y="3357749"/>
            <a:ext cx="2486025" cy="1307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8164A226-97B5-1F87-F2D9-FACF49AF1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Технологический стек - </a:t>
            </a:r>
            <a:r>
              <a:rPr lang="en-US" dirty="0"/>
              <a:t>Backend</a:t>
            </a:r>
            <a:endParaRPr lang="ru-RU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A5CB301-52BE-D01F-4E28-0D99AE6C1123}"/>
              </a:ext>
            </a:extLst>
          </p:cNvPr>
          <p:cNvSpPr/>
          <p:nvPr/>
        </p:nvSpPr>
        <p:spPr>
          <a:xfrm>
            <a:off x="4324350" y="3209366"/>
            <a:ext cx="4640263" cy="160393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Google Shape;440;p62">
            <a:extLst>
              <a:ext uri="{FF2B5EF4-FFF2-40B4-BE49-F238E27FC236}">
                <a16:creationId xmlns:a16="http://schemas.microsoft.com/office/drawing/2014/main" id="{EACF5D33-E562-29FD-5C12-0270EBFD1914}"/>
              </a:ext>
            </a:extLst>
          </p:cNvPr>
          <p:cNvSpPr/>
          <p:nvPr/>
        </p:nvSpPr>
        <p:spPr>
          <a:xfrm>
            <a:off x="724750" y="1194674"/>
            <a:ext cx="3414600" cy="2668276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2439268104"/>
              </p:ext>
            </p:extLst>
          </p:nvPr>
        </p:nvGraphicFramePr>
        <p:xfrm>
          <a:off x="830675" y="1893000"/>
          <a:ext cx="3308675" cy="1524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PostgreSQL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Liquibase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JPA + Hibernate 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Test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ontainers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Google Shape;443;p62">
            <a:extLst>
              <a:ext uri="{FF2B5EF4-FFF2-40B4-BE49-F238E27FC236}">
                <a16:creationId xmlns:a16="http://schemas.microsoft.com/office/drawing/2014/main" id="{1DA963FB-3F79-627B-F1EF-32E856C37830}"/>
              </a:ext>
            </a:extLst>
          </p:cNvPr>
          <p:cNvSpPr txBox="1"/>
          <p:nvPr/>
        </p:nvSpPr>
        <p:spPr>
          <a:xfrm>
            <a:off x="830675" y="1309799"/>
            <a:ext cx="14826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Backend:</a:t>
            </a:r>
            <a:endParaRPr sz="1700" b="1" dirty="0">
              <a:solidFill>
                <a:srgbClr val="9857F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417;p60">
            <a:extLst>
              <a:ext uri="{FF2B5EF4-FFF2-40B4-BE49-F238E27FC236}">
                <a16:creationId xmlns:a16="http://schemas.microsoft.com/office/drawing/2014/main" id="{CC5F3979-4941-88D0-A6CE-EE96E9AAE3DA}"/>
              </a:ext>
            </a:extLst>
          </p:cNvPr>
          <p:cNvSpPr txBox="1">
            <a:spLocks/>
          </p:cNvSpPr>
          <p:nvPr/>
        </p:nvSpPr>
        <p:spPr>
          <a:xfrm>
            <a:off x="4245275" y="1756199"/>
            <a:ext cx="4239900" cy="1334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>
              <a:lnSpc>
                <a:spcPct val="115000"/>
              </a:lnSpc>
            </a:pPr>
            <a:r>
              <a:rPr lang="ru-RU" sz="1300" b="0" dirty="0"/>
              <a:t>Обеспечен контроль над данными: от быстрой разработки до стабильного продакшена на </a:t>
            </a:r>
            <a:r>
              <a:rPr lang="ru-RU" sz="1300" b="0" dirty="0" err="1"/>
              <a:t>PostgreSQL</a:t>
            </a:r>
            <a:r>
              <a:rPr lang="ru-RU" sz="1300" b="0" dirty="0"/>
              <a:t>, с гарантией идентичности схем через </a:t>
            </a:r>
            <a:r>
              <a:rPr lang="ru-RU" sz="1300" b="0" dirty="0" err="1"/>
              <a:t>Liquibase</a:t>
            </a:r>
            <a:r>
              <a:rPr lang="ru-RU" sz="1300" b="0" dirty="0"/>
              <a:t>, и тестирование через Тест-контейнеры </a:t>
            </a:r>
            <a:r>
              <a:rPr lang="ru-RU" sz="1300" b="0" dirty="0" err="1"/>
              <a:t>PostgreSQL</a:t>
            </a:r>
            <a:r>
              <a:rPr lang="ru-RU" sz="1300" b="0" dirty="0"/>
              <a:t> для поддержания единства технологий.</a:t>
            </a:r>
          </a:p>
        </p:txBody>
      </p:sp>
      <p:pic>
        <p:nvPicPr>
          <p:cNvPr id="1026" name="Picture 2" descr="PostgreSQL — Википедия">
            <a:extLst>
              <a:ext uri="{FF2B5EF4-FFF2-40B4-BE49-F238E27FC236}">
                <a16:creationId xmlns:a16="http://schemas.microsoft.com/office/drawing/2014/main" id="{6EA899DF-AEC8-57FE-A5A7-8287347940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425" y="3416123"/>
            <a:ext cx="1052513" cy="108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eo4j plugin for Liquibase - Neo4j Labs">
            <a:extLst>
              <a:ext uri="{FF2B5EF4-FFF2-40B4-BE49-F238E27FC236}">
                <a16:creationId xmlns:a16="http://schemas.microsoft.com/office/drawing/2014/main" id="{B5147D6B-624E-11D0-B057-AD627DD84E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8324" y="4053935"/>
            <a:ext cx="1151565" cy="759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Тестирование сервисов на Spring с Testcontainers - Уголок сельского джависта">
            <a:extLst>
              <a:ext uri="{FF2B5EF4-FFF2-40B4-BE49-F238E27FC236}">
                <a16:creationId xmlns:a16="http://schemas.microsoft.com/office/drawing/2014/main" id="{FCC7B5C2-CF22-5662-FA61-6968BCB27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5559" y="3209366"/>
            <a:ext cx="938659" cy="938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Hibernate (@Hibernate) / Posts / X">
            <a:extLst>
              <a:ext uri="{FF2B5EF4-FFF2-40B4-BE49-F238E27FC236}">
                <a16:creationId xmlns:a16="http://schemas.microsoft.com/office/drawing/2014/main" id="{F72AF032-0646-2011-29D7-FF6AEA632A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78" t="14437" r="11458" b="11782"/>
          <a:stretch/>
        </p:blipFill>
        <p:spPr bwMode="auto">
          <a:xfrm>
            <a:off x="5758941" y="3753065"/>
            <a:ext cx="938659" cy="936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15259E7C-3B6E-832B-F46F-B34103154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Данные и Миграция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48738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B7B9BC1C-65CD-1EDC-3A6B-C830CC17FF8A}"/>
              </a:ext>
            </a:extLst>
          </p:cNvPr>
          <p:cNvSpPr/>
          <p:nvPr/>
        </p:nvSpPr>
        <p:spPr>
          <a:xfrm>
            <a:off x="4324350" y="3209366"/>
            <a:ext cx="4640263" cy="160393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Google Shape;440;p62">
            <a:extLst>
              <a:ext uri="{FF2B5EF4-FFF2-40B4-BE49-F238E27FC236}">
                <a16:creationId xmlns:a16="http://schemas.microsoft.com/office/drawing/2014/main" id="{91CE620F-9FFA-521D-148D-CB2AE675DB6E}"/>
              </a:ext>
            </a:extLst>
          </p:cNvPr>
          <p:cNvSpPr/>
          <p:nvPr/>
        </p:nvSpPr>
        <p:spPr>
          <a:xfrm>
            <a:off x="724750" y="991425"/>
            <a:ext cx="3414600" cy="4037776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6" name="Google Shape;199;p40">
            <a:extLst>
              <a:ext uri="{FF2B5EF4-FFF2-40B4-BE49-F238E27FC236}">
                <a16:creationId xmlns:a16="http://schemas.microsoft.com/office/drawing/2014/main" id="{90EB3EF1-EF1F-E81D-7F31-C7ECA2B640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68575730"/>
              </p:ext>
            </p:extLst>
          </p:nvPr>
        </p:nvGraphicFramePr>
        <p:xfrm>
          <a:off x="830675" y="1421876"/>
          <a:ext cx="3308675" cy="762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Thymeleaf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HTML5, CSS3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Bootstrap 5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Google Shape;443;p62">
            <a:extLst>
              <a:ext uri="{FF2B5EF4-FFF2-40B4-BE49-F238E27FC236}">
                <a16:creationId xmlns:a16="http://schemas.microsoft.com/office/drawing/2014/main" id="{47422C43-18EC-EF53-DEC9-25429DFE991D}"/>
              </a:ext>
            </a:extLst>
          </p:cNvPr>
          <p:cNvSpPr txBox="1"/>
          <p:nvPr/>
        </p:nvSpPr>
        <p:spPr>
          <a:xfrm>
            <a:off x="830675" y="991425"/>
            <a:ext cx="14826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Frontend:</a:t>
            </a:r>
            <a:endParaRPr sz="1700" b="1" dirty="0">
              <a:solidFill>
                <a:srgbClr val="9857F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" name="Google Shape;199;p40">
            <a:extLst>
              <a:ext uri="{FF2B5EF4-FFF2-40B4-BE49-F238E27FC236}">
                <a16:creationId xmlns:a16="http://schemas.microsoft.com/office/drawing/2014/main" id="{7585D581-E7AD-A702-4CDE-64E2D322EC2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71967040"/>
              </p:ext>
            </p:extLst>
          </p:nvPr>
        </p:nvGraphicFramePr>
        <p:xfrm>
          <a:off x="830675" y="2594727"/>
          <a:ext cx="3308675" cy="762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REST API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Swagger UI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Google Shape;443;p62">
            <a:extLst>
              <a:ext uri="{FF2B5EF4-FFF2-40B4-BE49-F238E27FC236}">
                <a16:creationId xmlns:a16="http://schemas.microsoft.com/office/drawing/2014/main" id="{6216EC0A-A22C-E85E-3AE5-85D56B575EBB}"/>
              </a:ext>
            </a:extLst>
          </p:cNvPr>
          <p:cNvSpPr txBox="1"/>
          <p:nvPr/>
        </p:nvSpPr>
        <p:spPr>
          <a:xfrm>
            <a:off x="830675" y="2164276"/>
            <a:ext cx="3007900" cy="4462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API &amp; </a:t>
            </a:r>
            <a:r>
              <a:rPr lang="ru-RU" sz="17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Документация:</a:t>
            </a:r>
            <a:endParaRPr lang="en-US" sz="1700" b="1" dirty="0">
              <a:solidFill>
                <a:srgbClr val="9857F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" name="Google Shape;199;p40">
            <a:extLst>
              <a:ext uri="{FF2B5EF4-FFF2-40B4-BE49-F238E27FC236}">
                <a16:creationId xmlns:a16="http://schemas.microsoft.com/office/drawing/2014/main" id="{2E6F462A-1AA8-12DF-D49A-8EECE4F38E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351315"/>
              </p:ext>
            </p:extLst>
          </p:nvPr>
        </p:nvGraphicFramePr>
        <p:xfrm>
          <a:off x="830675" y="3755501"/>
          <a:ext cx="3308675" cy="1143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Maven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Checkstyle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+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Actions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920275"/>
                  </a:ext>
                </a:extLst>
              </a:tr>
            </a:tbl>
          </a:graphicData>
        </a:graphic>
      </p:graphicFrame>
      <p:sp>
        <p:nvSpPr>
          <p:cNvPr id="11" name="Google Shape;443;p62">
            <a:extLst>
              <a:ext uri="{FF2B5EF4-FFF2-40B4-BE49-F238E27FC236}">
                <a16:creationId xmlns:a16="http://schemas.microsoft.com/office/drawing/2014/main" id="{D3449711-553E-3DE2-79C6-2F48E723D0AB}"/>
              </a:ext>
            </a:extLst>
          </p:cNvPr>
          <p:cNvSpPr txBox="1"/>
          <p:nvPr/>
        </p:nvSpPr>
        <p:spPr>
          <a:xfrm>
            <a:off x="830675" y="3325050"/>
            <a:ext cx="3007900" cy="4462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Инструменты &amp; Качество:</a:t>
            </a:r>
            <a:endParaRPr lang="en-US" sz="1700" b="1" dirty="0">
              <a:solidFill>
                <a:srgbClr val="9857F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417;p60">
            <a:extLst>
              <a:ext uri="{FF2B5EF4-FFF2-40B4-BE49-F238E27FC236}">
                <a16:creationId xmlns:a16="http://schemas.microsoft.com/office/drawing/2014/main" id="{9ED7E8F9-2750-DC29-191F-BB8AC46A6CC2}"/>
              </a:ext>
            </a:extLst>
          </p:cNvPr>
          <p:cNvSpPr txBox="1">
            <a:spLocks/>
          </p:cNvSpPr>
          <p:nvPr/>
        </p:nvSpPr>
        <p:spPr>
          <a:xfrm>
            <a:off x="4240737" y="1214625"/>
            <a:ext cx="4239900" cy="2025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>
              <a:lnSpc>
                <a:spcPct val="115000"/>
              </a:lnSpc>
            </a:pPr>
            <a:r>
              <a:rPr lang="ru-RU" sz="1300" b="0" dirty="0" err="1">
                <a:cs typeface="Reem Kufi" pitchFamily="2" charset="-78"/>
              </a:rPr>
              <a:t>Frontend</a:t>
            </a:r>
            <a:r>
              <a:rPr lang="ru-RU" sz="1300" b="0" dirty="0">
                <a:cs typeface="Reem Kufi" pitchFamily="2" charset="-78"/>
              </a:rPr>
              <a:t> как "тонкий клиент" на </a:t>
            </a:r>
            <a:r>
              <a:rPr lang="ru-RU" sz="1300" b="0" dirty="0" err="1">
                <a:cs typeface="Reem Kufi" pitchFamily="2" charset="-78"/>
              </a:rPr>
              <a:t>Thymeleaf</a:t>
            </a:r>
            <a:r>
              <a:rPr lang="ru-RU" sz="1300" b="0" dirty="0">
                <a:cs typeface="Reem Kufi" pitchFamily="2" charset="-78"/>
              </a:rPr>
              <a:t>:</a:t>
            </a:r>
          </a:p>
          <a:p>
            <a:pPr>
              <a:lnSpc>
                <a:spcPct val="115000"/>
              </a:lnSpc>
            </a:pPr>
            <a:r>
              <a:rPr lang="ru-RU" sz="1300" b="0" dirty="0">
                <a:cs typeface="Reem Kufi" pitchFamily="2" charset="-78"/>
              </a:rPr>
              <a:t>- Быстрая разработка</a:t>
            </a:r>
          </a:p>
          <a:p>
            <a:pPr>
              <a:lnSpc>
                <a:spcPct val="115000"/>
              </a:lnSpc>
            </a:pPr>
            <a:r>
              <a:rPr lang="ru-RU" sz="1300" b="0" dirty="0">
                <a:cs typeface="Reem Kufi" pitchFamily="2" charset="-78"/>
              </a:rPr>
              <a:t>- Единая кодовая база</a:t>
            </a:r>
          </a:p>
          <a:p>
            <a:pPr>
              <a:lnSpc>
                <a:spcPct val="115000"/>
              </a:lnSpc>
            </a:pPr>
            <a:endParaRPr lang="en-US" sz="1300" b="0" dirty="0">
              <a:latin typeface="Reem Kufi" pitchFamily="2" charset="-78"/>
              <a:cs typeface="Reem Kufi" pitchFamily="2" charset="-78"/>
            </a:endParaRPr>
          </a:p>
          <a:p>
            <a:pPr>
              <a:lnSpc>
                <a:spcPct val="115000"/>
              </a:lnSpc>
            </a:pPr>
            <a:r>
              <a:rPr lang="ru-RU" sz="1300" b="0" dirty="0">
                <a:cs typeface="Reem Kufi" pitchFamily="2" charset="-78"/>
              </a:rPr>
              <a:t>API + </a:t>
            </a:r>
            <a:r>
              <a:rPr lang="ru-RU" sz="1300" b="0" dirty="0" err="1">
                <a:cs typeface="Reem Kufi" pitchFamily="2" charset="-78"/>
              </a:rPr>
              <a:t>Swagger</a:t>
            </a:r>
            <a:r>
              <a:rPr lang="ru-RU" sz="1300" b="0" dirty="0">
                <a:cs typeface="Reem Kufi" pitchFamily="2" charset="-78"/>
              </a:rPr>
              <a:t> для готовности к интеграциям</a:t>
            </a:r>
          </a:p>
          <a:p>
            <a:pPr>
              <a:lnSpc>
                <a:spcPct val="115000"/>
              </a:lnSpc>
            </a:pPr>
            <a:endParaRPr lang="ru-RU" sz="1300" b="0" dirty="0">
              <a:cs typeface="Reem Kufi" pitchFamily="2" charset="-78"/>
            </a:endParaRPr>
          </a:p>
          <a:p>
            <a:pPr>
              <a:lnSpc>
                <a:spcPct val="115000"/>
              </a:lnSpc>
            </a:pPr>
            <a:r>
              <a:rPr lang="ru-RU" sz="1300" b="0" dirty="0" err="1">
                <a:cs typeface="Reem Kufi" pitchFamily="2" charset="-78"/>
              </a:rPr>
              <a:t>Maven</a:t>
            </a:r>
            <a:r>
              <a:rPr lang="ru-RU" sz="1300" b="0" dirty="0">
                <a:cs typeface="Reem Kufi" pitchFamily="2" charset="-78"/>
              </a:rPr>
              <a:t> + </a:t>
            </a:r>
            <a:r>
              <a:rPr lang="ru-RU" sz="1300" b="0" dirty="0" err="1">
                <a:cs typeface="Reem Kufi" pitchFamily="2" charset="-78"/>
              </a:rPr>
              <a:t>Checkstyle</a:t>
            </a:r>
            <a:r>
              <a:rPr lang="ru-RU" sz="1300" b="0" dirty="0">
                <a:cs typeface="Reem Kufi" pitchFamily="2" charset="-78"/>
              </a:rPr>
              <a:t> элементы развертывания и поддержки качество кода</a:t>
            </a:r>
          </a:p>
        </p:txBody>
      </p:sp>
      <p:pic>
        <p:nvPicPr>
          <p:cNvPr id="3076" name="Picture 4" descr="Движок шаблонов Thymeleaf - Уголок сельского джависта">
            <a:extLst>
              <a:ext uri="{FF2B5EF4-FFF2-40B4-BE49-F238E27FC236}">
                <a16:creationId xmlns:a16="http://schemas.microsoft.com/office/drawing/2014/main" id="{A38825FB-400A-5447-2154-4D57B76C2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6094" y="4088494"/>
            <a:ext cx="533400" cy="535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Рекомендации по бренду · Bootstrap v5.0">
            <a:extLst>
              <a:ext uri="{FF2B5EF4-FFF2-40B4-BE49-F238E27FC236}">
                <a16:creationId xmlns:a16="http://schemas.microsoft.com/office/drawing/2014/main" id="{7A31F3FA-3AED-DFEB-43FE-71EA042217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9827" y="3375326"/>
            <a:ext cx="830295" cy="6589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GitHub - swagger-api/swagger-editor: Swagger Editor">
            <a:extLst>
              <a:ext uri="{FF2B5EF4-FFF2-40B4-BE49-F238E27FC236}">
                <a16:creationId xmlns:a16="http://schemas.microsoft.com/office/drawing/2014/main" id="{519CBDDE-56C5-E165-B24D-2D26AF571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787" y="3247611"/>
            <a:ext cx="535781" cy="535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>
            <a:extLst>
              <a:ext uri="{FF2B5EF4-FFF2-40B4-BE49-F238E27FC236}">
                <a16:creationId xmlns:a16="http://schemas.microsoft.com/office/drawing/2014/main" id="{F0C9765F-9F35-9C3F-B278-CE91B4A74D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7671" y="3271977"/>
            <a:ext cx="1452563" cy="367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Git · GitHub">
            <a:extLst>
              <a:ext uri="{FF2B5EF4-FFF2-40B4-BE49-F238E27FC236}">
                <a16:creationId xmlns:a16="http://schemas.microsoft.com/office/drawing/2014/main" id="{DA51830A-3B5D-68D8-9C7C-1920D3387E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4481" y="3897265"/>
            <a:ext cx="859472" cy="859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 descr="Быстрый способ уменьшения размера виртуального диска Docker на Windows /  Хабр">
            <a:extLst>
              <a:ext uri="{FF2B5EF4-FFF2-40B4-BE49-F238E27FC236}">
                <a16:creationId xmlns:a16="http://schemas.microsoft.com/office/drawing/2014/main" id="{7B863077-1800-DA33-BA62-18BBD499A0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9639" y="3754897"/>
            <a:ext cx="968116" cy="828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CE43B63-5756-83DF-5E4A-E20FEFF1D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Frontend,</a:t>
            </a:r>
            <a:r>
              <a:rPr lang="ru-RU" sz="3200" dirty="0"/>
              <a:t> </a:t>
            </a:r>
            <a:r>
              <a:rPr lang="en-US" sz="3200" dirty="0"/>
              <a:t>API </a:t>
            </a:r>
            <a:r>
              <a:rPr lang="ru-RU" sz="3200" dirty="0"/>
              <a:t>и Инструменты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18704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C436327-7356-70A8-151C-46D3966F8FBD}"/>
              </a:ext>
            </a:extLst>
          </p:cNvPr>
          <p:cNvSpPr/>
          <p:nvPr/>
        </p:nvSpPr>
        <p:spPr>
          <a:xfrm>
            <a:off x="914400" y="1209675"/>
            <a:ext cx="2105622" cy="2162176"/>
          </a:xfrm>
          <a:prstGeom prst="rect">
            <a:avLst/>
          </a:prstGeom>
          <a:solidFill>
            <a:srgbClr val="282C34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Google Shape;507;p67">
            <a:extLst>
              <a:ext uri="{FF2B5EF4-FFF2-40B4-BE49-F238E27FC236}">
                <a16:creationId xmlns:a16="http://schemas.microsoft.com/office/drawing/2014/main" id="{2D8F2597-9FC0-95C1-E5C0-AA238F7F09D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0026" y="136332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3" name="Google Shape;508;p67">
            <a:extLst>
              <a:ext uri="{FF2B5EF4-FFF2-40B4-BE49-F238E27FC236}">
                <a16:creationId xmlns:a16="http://schemas.microsoft.com/office/drawing/2014/main" id="{ED384EAE-7A73-4969-FC75-2E98DAD150C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95490" y="190231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" name="Google Shape;509;p67">
            <a:extLst>
              <a:ext uri="{FF2B5EF4-FFF2-40B4-BE49-F238E27FC236}">
                <a16:creationId xmlns:a16="http://schemas.microsoft.com/office/drawing/2014/main" id="{94E6C49E-C540-A822-3CDF-CACDD23AB16E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54816" y="190231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" name="Google Shape;510;p67">
            <a:extLst>
              <a:ext uri="{FF2B5EF4-FFF2-40B4-BE49-F238E27FC236}">
                <a16:creationId xmlns:a16="http://schemas.microsoft.com/office/drawing/2014/main" id="{751E652D-0142-F42E-7749-DAE1C48BA959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774202" y="190231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6" name="Google Shape;512;p67">
            <a:extLst>
              <a:ext uri="{FF2B5EF4-FFF2-40B4-BE49-F238E27FC236}">
                <a16:creationId xmlns:a16="http://schemas.microsoft.com/office/drawing/2014/main" id="{DE9444FC-9DFE-7F14-723E-74A433E11FB7}"/>
              </a:ext>
            </a:extLst>
          </p:cNvPr>
          <p:cNvSpPr txBox="1"/>
          <p:nvPr/>
        </p:nvSpPr>
        <p:spPr>
          <a:xfrm>
            <a:off x="1470181" y="1486815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Controller</a:t>
            </a:r>
            <a:endParaRPr sz="1500" b="1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" name="Google Shape;513;p67">
            <a:extLst>
              <a:ext uri="{FF2B5EF4-FFF2-40B4-BE49-F238E27FC236}">
                <a16:creationId xmlns:a16="http://schemas.microsoft.com/office/drawing/2014/main" id="{41CBE9B9-548A-1C80-EBBA-4F95F4EEC909}"/>
              </a:ext>
            </a:extLst>
          </p:cNvPr>
          <p:cNvSpPr txBox="1"/>
          <p:nvPr/>
        </p:nvSpPr>
        <p:spPr>
          <a:xfrm>
            <a:off x="5324930" y="2072189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Service</a:t>
            </a:r>
            <a:endParaRPr sz="1500" b="1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514;p67">
            <a:extLst>
              <a:ext uri="{FF2B5EF4-FFF2-40B4-BE49-F238E27FC236}">
                <a16:creationId xmlns:a16="http://schemas.microsoft.com/office/drawing/2014/main" id="{051E1B7D-63D6-07E1-CF1F-3456B67970DC}"/>
              </a:ext>
            </a:extLst>
          </p:cNvPr>
          <p:cNvSpPr txBox="1"/>
          <p:nvPr/>
        </p:nvSpPr>
        <p:spPr>
          <a:xfrm>
            <a:off x="3402838" y="1902315"/>
            <a:ext cx="1239076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DTO + </a:t>
            </a:r>
            <a:r>
              <a:rPr lang="en-US" sz="1500" b="1" dirty="0" err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MapStruct</a:t>
            </a:r>
            <a:endParaRPr sz="1500" b="1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515;p67">
            <a:extLst>
              <a:ext uri="{FF2B5EF4-FFF2-40B4-BE49-F238E27FC236}">
                <a16:creationId xmlns:a16="http://schemas.microsoft.com/office/drawing/2014/main" id="{ECF3C8A1-9710-5F20-5922-0F1484358934}"/>
              </a:ext>
            </a:extLst>
          </p:cNvPr>
          <p:cNvSpPr txBox="1"/>
          <p:nvPr/>
        </p:nvSpPr>
        <p:spPr>
          <a:xfrm>
            <a:off x="7064357" y="2025806"/>
            <a:ext cx="1154294" cy="41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Repository</a:t>
            </a:r>
            <a:endParaRPr sz="1500" b="1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" name="Google Shape;507;p67">
            <a:extLst>
              <a:ext uri="{FF2B5EF4-FFF2-40B4-BE49-F238E27FC236}">
                <a16:creationId xmlns:a16="http://schemas.microsoft.com/office/drawing/2014/main" id="{CA9F79E4-2FDD-6414-5C15-D0519DD492B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0026" y="2441274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11" name="Google Shape;512;p67">
            <a:extLst>
              <a:ext uri="{FF2B5EF4-FFF2-40B4-BE49-F238E27FC236}">
                <a16:creationId xmlns:a16="http://schemas.microsoft.com/office/drawing/2014/main" id="{EA1E014C-D7EE-1FB0-C833-9ED5B2398641}"/>
              </a:ext>
            </a:extLst>
          </p:cNvPr>
          <p:cNvSpPr txBox="1"/>
          <p:nvPr/>
        </p:nvSpPr>
        <p:spPr>
          <a:xfrm>
            <a:off x="1459619" y="2619464"/>
            <a:ext cx="1353055" cy="41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Integration</a:t>
            </a:r>
            <a:endParaRPr sz="1500" b="1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463;p64">
            <a:extLst>
              <a:ext uri="{FF2B5EF4-FFF2-40B4-BE49-F238E27FC236}">
                <a16:creationId xmlns:a16="http://schemas.microsoft.com/office/drawing/2014/main" id="{A51CBFE9-442D-B246-07C8-8AE6E30534E6}"/>
              </a:ext>
            </a:extLst>
          </p:cNvPr>
          <p:cNvSpPr txBox="1"/>
          <p:nvPr/>
        </p:nvSpPr>
        <p:spPr>
          <a:xfrm>
            <a:off x="3285648" y="3034932"/>
            <a:ext cx="5053500" cy="1918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Монолит — оптимальный выбор для MVP.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Архитектура обусловлена:</a:t>
            </a: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Четким разделение ответственности между слоями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;</a:t>
            </a: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Легкостью тестирования каждого компонента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;</a:t>
            </a: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Простотой разработки и развёртывания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;</a:t>
            </a: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Готовности к декомпозиции при росте нагрузки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" name="Заголовок 18">
            <a:extLst>
              <a:ext uri="{FF2B5EF4-FFF2-40B4-BE49-F238E27FC236}">
                <a16:creationId xmlns:a16="http://schemas.microsoft.com/office/drawing/2014/main" id="{5D8562BE-082F-BF21-DF44-EFD191F8B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Архитектура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10602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2F7BD18-7E1B-697C-0A13-183C7CFEAE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5050" b="28694"/>
          <a:stretch/>
        </p:blipFill>
        <p:spPr>
          <a:xfrm>
            <a:off x="1771649" y="983602"/>
            <a:ext cx="5819775" cy="4159898"/>
          </a:xfrm>
          <a:prstGeom prst="rect">
            <a:avLst/>
          </a:prstGeom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D685B40-FE46-09A1-68D5-9EDDEECFE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Базы данных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Заголовок 32">
            <a:extLst>
              <a:ext uri="{FF2B5EF4-FFF2-40B4-BE49-F238E27FC236}">
                <a16:creationId xmlns:a16="http://schemas.microsoft.com/office/drawing/2014/main" id="{93EDDF68-E0E9-6F85-1586-BF6FD3EF6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Базовая сущность</a:t>
            </a:r>
            <a:endParaRPr lang="ru-RU" dirty="0"/>
          </a:p>
        </p:txBody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66EAC12A-75A2-A24C-23CD-6932771ED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979" y="1126912"/>
            <a:ext cx="6006042" cy="401658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8E2F0294-3338-80C2-674E-2A34DF2C50E3}"/>
              </a:ext>
            </a:extLst>
          </p:cNvPr>
          <p:cNvSpPr/>
          <p:nvPr/>
        </p:nvSpPr>
        <p:spPr>
          <a:xfrm>
            <a:off x="1801390" y="1771650"/>
            <a:ext cx="3399260" cy="552450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A46431D5-A490-B59A-A50A-5996FE0C264B}"/>
              </a:ext>
            </a:extLst>
          </p:cNvPr>
          <p:cNvSpPr/>
          <p:nvPr/>
        </p:nvSpPr>
        <p:spPr>
          <a:xfrm>
            <a:off x="1801390" y="2416387"/>
            <a:ext cx="4008860" cy="104118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7DF6DC51-DB30-10FB-6FE8-D258A4BCD7C8}"/>
              </a:ext>
            </a:extLst>
          </p:cNvPr>
          <p:cNvSpPr/>
          <p:nvPr/>
        </p:nvSpPr>
        <p:spPr>
          <a:xfrm>
            <a:off x="1801390" y="3549861"/>
            <a:ext cx="5704310" cy="104118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0903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D4D3589E-1278-611B-90E6-0BC17A1B3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440" y="1019812"/>
            <a:ext cx="5071868" cy="4123688"/>
          </a:xfrm>
          <a:prstGeom prst="rect">
            <a:avLst/>
          </a:prstGeom>
        </p:spPr>
      </p:pic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9090CA4-EFEB-D163-A39A-2A10FA4943BE}"/>
              </a:ext>
            </a:extLst>
          </p:cNvPr>
          <p:cNvSpPr/>
          <p:nvPr/>
        </p:nvSpPr>
        <p:spPr>
          <a:xfrm>
            <a:off x="296440" y="998212"/>
            <a:ext cx="2254862" cy="1362075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6481C8D-33A2-B52C-C0ED-8810B9BDC4F1}"/>
              </a:ext>
            </a:extLst>
          </p:cNvPr>
          <p:cNvSpPr/>
          <p:nvPr/>
        </p:nvSpPr>
        <p:spPr>
          <a:xfrm>
            <a:off x="296440" y="2360288"/>
            <a:ext cx="3358597" cy="925838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B9EC498-5EFD-ABB7-9E34-AE3B2E81EE96}"/>
              </a:ext>
            </a:extLst>
          </p:cNvPr>
          <p:cNvSpPr/>
          <p:nvPr/>
        </p:nvSpPr>
        <p:spPr>
          <a:xfrm>
            <a:off x="614451" y="4331132"/>
            <a:ext cx="4669361" cy="593293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4CA162EC-CC04-46F3-2CF6-FD3A844D7B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097" y="1019812"/>
            <a:ext cx="3584658" cy="4123688"/>
          </a:xfrm>
          <a:prstGeom prst="rect">
            <a:avLst/>
          </a:prstGeom>
        </p:spPr>
      </p:pic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0E82EE67-EFC4-8CC2-51A5-48867DAC0D4F}"/>
              </a:ext>
            </a:extLst>
          </p:cNvPr>
          <p:cNvSpPr/>
          <p:nvPr/>
        </p:nvSpPr>
        <p:spPr>
          <a:xfrm>
            <a:off x="5810000" y="3595244"/>
            <a:ext cx="3211150" cy="95121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Заголовок 32">
            <a:extLst>
              <a:ext uri="{FF2B5EF4-FFF2-40B4-BE49-F238E27FC236}">
                <a16:creationId xmlns:a16="http://schemas.microsoft.com/office/drawing/2014/main" id="{93EDDF68-E0E9-6F85-1586-BF6FD3EF6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Сущность </a:t>
            </a:r>
            <a:r>
              <a:rPr lang="en-US" sz="3200" dirty="0" err="1"/>
              <a:t>BankAccount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38250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dirty="0"/>
              <a:t>DTO + Mappers</a:t>
            </a:r>
            <a:endParaRPr sz="3000" dirty="0"/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D4D3589E-1278-611B-90E6-0BC17A1B3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850" y="878674"/>
            <a:ext cx="5245458" cy="4264826"/>
          </a:xfrm>
          <a:prstGeom prst="rect">
            <a:avLst/>
          </a:prstGeom>
        </p:spPr>
      </p:pic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9090CA4-EFEB-D163-A39A-2A10FA4943BE}"/>
              </a:ext>
            </a:extLst>
          </p:cNvPr>
          <p:cNvSpPr/>
          <p:nvPr/>
        </p:nvSpPr>
        <p:spPr>
          <a:xfrm>
            <a:off x="122850" y="878674"/>
            <a:ext cx="2332037" cy="1569251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6481C8D-33A2-B52C-C0ED-8810B9BDC4F1}"/>
              </a:ext>
            </a:extLst>
          </p:cNvPr>
          <p:cNvSpPr/>
          <p:nvPr/>
        </p:nvSpPr>
        <p:spPr>
          <a:xfrm>
            <a:off x="768962" y="2471862"/>
            <a:ext cx="2886075" cy="814264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B9EC498-5EFD-ABB7-9E34-AE3B2E81EE96}"/>
              </a:ext>
            </a:extLst>
          </p:cNvPr>
          <p:cNvSpPr/>
          <p:nvPr/>
        </p:nvSpPr>
        <p:spPr>
          <a:xfrm>
            <a:off x="454637" y="4240890"/>
            <a:ext cx="4829175" cy="683535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4CA162EC-CC04-46F3-2CF6-FD3A844D7B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6408" y="878674"/>
            <a:ext cx="3707347" cy="4264826"/>
          </a:xfrm>
          <a:prstGeom prst="rect">
            <a:avLst/>
          </a:prstGeom>
        </p:spPr>
      </p:pic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0E82EE67-EFC4-8CC2-51A5-48867DAC0D4F}"/>
              </a:ext>
            </a:extLst>
          </p:cNvPr>
          <p:cNvSpPr/>
          <p:nvPr/>
        </p:nvSpPr>
        <p:spPr>
          <a:xfrm>
            <a:off x="5700095" y="3450562"/>
            <a:ext cx="3321055" cy="1095900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1320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Что получилось</a:t>
            </a:r>
            <a:endParaRPr sz="3000" dirty="0"/>
          </a:p>
        </p:txBody>
      </p:sp>
      <p:grpSp>
        <p:nvGrpSpPr>
          <p:cNvPr id="205" name="Google Shape;205;p41"/>
          <p:cNvGrpSpPr/>
          <p:nvPr/>
        </p:nvGrpSpPr>
        <p:grpSpPr>
          <a:xfrm>
            <a:off x="3680645" y="990703"/>
            <a:ext cx="5151638" cy="2178707"/>
            <a:chOff x="3450575" y="752750"/>
            <a:chExt cx="5006451" cy="2031050"/>
          </a:xfrm>
        </p:grpSpPr>
        <p:pic>
          <p:nvPicPr>
            <p:cNvPr id="206" name="Google Shape;206;p4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450575" y="752750"/>
              <a:ext cx="5006451" cy="2031050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207" name="Google Shape;207;p41"/>
            <p:cNvSpPr txBox="1"/>
            <p:nvPr/>
          </p:nvSpPr>
          <p:spPr>
            <a:xfrm>
              <a:off x="4199565" y="956335"/>
              <a:ext cx="4065000" cy="154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200" b="1">
                  <a:latin typeface="Roboto"/>
                  <a:ea typeface="Roboto"/>
                  <a:cs typeface="Roboto"/>
                  <a:sym typeface="Roboto"/>
                </a:rPr>
                <a:t>Разместите на слайде(-ах) </a:t>
              </a:r>
              <a:r>
                <a:rPr lang="ru" sz="1200" b="1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артефакты проекта: </a:t>
              </a:r>
              <a:endParaRPr sz="12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30480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код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30480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схемы (архитектура, БД)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30480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ссылки на файлы в репозитории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30480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скрины экранов приложения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30480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фото или видео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Либо продемонстрируйте проект отдельно.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784199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/>
              <a:t>Выводы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213" name="Google Shape;213;p42"/>
          <p:cNvGraphicFramePr/>
          <p:nvPr/>
        </p:nvGraphicFramePr>
        <p:xfrm>
          <a:off x="952500" y="1718400"/>
          <a:ext cx="7239000" cy="1775848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14" name="Google Shape;214;p42"/>
          <p:cNvGrpSpPr/>
          <p:nvPr/>
        </p:nvGrpSpPr>
        <p:grpSpPr>
          <a:xfrm>
            <a:off x="3633259" y="1248968"/>
            <a:ext cx="5534664" cy="2335504"/>
            <a:chOff x="4729635" y="887067"/>
            <a:chExt cx="3375207" cy="1399343"/>
          </a:xfrm>
        </p:grpSpPr>
        <p:pic>
          <p:nvPicPr>
            <p:cNvPr id="215" name="Google Shape;215;p42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729635" y="887067"/>
              <a:ext cx="3375207" cy="1399343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216" name="Google Shape;216;p42"/>
            <p:cNvSpPr txBox="1"/>
            <p:nvPr/>
          </p:nvSpPr>
          <p:spPr>
            <a:xfrm>
              <a:off x="5208319" y="1064138"/>
              <a:ext cx="2869500" cy="102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ru" sz="1100" b="1">
                  <a:solidFill>
                    <a:schemeClr val="dk1"/>
                  </a:solidFill>
                </a:rPr>
                <a:t>Оцените работу над проектом и ответьте на вопросы:</a:t>
              </a:r>
              <a:endParaRPr sz="1100" b="1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У вас получилось достичь цели и выполнить все задачи?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Что далось легко, а с чем возникли трудности?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Сколько времени занял проект?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Насколько полезным оказался для вас проект от 1 до 10?</a:t>
              </a:r>
              <a:endParaRPr sz="1100">
                <a:solidFill>
                  <a:schemeClr val="dk1"/>
                </a:solidFill>
              </a:endParaRPr>
            </a:p>
            <a:p>
              <a:pPr marL="914400" lvl="1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lphaLcPeriod"/>
              </a:pPr>
              <a:r>
                <a:rPr lang="ru" sz="1100">
                  <a:solidFill>
                    <a:schemeClr val="dk1"/>
                  </a:solidFill>
                </a:rPr>
                <a:t>1 = я не научился ничему новому</a:t>
              </a:r>
              <a:endParaRPr sz="1100">
                <a:solidFill>
                  <a:schemeClr val="dk1"/>
                </a:solidFill>
              </a:endParaRPr>
            </a:p>
            <a:p>
              <a:pPr marL="914400" lvl="1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lphaLcPeriod"/>
              </a:pPr>
              <a:r>
                <a:rPr lang="ru" sz="1100">
                  <a:solidFill>
                    <a:schemeClr val="dk1"/>
                  </a:solidFill>
                </a:rPr>
                <a:t>10 = очень полезно, я получил новый опыт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Остались ли у вас вопросы по проекту?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Как вы планируете развиваться дальше?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27" name="Google Shape;227;p43"/>
          <p:cNvGrpSpPr/>
          <p:nvPr/>
        </p:nvGrpSpPr>
        <p:grpSpPr>
          <a:xfrm>
            <a:off x="5573613" y="528650"/>
            <a:ext cx="3356305" cy="1236599"/>
            <a:chOff x="4729635" y="887067"/>
            <a:chExt cx="3375207" cy="1399343"/>
          </a:xfrm>
        </p:grpSpPr>
        <p:pic>
          <p:nvPicPr>
            <p:cNvPr id="228" name="Google Shape;228;p4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729635" y="887067"/>
              <a:ext cx="3375207" cy="1399343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229" name="Google Shape;229;p43"/>
            <p:cNvSpPr txBox="1"/>
            <p:nvPr/>
          </p:nvSpPr>
          <p:spPr>
            <a:xfrm>
              <a:off x="5236901" y="1064135"/>
              <a:ext cx="2694600" cy="104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ru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Ответьте на вопросы одногруппников и преподавателей и получите обратную связь на свою работу</a:t>
              </a:r>
              <a:endParaRPr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Инструменты для работы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с презентацией</a:t>
            </a:r>
            <a:endParaRPr/>
          </a:p>
        </p:txBody>
      </p:sp>
      <p:pic>
        <p:nvPicPr>
          <p:cNvPr id="247" name="Google Shape;247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14075" y="430338"/>
            <a:ext cx="939325" cy="939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7"/>
          <p:cNvSpPr txBox="1"/>
          <p:nvPr/>
        </p:nvSpPr>
        <p:spPr>
          <a:xfrm>
            <a:off x="629988" y="691425"/>
            <a:ext cx="8423400" cy="34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ru" sz="1500" b="1">
                <a:latin typeface="Roboto"/>
                <a:ea typeface="Roboto"/>
                <a:cs typeface="Roboto"/>
                <a:sym typeface="Roboto"/>
              </a:rPr>
              <a:t>1. Текст:</a:t>
            </a:r>
            <a:endParaRPr sz="1500" b="1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«Одна мысль — один слайд»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Размещайте на каждом слайде до 5 строк текста, не более 5 слов в каждой строке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Выделяйте главные идеи с помощью размера и цвета шрифта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Используйте подзаголовки, если заголовок слишком длинный 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Группируйте информацию в визуальные блоки</a:t>
            </a:r>
            <a:endParaRPr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Делите большие текстовые блоки на колонки или списки</a:t>
            </a:r>
            <a:endParaRPr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Используйте стрелки для обозначения последовательности информации </a:t>
            </a:r>
            <a:endParaRPr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ru"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Чередуйте текстовые блоки с графическими элементами 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ru" sz="1500" b="1">
                <a:latin typeface="Roboto"/>
                <a:ea typeface="Roboto"/>
                <a:cs typeface="Roboto"/>
                <a:sym typeface="Roboto"/>
              </a:rPr>
              <a:t>2. Используйте шрифт Roboto, кегль: заголовок – 25-30, подзаголовок –  17, </a:t>
            </a:r>
            <a:endParaRPr sz="1500" b="1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latin typeface="Roboto"/>
                <a:ea typeface="Roboto"/>
                <a:cs typeface="Roboto"/>
                <a:sym typeface="Roboto"/>
              </a:rPr>
              <a:t>основной текст – 15-12, межстрочный интервал 1,15</a:t>
            </a:r>
            <a:endParaRPr sz="1500" b="1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8"/>
          <p:cNvSpPr txBox="1"/>
          <p:nvPr/>
        </p:nvSpPr>
        <p:spPr>
          <a:xfrm>
            <a:off x="629988" y="781050"/>
            <a:ext cx="8423400" cy="21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3. Используйте нашу фирменную цветовую палитру (её найдете в следующем слайде) </a:t>
            </a:r>
            <a:endParaRPr sz="15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 Визуальные материалы:</a:t>
            </a:r>
            <a:endParaRPr sz="15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Добавляйте релевантные изображения к текстовым блокам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Используйте иконки или эмодзи для визуализации ключевых пунктов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Используйте инфографику для визуализации сложной информации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   </a:t>
            </a:r>
            <a:r>
              <a:rPr lang="ru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   качественные изображения вы можете взять </a:t>
            </a:r>
            <a:r>
              <a:rPr lang="ru" b="1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в папке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58" name="Google Shape;258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7675" y="2576650"/>
            <a:ext cx="348500" cy="34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71252" y="2724091"/>
            <a:ext cx="499512" cy="4995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4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85266" y="583317"/>
            <a:ext cx="499512" cy="4995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4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84266" y="2316545"/>
            <a:ext cx="555893" cy="555893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4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971465" y="3774462"/>
            <a:ext cx="406292" cy="409998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4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996919" y="3834697"/>
            <a:ext cx="424366" cy="4243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4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257775" y="585425"/>
            <a:ext cx="495295" cy="495293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49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994545" y="4262483"/>
            <a:ext cx="360144" cy="3601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49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5405173" y="3774462"/>
            <a:ext cx="406292" cy="409998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49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701471" y="3985239"/>
            <a:ext cx="508703" cy="508708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49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509009" y="539005"/>
            <a:ext cx="588135" cy="58813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49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2530352" y="4433144"/>
            <a:ext cx="404216" cy="404212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49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2901362" y="561770"/>
            <a:ext cx="542605" cy="5426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49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888594" y="2047748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49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514269" y="2047748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49"/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3054328" y="4448785"/>
            <a:ext cx="372935" cy="372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49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8237883" y="3979170"/>
            <a:ext cx="520847" cy="520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49"/>
          <p:cNvPicPr preferRelativeResize="0"/>
          <p:nvPr/>
        </p:nvPicPr>
        <p:blipFill>
          <a:blip r:embed="rId19">
            <a:alphaModFix/>
          </a:blip>
          <a:stretch>
            <a:fillRect/>
          </a:stretch>
        </p:blipFill>
        <p:spPr>
          <a:xfrm>
            <a:off x="8207788" y="3288498"/>
            <a:ext cx="595986" cy="595993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9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1190534" y="2047748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9"/>
          <p:cNvPicPr preferRelativeResize="0"/>
          <p:nvPr/>
        </p:nvPicPr>
        <p:blipFill>
          <a:blip r:embed="rId21">
            <a:alphaModFix/>
          </a:blip>
          <a:stretch>
            <a:fillRect/>
          </a:stretch>
        </p:blipFill>
        <p:spPr>
          <a:xfrm>
            <a:off x="2172209" y="1391638"/>
            <a:ext cx="493512" cy="493507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49"/>
          <p:cNvPicPr preferRelativeResize="0"/>
          <p:nvPr/>
        </p:nvPicPr>
        <p:blipFill>
          <a:blip r:embed="rId22">
            <a:alphaModFix/>
          </a:blip>
          <a:stretch>
            <a:fillRect/>
          </a:stretch>
        </p:blipFill>
        <p:spPr>
          <a:xfrm>
            <a:off x="1150853" y="1403354"/>
            <a:ext cx="470080" cy="47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49"/>
          <p:cNvPicPr preferRelativeResize="0"/>
          <p:nvPr/>
        </p:nvPicPr>
        <p:blipFill rotWithShape="1">
          <a:blip r:embed="rId23">
            <a:alphaModFix/>
          </a:blip>
          <a:srcRect/>
          <a:stretch/>
        </p:blipFill>
        <p:spPr>
          <a:xfrm>
            <a:off x="552077" y="4281498"/>
            <a:ext cx="537109" cy="5371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49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519706" y="1355027"/>
            <a:ext cx="566735" cy="56673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49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5187775" y="2316539"/>
            <a:ext cx="493249" cy="493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49"/>
          <p:cNvPicPr preferRelativeResize="0"/>
          <p:nvPr/>
        </p:nvPicPr>
        <p:blipFill>
          <a:blip r:embed="rId26">
            <a:alphaModFix/>
          </a:blip>
          <a:stretch>
            <a:fillRect/>
          </a:stretch>
        </p:blipFill>
        <p:spPr>
          <a:xfrm>
            <a:off x="961355" y="2667110"/>
            <a:ext cx="588118" cy="5881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49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7710770" y="3352476"/>
            <a:ext cx="468034" cy="468039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49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5181495" y="2922709"/>
            <a:ext cx="493249" cy="493232"/>
          </a:xfrm>
          <a:prstGeom prst="rect">
            <a:avLst/>
          </a:prstGeom>
          <a:noFill/>
          <a:ln>
            <a:noFill/>
          </a:ln>
        </p:spPr>
      </p:pic>
      <p:pic>
        <p:nvPicPr>
          <p:cNvPr id="289" name="Google Shape;289;p49"/>
          <p:cNvPicPr preferRelativeResize="0"/>
          <p:nvPr/>
        </p:nvPicPr>
        <p:blipFill>
          <a:blip r:embed="rId29">
            <a:alphaModFix/>
          </a:blip>
          <a:stretch>
            <a:fillRect/>
          </a:stretch>
        </p:blipFill>
        <p:spPr>
          <a:xfrm>
            <a:off x="2131524" y="2730594"/>
            <a:ext cx="499518" cy="499517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49"/>
          <p:cNvPicPr preferRelativeResize="0"/>
          <p:nvPr/>
        </p:nvPicPr>
        <p:blipFill>
          <a:blip r:embed="rId30">
            <a:alphaModFix/>
          </a:blip>
          <a:stretch>
            <a:fillRect/>
          </a:stretch>
        </p:blipFill>
        <p:spPr>
          <a:xfrm>
            <a:off x="4009998" y="2316535"/>
            <a:ext cx="530079" cy="5300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49"/>
          <p:cNvPicPr preferRelativeResize="0"/>
          <p:nvPr/>
        </p:nvPicPr>
        <p:blipFill>
          <a:blip r:embed="rId31">
            <a:alphaModFix/>
          </a:blip>
          <a:stretch>
            <a:fillRect/>
          </a:stretch>
        </p:blipFill>
        <p:spPr>
          <a:xfrm>
            <a:off x="544543" y="3704244"/>
            <a:ext cx="552178" cy="5521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49"/>
          <p:cNvPicPr preferRelativeResize="0"/>
          <p:nvPr/>
        </p:nvPicPr>
        <p:blipFill>
          <a:blip r:embed="rId32">
            <a:alphaModFix/>
          </a:blip>
          <a:stretch>
            <a:fillRect/>
          </a:stretch>
        </p:blipFill>
        <p:spPr>
          <a:xfrm>
            <a:off x="1078633" y="3704244"/>
            <a:ext cx="552178" cy="5521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49"/>
          <p:cNvPicPr preferRelativeResize="0"/>
          <p:nvPr/>
        </p:nvPicPr>
        <p:blipFill>
          <a:blip r:embed="rId33">
            <a:alphaModFix/>
          </a:blip>
          <a:stretch>
            <a:fillRect/>
          </a:stretch>
        </p:blipFill>
        <p:spPr>
          <a:xfrm>
            <a:off x="1053627" y="4248959"/>
            <a:ext cx="602188" cy="602179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49"/>
          <p:cNvPicPr preferRelativeResize="0"/>
          <p:nvPr/>
        </p:nvPicPr>
        <p:blipFill>
          <a:blip r:embed="rId34">
            <a:alphaModFix/>
          </a:blip>
          <a:stretch>
            <a:fillRect/>
          </a:stretch>
        </p:blipFill>
        <p:spPr>
          <a:xfrm>
            <a:off x="469475" y="2745317"/>
            <a:ext cx="470090" cy="4700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5" name="Google Shape;295;p49"/>
          <p:cNvPicPr preferRelativeResize="0"/>
          <p:nvPr/>
        </p:nvPicPr>
        <p:blipFill>
          <a:blip r:embed="rId35">
            <a:alphaModFix/>
          </a:blip>
          <a:stretch>
            <a:fillRect/>
          </a:stretch>
        </p:blipFill>
        <p:spPr>
          <a:xfrm>
            <a:off x="2316972" y="556974"/>
            <a:ext cx="552197" cy="552196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49"/>
          <p:cNvPicPr preferRelativeResize="0"/>
          <p:nvPr/>
        </p:nvPicPr>
        <p:blipFill>
          <a:blip r:embed="rId36">
            <a:alphaModFix/>
          </a:blip>
          <a:stretch>
            <a:fillRect/>
          </a:stretch>
        </p:blipFill>
        <p:spPr>
          <a:xfrm>
            <a:off x="4554831" y="2935266"/>
            <a:ext cx="504910" cy="50489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49"/>
          <p:cNvPicPr preferRelativeResize="0"/>
          <p:nvPr/>
        </p:nvPicPr>
        <p:blipFill>
          <a:blip r:embed="rId37">
            <a:alphaModFix/>
          </a:blip>
          <a:stretch>
            <a:fillRect/>
          </a:stretch>
        </p:blipFill>
        <p:spPr>
          <a:xfrm>
            <a:off x="4022582" y="2935266"/>
            <a:ext cx="504910" cy="50489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49"/>
          <p:cNvPicPr preferRelativeResize="0"/>
          <p:nvPr/>
        </p:nvPicPr>
        <p:blipFill>
          <a:blip r:embed="rId38">
            <a:alphaModFix/>
          </a:blip>
          <a:stretch>
            <a:fillRect/>
          </a:stretch>
        </p:blipFill>
        <p:spPr>
          <a:xfrm>
            <a:off x="4554831" y="2329119"/>
            <a:ext cx="504910" cy="50489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49"/>
          <p:cNvPicPr preferRelativeResize="0"/>
          <p:nvPr/>
        </p:nvPicPr>
        <p:blipFill>
          <a:blip r:embed="rId39">
            <a:alphaModFix/>
          </a:blip>
          <a:stretch>
            <a:fillRect/>
          </a:stretch>
        </p:blipFill>
        <p:spPr>
          <a:xfrm>
            <a:off x="5663349" y="2901775"/>
            <a:ext cx="597725" cy="597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49"/>
          <p:cNvPicPr preferRelativeResize="0"/>
          <p:nvPr/>
        </p:nvPicPr>
        <p:blipFill>
          <a:blip r:embed="rId40">
            <a:alphaModFix/>
          </a:blip>
          <a:stretch>
            <a:fillRect/>
          </a:stretch>
        </p:blipFill>
        <p:spPr>
          <a:xfrm>
            <a:off x="1985334" y="3818550"/>
            <a:ext cx="456645" cy="4566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49"/>
          <p:cNvPicPr preferRelativeResize="0"/>
          <p:nvPr/>
        </p:nvPicPr>
        <p:blipFill>
          <a:blip r:embed="rId41">
            <a:alphaModFix/>
          </a:blip>
          <a:stretch>
            <a:fillRect/>
          </a:stretch>
        </p:blipFill>
        <p:spPr>
          <a:xfrm>
            <a:off x="1434048" y="2018565"/>
            <a:ext cx="495294" cy="495293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49"/>
          <p:cNvPicPr preferRelativeResize="0"/>
          <p:nvPr/>
        </p:nvPicPr>
        <p:blipFill>
          <a:blip r:embed="rId42">
            <a:alphaModFix/>
          </a:blip>
          <a:stretch>
            <a:fillRect/>
          </a:stretch>
        </p:blipFill>
        <p:spPr>
          <a:xfrm>
            <a:off x="1885178" y="2018565"/>
            <a:ext cx="495294" cy="495293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49"/>
          <p:cNvPicPr preferRelativeResize="0"/>
          <p:nvPr/>
        </p:nvPicPr>
        <p:blipFill>
          <a:blip r:embed="rId43">
            <a:alphaModFix/>
          </a:blip>
          <a:stretch>
            <a:fillRect/>
          </a:stretch>
        </p:blipFill>
        <p:spPr>
          <a:xfrm>
            <a:off x="2026525" y="4443213"/>
            <a:ext cx="384075" cy="384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49"/>
          <p:cNvPicPr preferRelativeResize="0"/>
          <p:nvPr/>
        </p:nvPicPr>
        <p:blipFill>
          <a:blip r:embed="rId44">
            <a:alphaModFix/>
          </a:blip>
          <a:stretch>
            <a:fillRect/>
          </a:stretch>
        </p:blipFill>
        <p:spPr>
          <a:xfrm>
            <a:off x="2502160" y="3844766"/>
            <a:ext cx="404231" cy="404228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49"/>
          <p:cNvPicPr preferRelativeResize="0"/>
          <p:nvPr/>
        </p:nvPicPr>
        <p:blipFill>
          <a:blip r:embed="rId45">
            <a:alphaModFix/>
          </a:blip>
          <a:stretch>
            <a:fillRect/>
          </a:stretch>
        </p:blipFill>
        <p:spPr>
          <a:xfrm>
            <a:off x="4375738" y="4226469"/>
            <a:ext cx="432222" cy="432216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49"/>
          <p:cNvPicPr preferRelativeResize="0"/>
          <p:nvPr/>
        </p:nvPicPr>
        <p:blipFill>
          <a:blip r:embed="rId46">
            <a:alphaModFix/>
          </a:blip>
          <a:stretch>
            <a:fillRect/>
          </a:stretch>
        </p:blipFill>
        <p:spPr>
          <a:xfrm>
            <a:off x="3919814" y="3763353"/>
            <a:ext cx="432222" cy="432216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49"/>
          <p:cNvPicPr preferRelativeResize="0"/>
          <p:nvPr/>
        </p:nvPicPr>
        <p:blipFill>
          <a:blip r:embed="rId47">
            <a:alphaModFix/>
          </a:blip>
          <a:stretch>
            <a:fillRect/>
          </a:stretch>
        </p:blipFill>
        <p:spPr>
          <a:xfrm>
            <a:off x="4381317" y="3763353"/>
            <a:ext cx="432222" cy="432216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49"/>
          <p:cNvPicPr preferRelativeResize="0"/>
          <p:nvPr/>
        </p:nvPicPr>
        <p:blipFill>
          <a:blip r:embed="rId48">
            <a:alphaModFix/>
          </a:blip>
          <a:stretch>
            <a:fillRect/>
          </a:stretch>
        </p:blipFill>
        <p:spPr>
          <a:xfrm>
            <a:off x="5421140" y="4251223"/>
            <a:ext cx="382690" cy="38269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49"/>
          <p:cNvPicPr preferRelativeResize="0"/>
          <p:nvPr/>
        </p:nvPicPr>
        <p:blipFill>
          <a:blip r:embed="rId49">
            <a:alphaModFix/>
          </a:blip>
          <a:stretch>
            <a:fillRect/>
          </a:stretch>
        </p:blipFill>
        <p:spPr>
          <a:xfrm>
            <a:off x="1561510" y="1329664"/>
            <a:ext cx="617460" cy="617454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49"/>
          <p:cNvPicPr preferRelativeResize="0"/>
          <p:nvPr/>
        </p:nvPicPr>
        <p:blipFill>
          <a:blip r:embed="rId50">
            <a:alphaModFix/>
          </a:blip>
          <a:stretch>
            <a:fillRect/>
          </a:stretch>
        </p:blipFill>
        <p:spPr>
          <a:xfrm>
            <a:off x="7078625" y="585419"/>
            <a:ext cx="431346" cy="43135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p49"/>
          <p:cNvPicPr preferRelativeResize="0"/>
          <p:nvPr/>
        </p:nvPicPr>
        <p:blipFill>
          <a:blip r:embed="rId51">
            <a:alphaModFix/>
          </a:blip>
          <a:stretch>
            <a:fillRect/>
          </a:stretch>
        </p:blipFill>
        <p:spPr>
          <a:xfrm>
            <a:off x="7121933" y="1135419"/>
            <a:ext cx="431346" cy="43135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49"/>
          <p:cNvPicPr preferRelativeResize="0"/>
          <p:nvPr/>
        </p:nvPicPr>
        <p:blipFill>
          <a:blip r:embed="rId52">
            <a:alphaModFix/>
          </a:blip>
          <a:stretch>
            <a:fillRect/>
          </a:stretch>
        </p:blipFill>
        <p:spPr>
          <a:xfrm rot="808536">
            <a:off x="8249366" y="2529116"/>
            <a:ext cx="508464" cy="50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49"/>
          <p:cNvPicPr preferRelativeResize="0"/>
          <p:nvPr/>
        </p:nvPicPr>
        <p:blipFill>
          <a:blip r:embed="rId53">
            <a:alphaModFix/>
          </a:blip>
          <a:stretch>
            <a:fillRect/>
          </a:stretch>
        </p:blipFill>
        <p:spPr>
          <a:xfrm>
            <a:off x="7692265" y="2494210"/>
            <a:ext cx="508464" cy="50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49"/>
          <p:cNvPicPr preferRelativeResize="0"/>
          <p:nvPr/>
        </p:nvPicPr>
        <p:blipFill>
          <a:blip r:embed="rId54">
            <a:alphaModFix/>
          </a:blip>
          <a:stretch>
            <a:fillRect/>
          </a:stretch>
        </p:blipFill>
        <p:spPr>
          <a:xfrm>
            <a:off x="7202083" y="2494244"/>
            <a:ext cx="508464" cy="50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" name="Google Shape;315;p49"/>
          <p:cNvPicPr preferRelativeResize="0"/>
          <p:nvPr/>
        </p:nvPicPr>
        <p:blipFill>
          <a:blip r:embed="rId55">
            <a:alphaModFix/>
          </a:blip>
          <a:stretch>
            <a:fillRect/>
          </a:stretch>
        </p:blipFill>
        <p:spPr>
          <a:xfrm>
            <a:off x="7202071" y="1974083"/>
            <a:ext cx="508464" cy="50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p49"/>
          <p:cNvPicPr preferRelativeResize="0"/>
          <p:nvPr/>
        </p:nvPicPr>
        <p:blipFill>
          <a:blip r:embed="rId56">
            <a:alphaModFix/>
          </a:blip>
          <a:stretch>
            <a:fillRect/>
          </a:stretch>
        </p:blipFill>
        <p:spPr>
          <a:xfrm>
            <a:off x="7692265" y="1974071"/>
            <a:ext cx="508464" cy="50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49"/>
          <p:cNvPicPr preferRelativeResize="0"/>
          <p:nvPr/>
        </p:nvPicPr>
        <p:blipFill>
          <a:blip r:embed="rId57">
            <a:alphaModFix/>
          </a:blip>
          <a:stretch>
            <a:fillRect/>
          </a:stretch>
        </p:blipFill>
        <p:spPr>
          <a:xfrm>
            <a:off x="8218004" y="1167390"/>
            <a:ext cx="508464" cy="50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49"/>
          <p:cNvPicPr preferRelativeResize="0"/>
          <p:nvPr/>
        </p:nvPicPr>
        <p:blipFill>
          <a:blip r:embed="rId58">
            <a:alphaModFix/>
          </a:blip>
          <a:stretch>
            <a:fillRect/>
          </a:stretch>
        </p:blipFill>
        <p:spPr>
          <a:xfrm>
            <a:off x="7631405" y="1180470"/>
            <a:ext cx="508464" cy="50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49"/>
          <p:cNvPicPr preferRelativeResize="0"/>
          <p:nvPr/>
        </p:nvPicPr>
        <p:blipFill>
          <a:blip r:embed="rId59">
            <a:alphaModFix/>
          </a:blip>
          <a:stretch>
            <a:fillRect/>
          </a:stretch>
        </p:blipFill>
        <p:spPr>
          <a:xfrm>
            <a:off x="8164542" y="578840"/>
            <a:ext cx="508464" cy="50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49"/>
          <p:cNvPicPr preferRelativeResize="0"/>
          <p:nvPr/>
        </p:nvPicPr>
        <p:blipFill>
          <a:blip r:embed="rId60">
            <a:alphaModFix/>
          </a:blip>
          <a:stretch>
            <a:fillRect/>
          </a:stretch>
        </p:blipFill>
        <p:spPr>
          <a:xfrm>
            <a:off x="7666734" y="578840"/>
            <a:ext cx="508464" cy="50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1" name="Google Shape;321;p49"/>
          <p:cNvPicPr preferRelativeResize="0"/>
          <p:nvPr/>
        </p:nvPicPr>
        <p:blipFill>
          <a:blip r:embed="rId61">
            <a:alphaModFix/>
          </a:blip>
          <a:stretch>
            <a:fillRect/>
          </a:stretch>
        </p:blipFill>
        <p:spPr>
          <a:xfrm>
            <a:off x="3495732" y="583314"/>
            <a:ext cx="499518" cy="499517"/>
          </a:xfrm>
          <a:prstGeom prst="rect">
            <a:avLst/>
          </a:prstGeom>
          <a:noFill/>
          <a:ln>
            <a:noFill/>
          </a:ln>
        </p:spPr>
      </p:pic>
      <p:pic>
        <p:nvPicPr>
          <p:cNvPr id="322" name="Google Shape;322;p49"/>
          <p:cNvPicPr preferRelativeResize="0"/>
          <p:nvPr/>
        </p:nvPicPr>
        <p:blipFill>
          <a:blip r:embed="rId62">
            <a:alphaModFix/>
          </a:blip>
          <a:stretch>
            <a:fillRect/>
          </a:stretch>
        </p:blipFill>
        <p:spPr>
          <a:xfrm>
            <a:off x="7197364" y="4023550"/>
            <a:ext cx="432067" cy="432072"/>
          </a:xfrm>
          <a:prstGeom prst="rect">
            <a:avLst/>
          </a:prstGeom>
          <a:noFill/>
          <a:ln>
            <a:noFill/>
          </a:ln>
        </p:spPr>
      </p:pic>
      <p:pic>
        <p:nvPicPr>
          <p:cNvPr id="323" name="Google Shape;323;p49"/>
          <p:cNvPicPr preferRelativeResize="0"/>
          <p:nvPr/>
        </p:nvPicPr>
        <p:blipFill>
          <a:blip r:embed="rId63">
            <a:alphaModFix/>
          </a:blip>
          <a:stretch>
            <a:fillRect/>
          </a:stretch>
        </p:blipFill>
        <p:spPr>
          <a:xfrm>
            <a:off x="7175125" y="3370459"/>
            <a:ext cx="432067" cy="432072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49"/>
          <p:cNvPicPr preferRelativeResize="0"/>
          <p:nvPr/>
        </p:nvPicPr>
        <p:blipFill>
          <a:blip r:embed="rId64">
            <a:alphaModFix/>
          </a:blip>
          <a:stretch>
            <a:fillRect/>
          </a:stretch>
        </p:blipFill>
        <p:spPr>
          <a:xfrm>
            <a:off x="8193251" y="1974071"/>
            <a:ext cx="508464" cy="50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49"/>
          <p:cNvPicPr preferRelativeResize="0"/>
          <p:nvPr/>
        </p:nvPicPr>
        <p:blipFill rotWithShape="1">
          <a:blip r:embed="rId65">
            <a:alphaModFix/>
          </a:blip>
          <a:srcRect/>
          <a:stretch/>
        </p:blipFill>
        <p:spPr>
          <a:xfrm>
            <a:off x="2337816" y="2058480"/>
            <a:ext cx="443210" cy="44320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6" name="Google Shape;326;p49"/>
          <p:cNvPicPr preferRelativeResize="0"/>
          <p:nvPr/>
        </p:nvPicPr>
        <p:blipFill>
          <a:blip r:embed="rId66">
            <a:alphaModFix/>
          </a:blip>
          <a:stretch>
            <a:fillRect/>
          </a:stretch>
        </p:blipFill>
        <p:spPr>
          <a:xfrm>
            <a:off x="2775062" y="1388632"/>
            <a:ext cx="499518" cy="499517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Google Shape;327;p49"/>
          <p:cNvPicPr preferRelativeResize="0"/>
          <p:nvPr/>
        </p:nvPicPr>
        <p:blipFill rotWithShape="1">
          <a:blip r:embed="rId67">
            <a:alphaModFix/>
          </a:blip>
          <a:srcRect/>
          <a:stretch/>
        </p:blipFill>
        <p:spPr>
          <a:xfrm>
            <a:off x="5056303" y="4700669"/>
            <a:ext cx="306250" cy="30624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" name="Google Shape;328;p49"/>
          <p:cNvPicPr preferRelativeResize="0"/>
          <p:nvPr/>
        </p:nvPicPr>
        <p:blipFill rotWithShape="1">
          <a:blip r:embed="rId68">
            <a:alphaModFix/>
          </a:blip>
          <a:srcRect/>
          <a:stretch/>
        </p:blipFill>
        <p:spPr>
          <a:xfrm>
            <a:off x="5476501" y="4711956"/>
            <a:ext cx="306250" cy="30624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9" name="Google Shape;329;p49"/>
          <p:cNvPicPr preferRelativeResize="0"/>
          <p:nvPr/>
        </p:nvPicPr>
        <p:blipFill>
          <a:blip r:embed="rId69">
            <a:alphaModFix/>
          </a:blip>
          <a:stretch>
            <a:fillRect/>
          </a:stretch>
        </p:blipFill>
        <p:spPr>
          <a:xfrm>
            <a:off x="2691814" y="2761497"/>
            <a:ext cx="437718" cy="43771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0" name="Google Shape;330;p49"/>
          <p:cNvPicPr preferRelativeResize="0"/>
          <p:nvPr/>
        </p:nvPicPr>
        <p:blipFill>
          <a:blip r:embed="rId70">
            <a:alphaModFix/>
          </a:blip>
          <a:stretch>
            <a:fillRect/>
          </a:stretch>
        </p:blipFill>
        <p:spPr>
          <a:xfrm>
            <a:off x="3835523" y="1440998"/>
            <a:ext cx="617475" cy="617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1" name="Google Shape;331;p49"/>
          <p:cNvPicPr preferRelativeResize="0"/>
          <p:nvPr/>
        </p:nvPicPr>
        <p:blipFill>
          <a:blip r:embed="rId71">
            <a:alphaModFix/>
          </a:blip>
          <a:stretch>
            <a:fillRect/>
          </a:stretch>
        </p:blipFill>
        <p:spPr>
          <a:xfrm>
            <a:off x="4540306" y="1419187"/>
            <a:ext cx="729762" cy="7297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50"/>
          <p:cNvSpPr/>
          <p:nvPr/>
        </p:nvSpPr>
        <p:spPr>
          <a:xfrm>
            <a:off x="5386000" y="197300"/>
            <a:ext cx="3467400" cy="2147400"/>
          </a:xfrm>
          <a:prstGeom prst="roundRect">
            <a:avLst>
              <a:gd name="adj" fmla="val 16667"/>
            </a:avLst>
          </a:prstGeom>
          <a:solidFill>
            <a:srgbClr val="9E9E9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37" name="Google Shape;337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07677" y="1327053"/>
            <a:ext cx="1812680" cy="627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07700" y="489978"/>
            <a:ext cx="1812644" cy="627527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p5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96748" y="670077"/>
            <a:ext cx="941925" cy="1201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p5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10300" y="2760755"/>
            <a:ext cx="1883234" cy="780798"/>
          </a:xfrm>
          <a:prstGeom prst="rect">
            <a:avLst/>
          </a:prstGeom>
          <a:noFill/>
          <a:ln>
            <a:noFill/>
          </a:ln>
          <a:effectLst>
            <a:outerShdw blurRad="114300" dist="19050" dir="5880000" algn="bl" rotWithShape="0">
              <a:srgbClr val="000000">
                <a:alpha val="40000"/>
              </a:srgbClr>
            </a:outerShdw>
          </a:effectLst>
        </p:spPr>
      </p:pic>
      <p:pic>
        <p:nvPicPr>
          <p:cNvPr id="341" name="Google Shape;341;p5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672170" y="3726284"/>
            <a:ext cx="1948175" cy="765766"/>
          </a:xfrm>
          <a:prstGeom prst="rect">
            <a:avLst/>
          </a:prstGeom>
          <a:noFill/>
          <a:ln>
            <a:noFill/>
          </a:ln>
          <a:effectLst>
            <a:outerShdw blurRad="114300" dist="19050" dir="5880000" algn="bl" rotWithShape="0">
              <a:srgbClr val="000000">
                <a:alpha val="40000"/>
              </a:srgbClr>
            </a:outerShdw>
          </a:effectLst>
        </p:spPr>
      </p:pic>
      <p:pic>
        <p:nvPicPr>
          <p:cNvPr id="342" name="Google Shape;342;p5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795668" y="510640"/>
            <a:ext cx="765850" cy="1124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43" name="Google Shape;343;p5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2792750" y="586627"/>
            <a:ext cx="1397868" cy="1081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344" name="Google Shape;344;p50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08750" y="623231"/>
            <a:ext cx="880325" cy="899671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p50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27775" y="1972625"/>
            <a:ext cx="880324" cy="879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6" name="Google Shape;346;p50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638025" y="1871888"/>
            <a:ext cx="1081150" cy="1081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7" name="Google Shape;347;p50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1795678" y="3300686"/>
            <a:ext cx="941925" cy="1015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48" name="Google Shape;348;p50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3108466" y="1689619"/>
            <a:ext cx="880325" cy="13487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p50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577949" y="3180927"/>
            <a:ext cx="941925" cy="10873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Шаблоны, которые вы можете использовать для рассказа о своем проекте</a:t>
            </a:r>
            <a:endParaRPr/>
          </a:p>
        </p:txBody>
      </p:sp>
      <p:pic>
        <p:nvPicPr>
          <p:cNvPr id="355" name="Google Shape;355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14075" y="430338"/>
            <a:ext cx="939325" cy="939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2"/>
          <p:cNvSpPr txBox="1">
            <a:spLocks noGrp="1"/>
          </p:cNvSpPr>
          <p:nvPr>
            <p:ph type="title"/>
          </p:nvPr>
        </p:nvSpPr>
        <p:spPr>
          <a:xfrm>
            <a:off x="548556" y="1594106"/>
            <a:ext cx="7379700" cy="11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venir"/>
              <a:buNone/>
            </a:pPr>
            <a:r>
              <a:rPr lang="ru" dirty="0"/>
              <a:t>Материал для моделирования</a:t>
            </a:r>
            <a:endParaRPr sz="3600" dirty="0">
              <a:solidFill>
                <a:srgbClr val="FBFBFE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endParaRPr sz="2800" dirty="0">
              <a:solidFill>
                <a:srgbClr val="FBFBF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1" name="Google Shape;361;p52"/>
          <p:cNvSpPr/>
          <p:nvPr/>
        </p:nvSpPr>
        <p:spPr>
          <a:xfrm>
            <a:off x="494025" y="682688"/>
            <a:ext cx="6167400" cy="1070700"/>
          </a:xfrm>
          <a:prstGeom prst="roundRect">
            <a:avLst>
              <a:gd name="adj" fmla="val 16667"/>
            </a:avLst>
          </a:prstGeom>
          <a:solidFill>
            <a:srgbClr val="40299B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Название подтемы</a:t>
            </a:r>
            <a:endParaRPr sz="3400" dirty="0">
              <a:solidFill>
                <a:srgbClr val="FFFFFF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362" name="Google Shape;362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74100" y="1077650"/>
            <a:ext cx="1078825" cy="1245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53"/>
          <p:cNvSpPr txBox="1"/>
          <p:nvPr/>
        </p:nvSpPr>
        <p:spPr>
          <a:xfrm>
            <a:off x="721493" y="832471"/>
            <a:ext cx="7701000" cy="8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Roboto"/>
              <a:buNone/>
            </a:pPr>
            <a:r>
              <a:rPr lang="ru" sz="5300" b="1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Определение – это</a:t>
            </a:r>
            <a:endParaRPr sz="2300">
              <a:solidFill>
                <a:srgbClr val="3F299A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368" name="Google Shape;368;p53"/>
          <p:cNvSpPr txBox="1"/>
          <p:nvPr/>
        </p:nvSpPr>
        <p:spPr>
          <a:xfrm>
            <a:off x="721500" y="1984175"/>
            <a:ext cx="7403400" cy="17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описание данных в виде набора сущностей, отношений между ними, атрибутов сущностей, </a:t>
            </a:r>
            <a:endParaRPr sz="2300">
              <a:solidFill>
                <a:schemeClr val="dk1"/>
              </a:solidFill>
              <a:latin typeface="Roboto Medium"/>
              <a:ea typeface="Roboto Medium"/>
              <a:cs typeface="Roboto Medium"/>
              <a:sym typeface="Roboto Medium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их типов данных, соглашений об именовании </a:t>
            </a:r>
            <a:endParaRPr sz="2300">
              <a:solidFill>
                <a:schemeClr val="dk1"/>
              </a:solidFill>
              <a:latin typeface="Roboto Medium"/>
              <a:ea typeface="Roboto Medium"/>
              <a:cs typeface="Roboto Medium"/>
              <a:sym typeface="Roboto Medium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и правил проверки целостностей 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54"/>
          <p:cNvSpPr txBox="1">
            <a:spLocks noGrp="1"/>
          </p:cNvSpPr>
          <p:nvPr>
            <p:ph type="title"/>
          </p:nvPr>
        </p:nvSpPr>
        <p:spPr>
          <a:xfrm>
            <a:off x="600400" y="438675"/>
            <a:ext cx="66522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Слайды с “кнопками” </a:t>
            </a:r>
            <a:endParaRPr/>
          </a:p>
        </p:txBody>
      </p:sp>
      <p:sp>
        <p:nvSpPr>
          <p:cNvPr id="374" name="Google Shape;374;p54"/>
          <p:cNvSpPr/>
          <p:nvPr/>
        </p:nvSpPr>
        <p:spPr>
          <a:xfrm>
            <a:off x="720000" y="1534575"/>
            <a:ext cx="5400900" cy="1427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Тезис 1/Определение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5" name="Google Shape;375;p54"/>
          <p:cNvSpPr/>
          <p:nvPr/>
        </p:nvSpPr>
        <p:spPr>
          <a:xfrm>
            <a:off x="720000" y="3285100"/>
            <a:ext cx="5400900" cy="14274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Тезис 2 (выбирая его, словно щелкаем на него мышью,</a:t>
            </a:r>
            <a:endParaRPr>
              <a:solidFill>
                <a:schemeClr val="lt1"/>
              </a:solidFill>
              <a:latin typeface="Roboto Medium"/>
              <a:ea typeface="Roboto Medium"/>
              <a:cs typeface="Roboto Medium"/>
              <a:sym typeface="Roboto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и в следующем слайде раскрываем выбранную </a:t>
            </a:r>
            <a:endParaRPr>
              <a:solidFill>
                <a:schemeClr val="lt1"/>
              </a:solidFill>
              <a:latin typeface="Roboto Medium"/>
              <a:ea typeface="Roboto Medium"/>
              <a:cs typeface="Roboto Medium"/>
              <a:sym typeface="Roboto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мысль полностью) / Определение 2</a:t>
            </a:r>
            <a:endParaRPr>
              <a:solidFill>
                <a:schemeClr val="lt1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376" name="Google Shape;37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73550" y="3889950"/>
            <a:ext cx="739326" cy="85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55"/>
          <p:cNvSpPr/>
          <p:nvPr/>
        </p:nvSpPr>
        <p:spPr>
          <a:xfrm>
            <a:off x="1010550" y="1550450"/>
            <a:ext cx="6878100" cy="14274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Определение</a:t>
            </a:r>
            <a:r>
              <a:rPr lang="ru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 – </a:t>
            </a:r>
            <a:r>
              <a:rPr lang="ru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их типов данных, соглашений об именовании и правил проверки целостностей </a:t>
            </a:r>
            <a:endParaRPr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82" name="Google Shape;382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81800" y="2312100"/>
            <a:ext cx="739326" cy="85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56"/>
          <p:cNvSpPr txBox="1">
            <a:spLocks noGrp="1"/>
          </p:cNvSpPr>
          <p:nvPr>
            <p:ph type="title"/>
          </p:nvPr>
        </p:nvSpPr>
        <p:spPr>
          <a:xfrm>
            <a:off x="611950" y="318675"/>
            <a:ext cx="8214300" cy="6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Заголовок: главная мысль слайда </a:t>
            </a:r>
            <a:endParaRPr/>
          </a:p>
        </p:txBody>
      </p:sp>
      <p:sp>
        <p:nvSpPr>
          <p:cNvPr id="388" name="Google Shape;388;p56"/>
          <p:cNvSpPr txBox="1">
            <a:spLocks noGrp="1"/>
          </p:cNvSpPr>
          <p:nvPr>
            <p:ph type="title"/>
          </p:nvPr>
        </p:nvSpPr>
        <p:spPr>
          <a:xfrm>
            <a:off x="611950" y="938325"/>
            <a:ext cx="6724200" cy="4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0">
                <a:latin typeface="Roboto Medium"/>
                <a:ea typeface="Roboto Medium"/>
                <a:cs typeface="Roboto Medium"/>
                <a:sym typeface="Roboto Medium"/>
              </a:rPr>
              <a:t>Подзаголовок – дополнение к основной мысли</a:t>
            </a:r>
            <a:endParaRPr sz="1500" b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389" name="Google Shape;389;p56"/>
          <p:cNvSpPr txBox="1"/>
          <p:nvPr/>
        </p:nvSpPr>
        <p:spPr>
          <a:xfrm>
            <a:off x="662850" y="1917013"/>
            <a:ext cx="4092000" cy="19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" sz="130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Источников много </a:t>
            </a:r>
            <a:endParaRPr sz="130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" sz="130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Кроме того, в той же микросервисной архитектуре у нас запрос от клиента может проходить через несколько различных микросервисов, причем в зависимости </a:t>
            </a:r>
            <a:endParaRPr sz="130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от различных аспектов, этот путь может состоять из разных узлов. 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0" name="Google Shape;390;p56"/>
          <p:cNvSpPr/>
          <p:nvPr/>
        </p:nvSpPr>
        <p:spPr>
          <a:xfrm>
            <a:off x="6203150" y="1392225"/>
            <a:ext cx="2490600" cy="30939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место для иллюстрации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Главная мысль слайда</a:t>
            </a:r>
            <a:endParaRPr/>
          </a:p>
        </p:txBody>
      </p:sp>
      <p:sp>
        <p:nvSpPr>
          <p:cNvPr id="396" name="Google Shape;396;p57"/>
          <p:cNvSpPr txBox="1"/>
          <p:nvPr/>
        </p:nvSpPr>
        <p:spPr>
          <a:xfrm>
            <a:off x="611950" y="1269600"/>
            <a:ext cx="60666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В этой статье мы будем завершать тему мониторинга и поговорим  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о мониторинге работы самих приложений. 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Какими средствами и как можно осуществлять сбор метрик 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с приложений и что такое трассировка.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Как уже говорилось в предыдущих статьях, мы можем осуществлять сбор количественных показателей по событиям, формирующим тренды с помощью метрик.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Кроме того, в той же микросервисной архитектуре у нас запрос 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от клиента может проходить через несколько различных микросервисов.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В зависимости от различных аспектов, этот путь может состоять из разных узлов. 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58"/>
          <p:cNvSpPr txBox="1"/>
          <p:nvPr/>
        </p:nvSpPr>
        <p:spPr>
          <a:xfrm>
            <a:off x="800575" y="1349525"/>
            <a:ext cx="7224600" cy="306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В этой статье мы будем завершать тему мониторинга </a:t>
            </a:r>
            <a:endParaRPr sz="15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и поговорим о мониторинге работы самих приложений. </a:t>
            </a:r>
            <a:endParaRPr sz="15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Какими средствами и как можно осуществлять сбор </a:t>
            </a:r>
            <a:endParaRPr sz="15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метрик с приложений и что такое трассировка.</a:t>
            </a:r>
            <a:endParaRPr sz="15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Как уже говорилось в предыдущих статьях, мы можем</a:t>
            </a:r>
            <a:endParaRPr sz="15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осуществлять сбор количественных показателей </a:t>
            </a:r>
            <a:endParaRPr sz="15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 событиям, формирующим тренды с помощью метрик.</a:t>
            </a:r>
            <a:endParaRPr sz="150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50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2" name="Google Shape;402;p58"/>
          <p:cNvSpPr txBox="1">
            <a:spLocks noGrp="1"/>
          </p:cNvSpPr>
          <p:nvPr>
            <p:ph type="title"/>
          </p:nvPr>
        </p:nvSpPr>
        <p:spPr>
          <a:xfrm>
            <a:off x="611950" y="350875"/>
            <a:ext cx="8214300" cy="6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Главная мысль слайда</a:t>
            </a:r>
            <a:endParaRPr/>
          </a:p>
        </p:txBody>
      </p:sp>
      <p:pic>
        <p:nvPicPr>
          <p:cNvPr id="403" name="Google Shape;403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8200" y="1468125"/>
            <a:ext cx="315075" cy="321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8200" y="2410750"/>
            <a:ext cx="315075" cy="321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05" name="Google Shape;405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8200" y="3353375"/>
            <a:ext cx="315075" cy="321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>
            <a:spLocks noGrp="1"/>
          </p:cNvSpPr>
          <p:nvPr>
            <p:ph type="title"/>
          </p:nvPr>
        </p:nvSpPr>
        <p:spPr>
          <a:xfrm>
            <a:off x="623400" y="345599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rgbClr val="050505"/>
                </a:solidFill>
              </a:rPr>
              <a:t>Слайд со списком </a:t>
            </a:r>
            <a:endParaRPr>
              <a:solidFill>
                <a:srgbClr val="050505"/>
              </a:solidFill>
            </a:endParaRPr>
          </a:p>
        </p:txBody>
      </p:sp>
      <p:graphicFrame>
        <p:nvGraphicFramePr>
          <p:cNvPr id="411" name="Google Shape;411;p59"/>
          <p:cNvGraphicFramePr/>
          <p:nvPr/>
        </p:nvGraphicFramePr>
        <p:xfrm>
          <a:off x="623400" y="1392000"/>
          <a:ext cx="7239000" cy="182875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5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5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5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5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5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5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5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5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5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sz="15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60"/>
          <p:cNvSpPr txBox="1">
            <a:spLocks noGrp="1"/>
          </p:cNvSpPr>
          <p:nvPr>
            <p:ph type="title"/>
          </p:nvPr>
        </p:nvSpPr>
        <p:spPr>
          <a:xfrm>
            <a:off x="611950" y="326500"/>
            <a:ext cx="8214300" cy="113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Главная мысль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слайда  </a:t>
            </a:r>
            <a:endParaRPr/>
          </a:p>
        </p:txBody>
      </p:sp>
      <p:sp>
        <p:nvSpPr>
          <p:cNvPr id="417" name="Google Shape;417;p60"/>
          <p:cNvSpPr txBox="1">
            <a:spLocks noGrp="1"/>
          </p:cNvSpPr>
          <p:nvPr>
            <p:ph type="title"/>
          </p:nvPr>
        </p:nvSpPr>
        <p:spPr>
          <a:xfrm>
            <a:off x="611950" y="1646950"/>
            <a:ext cx="4239900" cy="24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0" dirty="0">
                <a:solidFill>
                  <a:srgbClr val="333333"/>
                </a:solidFill>
                <a:highlight>
                  <a:srgbClr val="FFFFFF"/>
                </a:highlight>
              </a:rPr>
              <a:t>В случае, если мы обнаружили превышение </a:t>
            </a:r>
            <a:endParaRPr sz="1300" b="0" dirty="0">
              <a:solidFill>
                <a:srgbClr val="333333"/>
              </a:solidFill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0" dirty="0">
                <a:solidFill>
                  <a:srgbClr val="333333"/>
                </a:solidFill>
                <a:highlight>
                  <a:srgbClr val="FFFFFF"/>
                </a:highlight>
              </a:rPr>
              <a:t>по какому-то определенному параметру, то </a:t>
            </a:r>
            <a:endParaRPr sz="1300" b="0" dirty="0">
              <a:solidFill>
                <a:srgbClr val="333333"/>
              </a:solidFill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0" dirty="0">
                <a:solidFill>
                  <a:srgbClr val="333333"/>
                </a:solidFill>
                <a:highlight>
                  <a:srgbClr val="FFFFFF"/>
                </a:highlight>
              </a:rPr>
              <a:t>нам необходимо разобраться в причинах произошедшего, и здесь нам на помощь приходят журналы событий сервисов. </a:t>
            </a:r>
            <a:endParaRPr sz="1300" b="0" dirty="0">
              <a:solidFill>
                <a:srgbClr val="333333"/>
              </a:solidFill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0" dirty="0">
              <a:solidFill>
                <a:srgbClr val="333333"/>
              </a:solidFill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0" dirty="0">
                <a:solidFill>
                  <a:srgbClr val="333333"/>
                </a:solidFill>
                <a:highlight>
                  <a:srgbClr val="FFFFFF"/>
                </a:highlight>
              </a:rPr>
              <a:t>В логах можно найти много полезной информации касающейся проблем в работе приложения, по сути, если событие в принципе логируется, то мы можем его найти и проанализировать.</a:t>
            </a:r>
            <a:endParaRPr sz="1300" b="0" dirty="0"/>
          </a:p>
        </p:txBody>
      </p:sp>
      <p:sp>
        <p:nvSpPr>
          <p:cNvPr id="418" name="Google Shape;418;p60"/>
          <p:cNvSpPr txBox="1"/>
          <p:nvPr/>
        </p:nvSpPr>
        <p:spPr>
          <a:xfrm>
            <a:off x="611950" y="4496675"/>
            <a:ext cx="42399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 dirty="0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rPr>
              <a:t>ссылка на источник кегль 11: </a:t>
            </a:r>
            <a:r>
              <a:rPr lang="ru" sz="1100" u="sng" dirty="0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https://habr.com/ru/companies/rosatom/articles/841842/</a:t>
            </a:r>
            <a:endParaRPr sz="1100" dirty="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9" name="Google Shape;419;p60"/>
          <p:cNvSpPr/>
          <p:nvPr/>
        </p:nvSpPr>
        <p:spPr>
          <a:xfrm>
            <a:off x="5306100" y="0"/>
            <a:ext cx="38379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место для иллюстрации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>
            <a:spLocks noGrp="1"/>
          </p:cNvSpPr>
          <p:nvPr>
            <p:ph type="title"/>
          </p:nvPr>
        </p:nvSpPr>
        <p:spPr>
          <a:xfrm>
            <a:off x="623400" y="42597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Слайд с 3 колонками</a:t>
            </a:r>
            <a:endParaRPr/>
          </a:p>
        </p:txBody>
      </p:sp>
      <p:sp>
        <p:nvSpPr>
          <p:cNvPr id="425" name="Google Shape;425;p61"/>
          <p:cNvSpPr txBox="1"/>
          <p:nvPr/>
        </p:nvSpPr>
        <p:spPr>
          <a:xfrm>
            <a:off x="1394388" y="2747863"/>
            <a:ext cx="2159100" cy="17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Над текстовым полем могут быть иконки, цифры, иллюстрации – всё, на чем вы хотите сакцентировать внимание студентов. 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6" name="Google Shape;426;p61"/>
          <p:cNvSpPr txBox="1"/>
          <p:nvPr/>
        </p:nvSpPr>
        <p:spPr>
          <a:xfrm>
            <a:off x="3670788" y="2747863"/>
            <a:ext cx="2159100" cy="17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Над текстовым полем могут быть иконки, цифры, иллюстрации – всё, на чем вы хотите сакцентировать внимание студентов. 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7" name="Google Shape;427;p61"/>
          <p:cNvSpPr txBox="1"/>
          <p:nvPr/>
        </p:nvSpPr>
        <p:spPr>
          <a:xfrm>
            <a:off x="5947188" y="2747863"/>
            <a:ext cx="2159100" cy="17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Над текстовым полем могут быть иконки, цифры, иллюстрации – всё, на чем вы хотите сакцентировать внимание студентов. 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28" name="Google Shape;428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83850" y="1791975"/>
            <a:ext cx="685800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9" name="Google Shape;429;p6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29100" y="1791975"/>
            <a:ext cx="685800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6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46850" y="1791975"/>
            <a:ext cx="685800" cy="68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31" name="Google Shape;431;p61"/>
          <p:cNvGrpSpPr/>
          <p:nvPr/>
        </p:nvGrpSpPr>
        <p:grpSpPr>
          <a:xfrm>
            <a:off x="6080501" y="248200"/>
            <a:ext cx="2783324" cy="1153950"/>
            <a:chOff x="6567151" y="248200"/>
            <a:chExt cx="2783324" cy="1153950"/>
          </a:xfrm>
        </p:grpSpPr>
        <p:pic>
          <p:nvPicPr>
            <p:cNvPr id="432" name="Google Shape;432;p61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6567151" y="248200"/>
              <a:ext cx="2783324" cy="1153950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433" name="Google Shape;433;p61"/>
            <p:cNvSpPr txBox="1"/>
            <p:nvPr/>
          </p:nvSpPr>
          <p:spPr>
            <a:xfrm>
              <a:off x="6966546" y="434875"/>
              <a:ext cx="2221500" cy="692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100" b="1">
                  <a:latin typeface="Roboto"/>
                  <a:ea typeface="Roboto"/>
                  <a:cs typeface="Roboto"/>
                  <a:sym typeface="Roboto"/>
                </a:rPr>
                <a:t>поменяйте иконки на подходящие по смыслу (слайд 100)</a:t>
              </a:r>
              <a:endParaRPr sz="11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2"/>
          <p:cNvSpPr txBox="1">
            <a:spLocks noGrp="1"/>
          </p:cNvSpPr>
          <p:nvPr>
            <p:ph type="title"/>
          </p:nvPr>
        </p:nvSpPr>
        <p:spPr>
          <a:xfrm>
            <a:off x="500550" y="28057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Сравнение двух кейсов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Arial"/>
              <a:buNone/>
            </a:pPr>
            <a:endParaRPr/>
          </a:p>
        </p:txBody>
      </p:sp>
      <p:sp>
        <p:nvSpPr>
          <p:cNvPr id="439" name="Google Shape;439;p62"/>
          <p:cNvSpPr/>
          <p:nvPr/>
        </p:nvSpPr>
        <p:spPr>
          <a:xfrm>
            <a:off x="4795100" y="1522725"/>
            <a:ext cx="3414600" cy="24006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0" name="Google Shape;440;p62"/>
          <p:cNvSpPr/>
          <p:nvPr/>
        </p:nvSpPr>
        <p:spPr>
          <a:xfrm>
            <a:off x="934300" y="1522725"/>
            <a:ext cx="3414600" cy="24006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1" name="Google Shape;441;p62"/>
          <p:cNvSpPr txBox="1"/>
          <p:nvPr/>
        </p:nvSpPr>
        <p:spPr>
          <a:xfrm>
            <a:off x="1040225" y="1993025"/>
            <a:ext cx="3414600" cy="165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Определяющей характеристикой </a:t>
            </a:r>
            <a:endParaRPr sz="12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метрик является то, что они поддаются агрегированию, то есть, метрики </a:t>
            </a:r>
            <a:endParaRPr sz="12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похожи на атомы, которые складываются </a:t>
            </a:r>
            <a:endParaRPr sz="12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в единый логический индикатор, счетчик или гистограмму за определенный промежуток времени.</a:t>
            </a:r>
            <a:r>
              <a:rPr lang="ru" sz="13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3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2" name="Google Shape;442;p62"/>
          <p:cNvSpPr txBox="1"/>
          <p:nvPr/>
        </p:nvSpPr>
        <p:spPr>
          <a:xfrm>
            <a:off x="5005100" y="2000675"/>
            <a:ext cx="3204600" cy="16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В качестве примеров: текущая глубина очереди может быть смоделирована </a:t>
            </a:r>
            <a:endParaRPr sz="12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как индикатор, количество входящих </a:t>
            </a:r>
            <a:endParaRPr sz="12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HTTP-запросов может быть смоделировано как счетчик, обновления которого агрегируются простым сложением.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3" name="Google Shape;443;p62"/>
          <p:cNvSpPr txBox="1"/>
          <p:nvPr/>
        </p:nvSpPr>
        <p:spPr>
          <a:xfrm>
            <a:off x="1040225" y="1637850"/>
            <a:ext cx="14826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700" b="1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Кейс 1</a:t>
            </a:r>
            <a:endParaRPr sz="1700" b="1">
              <a:solidFill>
                <a:srgbClr val="9857F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4" name="Google Shape;444;p62"/>
          <p:cNvSpPr txBox="1"/>
          <p:nvPr/>
        </p:nvSpPr>
        <p:spPr>
          <a:xfrm>
            <a:off x="5005100" y="1637850"/>
            <a:ext cx="14826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700" b="1">
                <a:solidFill>
                  <a:srgbClr val="2AB7E4"/>
                </a:solidFill>
                <a:latin typeface="Roboto"/>
                <a:ea typeface="Roboto"/>
                <a:cs typeface="Roboto"/>
                <a:sym typeface="Roboto"/>
              </a:rPr>
              <a:t>Кейс 2</a:t>
            </a:r>
            <a:endParaRPr sz="1700" b="1">
              <a:solidFill>
                <a:srgbClr val="2AB7E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9" name="Google Shape;449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72050" y="0"/>
            <a:ext cx="9216056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50" name="Google Shape;450;p63"/>
          <p:cNvSpPr/>
          <p:nvPr/>
        </p:nvSpPr>
        <p:spPr>
          <a:xfrm>
            <a:off x="1850100" y="804751"/>
            <a:ext cx="5443800" cy="11856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1" name="Google Shape;451;p63"/>
          <p:cNvSpPr/>
          <p:nvPr/>
        </p:nvSpPr>
        <p:spPr>
          <a:xfrm>
            <a:off x="1850100" y="2134582"/>
            <a:ext cx="5443800" cy="11856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2" name="Google Shape;452;p63"/>
          <p:cNvSpPr/>
          <p:nvPr/>
        </p:nvSpPr>
        <p:spPr>
          <a:xfrm>
            <a:off x="1850100" y="3464401"/>
            <a:ext cx="5443800" cy="11856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3" name="Google Shape;453;p63"/>
          <p:cNvSpPr txBox="1"/>
          <p:nvPr/>
        </p:nvSpPr>
        <p:spPr>
          <a:xfrm>
            <a:off x="2234263" y="928500"/>
            <a:ext cx="4819500" cy="9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Определяющей характеристикой метрик является то, что они поддаются агрегированию, то есть, метрики похожи на атомы, которые складываются в единый логический индикатор, счетчик или гистограмму за определенный промежуток времени. </a:t>
            </a:r>
            <a:endParaRPr sz="11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4" name="Google Shape;454;p63"/>
          <p:cNvSpPr txBox="1"/>
          <p:nvPr/>
        </p:nvSpPr>
        <p:spPr>
          <a:xfrm>
            <a:off x="2234263" y="2196450"/>
            <a:ext cx="4819500" cy="9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Определяющей характеристикой метрик является то, что они поддаются агрегированию, то есть, метрики похожи на атомы, которые складываются в единый логический индикатор, счетчик или гистограмму за определенный промежуток времени. </a:t>
            </a:r>
            <a:endParaRPr sz="11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5" name="Google Shape;455;p63"/>
          <p:cNvSpPr txBox="1"/>
          <p:nvPr/>
        </p:nvSpPr>
        <p:spPr>
          <a:xfrm>
            <a:off x="2234263" y="3588150"/>
            <a:ext cx="4819500" cy="9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Определяющей характеристикой метрик является то, что они поддаются агрегированию, то есть, метрики похожи на атомы, которые складываются в единый логический индикатор, счетчик или гистограмму за определенный промежуток времени. </a:t>
            </a:r>
            <a:endParaRPr sz="11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64"/>
          <p:cNvSpPr txBox="1">
            <a:spLocks noGrp="1"/>
          </p:cNvSpPr>
          <p:nvPr>
            <p:ph type="title"/>
          </p:nvPr>
        </p:nvSpPr>
        <p:spPr>
          <a:xfrm>
            <a:off x="600400" y="438675"/>
            <a:ext cx="66522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Заголовок: главная мысль слайда </a:t>
            </a:r>
            <a:endParaRPr/>
          </a:p>
        </p:txBody>
      </p:sp>
      <p:sp>
        <p:nvSpPr>
          <p:cNvPr id="461" name="Google Shape;461;p64"/>
          <p:cNvSpPr/>
          <p:nvPr/>
        </p:nvSpPr>
        <p:spPr>
          <a:xfrm>
            <a:off x="6148300" y="1441775"/>
            <a:ext cx="2623800" cy="3105900"/>
          </a:xfrm>
          <a:prstGeom prst="roundRect">
            <a:avLst>
              <a:gd name="adj" fmla="val 13977"/>
            </a:avLst>
          </a:prstGeom>
          <a:solidFill>
            <a:srgbClr val="3F299A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2" name="Google Shape;462;p64"/>
          <p:cNvSpPr txBox="1"/>
          <p:nvPr/>
        </p:nvSpPr>
        <p:spPr>
          <a:xfrm>
            <a:off x="6237700" y="1888650"/>
            <a:ext cx="2445000" cy="21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Место для кейса на полях: разместите здесь пример, иллюстрирующий вашу мысль, интересный факт, ссылку на дополнительный источник информации</a:t>
            </a:r>
            <a:endParaRPr>
              <a:solidFill>
                <a:schemeClr val="lt1"/>
              </a:solidFill>
              <a:latin typeface="Roboto Medium"/>
              <a:ea typeface="Roboto Medium"/>
              <a:cs typeface="Roboto Medium"/>
              <a:sym typeface="Roboto Medium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 и т.д.</a:t>
            </a:r>
            <a:endParaRPr>
              <a:solidFill>
                <a:schemeClr val="lt1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463" name="Google Shape;463;p64"/>
          <p:cNvSpPr txBox="1"/>
          <p:nvPr/>
        </p:nvSpPr>
        <p:spPr>
          <a:xfrm>
            <a:off x="600400" y="1584975"/>
            <a:ext cx="5053500" cy="23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В этой статье мы будем завершать тему мониторинга </a:t>
            </a:r>
            <a:endParaRPr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и поговорим о мониторинге работы самих приложений. Какими средствами и как можно осуществлять сбор метрик с приложений и что такое трассировка.</a:t>
            </a:r>
            <a:endParaRPr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Как уже говорилось в предыдущих статьях, мы можем осуществлять сбор количественных показателей по событиям, формирующим тренды с помощью метрик.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64" name="Google Shape;464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2000" y="3843575"/>
            <a:ext cx="739326" cy="85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65"/>
          <p:cNvSpPr txBox="1"/>
          <p:nvPr/>
        </p:nvSpPr>
        <p:spPr>
          <a:xfrm>
            <a:off x="567600" y="1572900"/>
            <a:ext cx="3906300" cy="17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3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Мысль, </a:t>
            </a:r>
            <a:endParaRPr sz="33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3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объединяющая пункты списка</a:t>
            </a:r>
            <a:endParaRPr sz="33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70" name="Google Shape;470;p65"/>
          <p:cNvGraphicFramePr/>
          <p:nvPr/>
        </p:nvGraphicFramePr>
        <p:xfrm>
          <a:off x="4917613" y="643800"/>
          <a:ext cx="3795750" cy="3852916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3795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45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отношений между ними, атрибутов сущностей, 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их типов данных, соглашений об именовании 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 правил проверки целостностей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отношений между ними, атрибутов сущностей, 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их типов данных, соглашений об именовании 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 правил проверки целостностей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отношений между ними, атрибутов сущностей, 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их типов данных, соглашений об именовании 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 правил проверки целостностей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471" name="Google Shape;471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3900" y="1024700"/>
            <a:ext cx="315075" cy="321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72" name="Google Shape;472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3900" y="2453675"/>
            <a:ext cx="315075" cy="321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" name="Google Shape;473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3900" y="3882650"/>
            <a:ext cx="315075" cy="321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8" name="Google Shape;478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97766" y="2154250"/>
            <a:ext cx="1432496" cy="658400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79" name="Google Shape;479;p6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3738" y="2154250"/>
            <a:ext cx="1432494" cy="658400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80" name="Google Shape;480;p6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98124" y="2154250"/>
            <a:ext cx="1432494" cy="658400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81" name="Google Shape;481;p6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183276" y="2154250"/>
            <a:ext cx="1432494" cy="658400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82" name="Google Shape;482;p6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47946" y="2154250"/>
            <a:ext cx="1432494" cy="658400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83" name="Google Shape;483;p66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904655" y="2154250"/>
            <a:ext cx="1432494" cy="658400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484" name="Google Shape;484;p66"/>
          <p:cNvSpPr txBox="1">
            <a:spLocks noGrp="1"/>
          </p:cNvSpPr>
          <p:nvPr>
            <p:ph type="title"/>
          </p:nvPr>
        </p:nvSpPr>
        <p:spPr>
          <a:xfrm>
            <a:off x="600400" y="438675"/>
            <a:ext cx="74931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Процесс через этапы</a:t>
            </a:r>
            <a:r>
              <a:rPr lang="ru"/>
              <a:t> </a:t>
            </a:r>
            <a:endParaRPr/>
          </a:p>
        </p:txBody>
      </p:sp>
      <p:sp>
        <p:nvSpPr>
          <p:cNvPr id="485" name="Google Shape;485;p66"/>
          <p:cNvSpPr txBox="1"/>
          <p:nvPr/>
        </p:nvSpPr>
        <p:spPr>
          <a:xfrm>
            <a:off x="666741" y="2261904"/>
            <a:ext cx="926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6" name="Google Shape;486;p66"/>
          <p:cNvSpPr txBox="1"/>
          <p:nvPr/>
        </p:nvSpPr>
        <p:spPr>
          <a:xfrm>
            <a:off x="2051513" y="2261904"/>
            <a:ext cx="926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7" name="Google Shape;487;p66"/>
          <p:cNvSpPr txBox="1"/>
          <p:nvPr/>
        </p:nvSpPr>
        <p:spPr>
          <a:xfrm>
            <a:off x="3426048" y="2261904"/>
            <a:ext cx="926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8" name="Google Shape;488;p66"/>
          <p:cNvSpPr txBox="1"/>
          <p:nvPr/>
        </p:nvSpPr>
        <p:spPr>
          <a:xfrm>
            <a:off x="4796971" y="2261904"/>
            <a:ext cx="926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9" name="Google Shape;489;p66"/>
          <p:cNvSpPr txBox="1"/>
          <p:nvPr/>
        </p:nvSpPr>
        <p:spPr>
          <a:xfrm>
            <a:off x="6175865" y="2261904"/>
            <a:ext cx="926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5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0" name="Google Shape;490;p66"/>
          <p:cNvSpPr txBox="1"/>
          <p:nvPr/>
        </p:nvSpPr>
        <p:spPr>
          <a:xfrm>
            <a:off x="7518328" y="2261904"/>
            <a:ext cx="926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6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91" name="Google Shape;491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3490" y="3229250"/>
            <a:ext cx="1489885" cy="86939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92" name="Google Shape;492;p6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3675" y="3229251"/>
            <a:ext cx="1489883" cy="86939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93" name="Google Shape;493;p6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53522" y="3229250"/>
            <a:ext cx="1489883" cy="86939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94" name="Google Shape;494;p6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194166" y="3229250"/>
            <a:ext cx="1489883" cy="86939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95" name="Google Shape;495;p6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13507" y="3229250"/>
            <a:ext cx="1489883" cy="86939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96" name="Google Shape;496;p66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024569" y="3229250"/>
            <a:ext cx="1489883" cy="86939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497" name="Google Shape;497;p66"/>
          <p:cNvSpPr txBox="1"/>
          <p:nvPr/>
        </p:nvSpPr>
        <p:spPr>
          <a:xfrm>
            <a:off x="576814" y="3447605"/>
            <a:ext cx="963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8" name="Google Shape;498;p66"/>
          <p:cNvSpPr txBox="1"/>
          <p:nvPr/>
        </p:nvSpPr>
        <p:spPr>
          <a:xfrm>
            <a:off x="2017063" y="3447605"/>
            <a:ext cx="963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9" name="Google Shape;499;p66"/>
          <p:cNvSpPr txBox="1"/>
          <p:nvPr/>
        </p:nvSpPr>
        <p:spPr>
          <a:xfrm>
            <a:off x="3446664" y="3447605"/>
            <a:ext cx="963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3 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0" name="Google Shape;500;p66"/>
          <p:cNvSpPr txBox="1"/>
          <p:nvPr/>
        </p:nvSpPr>
        <p:spPr>
          <a:xfrm>
            <a:off x="4872508" y="3447605"/>
            <a:ext cx="963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1" name="Google Shape;501;p66"/>
          <p:cNvSpPr txBox="1"/>
          <p:nvPr/>
        </p:nvSpPr>
        <p:spPr>
          <a:xfrm>
            <a:off x="6306643" y="3447605"/>
            <a:ext cx="963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5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2" name="Google Shape;502;p66"/>
          <p:cNvSpPr txBox="1"/>
          <p:nvPr/>
        </p:nvSpPr>
        <p:spPr>
          <a:xfrm>
            <a:off x="7702888" y="3447605"/>
            <a:ext cx="963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6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7" name="Google Shape;507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08" name="Google Shape;508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09" name="Google Shape;509;p6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10" name="Google Shape;510;p6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511" name="Google Shape;511;p67"/>
          <p:cNvSpPr txBox="1">
            <a:spLocks noGrp="1"/>
          </p:cNvSpPr>
          <p:nvPr>
            <p:ph type="title"/>
          </p:nvPr>
        </p:nvSpPr>
        <p:spPr>
          <a:xfrm>
            <a:off x="600400" y="438675"/>
            <a:ext cx="74931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Процесс через этапы</a:t>
            </a:r>
            <a:r>
              <a:rPr lang="ru"/>
              <a:t> </a:t>
            </a:r>
            <a:endParaRPr/>
          </a:p>
        </p:txBody>
      </p:sp>
      <p:sp>
        <p:nvSpPr>
          <p:cNvPr id="512" name="Google Shape;512;p67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3" name="Google Shape;513;p67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4" name="Google Shape;514;p67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5" name="Google Shape;515;p67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516" name="Google Shape;516;p67"/>
          <p:cNvGraphicFramePr/>
          <p:nvPr/>
        </p:nvGraphicFramePr>
        <p:xfrm>
          <a:off x="922850" y="3116575"/>
          <a:ext cx="7239000" cy="1275622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</a:t>
                      </a:r>
                      <a:endParaRPr sz="9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 именовании и правил проверки целостностей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</a:t>
                      </a:r>
                      <a:endParaRPr sz="9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 именовании и правил проверки целостностей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</a:t>
                      </a:r>
                      <a:endParaRPr sz="9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 именовании и правил проверки целостностей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</a:t>
                      </a:r>
                      <a:endParaRPr sz="9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 именовании и правил проверки целостностей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1" name="Google Shape;521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6626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22" name="Google Shape;522;p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46014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23" name="Google Shape;523;p6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766940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24" name="Google Shape;524;p6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47926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25" name="Google Shape;525;p6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128892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526" name="Google Shape;526;p68"/>
          <p:cNvSpPr txBox="1">
            <a:spLocks noGrp="1"/>
          </p:cNvSpPr>
          <p:nvPr>
            <p:ph type="title"/>
          </p:nvPr>
        </p:nvSpPr>
        <p:spPr>
          <a:xfrm>
            <a:off x="600400" y="438675"/>
            <a:ext cx="74931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Процесс через этапы</a:t>
            </a:r>
            <a:r>
              <a:rPr lang="ru"/>
              <a:t> </a:t>
            </a:r>
            <a:endParaRPr/>
          </a:p>
        </p:txBody>
      </p:sp>
      <p:sp>
        <p:nvSpPr>
          <p:cNvPr id="527" name="Google Shape;527;p68"/>
          <p:cNvSpPr txBox="1"/>
          <p:nvPr/>
        </p:nvSpPr>
        <p:spPr>
          <a:xfrm>
            <a:off x="786781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8" name="Google Shape;528;p68"/>
          <p:cNvSpPr txBox="1"/>
          <p:nvPr/>
        </p:nvSpPr>
        <p:spPr>
          <a:xfrm>
            <a:off x="2436168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9" name="Google Shape;529;p68"/>
          <p:cNvSpPr txBox="1"/>
          <p:nvPr/>
        </p:nvSpPr>
        <p:spPr>
          <a:xfrm>
            <a:off x="4057095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0" name="Google Shape;530;p68"/>
          <p:cNvSpPr txBox="1"/>
          <p:nvPr/>
        </p:nvSpPr>
        <p:spPr>
          <a:xfrm>
            <a:off x="5738081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1" name="Google Shape;531;p68"/>
          <p:cNvSpPr txBox="1"/>
          <p:nvPr/>
        </p:nvSpPr>
        <p:spPr>
          <a:xfrm>
            <a:off x="7419047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5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532" name="Google Shape;532;p68"/>
          <p:cNvGraphicFramePr/>
          <p:nvPr/>
        </p:nvGraphicFramePr>
        <p:xfrm>
          <a:off x="496600" y="3116575"/>
          <a:ext cx="8275500" cy="127613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165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5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5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5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55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</a:t>
                      </a:r>
                      <a:endParaRPr sz="9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 именовании и правил проверки целостностей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</a:t>
                      </a:r>
                      <a:endParaRPr sz="9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 именовании и правил проверки целостностей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</a:t>
                      </a:r>
                      <a:endParaRPr sz="9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 именовании и правил проверки целостностей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</a:t>
                      </a:r>
                      <a:endParaRPr sz="9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 именовании и правил проверки целостностей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</a:t>
                      </a:r>
                      <a:endParaRPr sz="9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 именовании и правил проверки целостностей </a:t>
                      </a:r>
                      <a:endParaRPr sz="9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7" name="Google Shape;537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79775" y="1462600"/>
            <a:ext cx="1294150" cy="594822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38" name="Google Shape;538;p6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79775" y="2175797"/>
            <a:ext cx="1294150" cy="594822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39" name="Google Shape;539;p6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79775" y="2852067"/>
            <a:ext cx="1294150" cy="594822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40" name="Google Shape;540;p6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279775" y="3519916"/>
            <a:ext cx="1294150" cy="594822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41" name="Google Shape;541;p6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279775" y="4187778"/>
            <a:ext cx="1294150" cy="594822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542" name="Google Shape;542;p69"/>
          <p:cNvSpPr txBox="1">
            <a:spLocks noGrp="1"/>
          </p:cNvSpPr>
          <p:nvPr>
            <p:ph type="title"/>
          </p:nvPr>
        </p:nvSpPr>
        <p:spPr>
          <a:xfrm>
            <a:off x="600400" y="438675"/>
            <a:ext cx="74931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Процесс через этапы</a:t>
            </a:r>
            <a:r>
              <a:rPr lang="ru"/>
              <a:t> </a:t>
            </a:r>
            <a:endParaRPr/>
          </a:p>
        </p:txBody>
      </p:sp>
      <p:sp>
        <p:nvSpPr>
          <p:cNvPr id="543" name="Google Shape;543;p69"/>
          <p:cNvSpPr txBox="1"/>
          <p:nvPr/>
        </p:nvSpPr>
        <p:spPr>
          <a:xfrm>
            <a:off x="1508200" y="1552261"/>
            <a:ext cx="83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69"/>
          <p:cNvSpPr txBox="1"/>
          <p:nvPr/>
        </p:nvSpPr>
        <p:spPr>
          <a:xfrm>
            <a:off x="1508200" y="2265458"/>
            <a:ext cx="83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5" name="Google Shape;545;p69"/>
          <p:cNvSpPr txBox="1"/>
          <p:nvPr/>
        </p:nvSpPr>
        <p:spPr>
          <a:xfrm>
            <a:off x="1508200" y="2941728"/>
            <a:ext cx="83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69"/>
          <p:cNvSpPr txBox="1"/>
          <p:nvPr/>
        </p:nvSpPr>
        <p:spPr>
          <a:xfrm>
            <a:off x="1508200" y="3609577"/>
            <a:ext cx="83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7" name="Google Shape;547;p69"/>
          <p:cNvSpPr txBox="1"/>
          <p:nvPr/>
        </p:nvSpPr>
        <p:spPr>
          <a:xfrm>
            <a:off x="1508200" y="4277439"/>
            <a:ext cx="83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5</a:t>
            </a:r>
            <a:endParaRPr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548" name="Google Shape;548;p69"/>
          <p:cNvGraphicFramePr/>
          <p:nvPr/>
        </p:nvGraphicFramePr>
        <p:xfrm>
          <a:off x="2781050" y="14351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5494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0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 об именовании и правил проверки целостностей </a:t>
                      </a:r>
                      <a:endParaRPr sz="15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0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 об именовании и правил проверки целостностей </a:t>
                      </a:r>
                      <a:endParaRPr sz="15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0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 об именовании и правил проверки целостностей </a:t>
                      </a:r>
                      <a:endParaRPr sz="15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0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 об именовании и правил проверки целостностей </a:t>
                      </a:r>
                      <a:endParaRPr sz="15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0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 об именовании и правил проверки целостностей </a:t>
                      </a:r>
                      <a:endParaRPr sz="15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3" name="Google Shape;553;p7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79166" y="1028450"/>
            <a:ext cx="5861734" cy="4256950"/>
          </a:xfrm>
          <a:prstGeom prst="rect">
            <a:avLst/>
          </a:prstGeom>
          <a:noFill/>
          <a:ln>
            <a:noFill/>
          </a:ln>
        </p:spPr>
      </p:pic>
      <p:sp>
        <p:nvSpPr>
          <p:cNvPr id="554" name="Google Shape;554;p70"/>
          <p:cNvSpPr/>
          <p:nvPr/>
        </p:nvSpPr>
        <p:spPr>
          <a:xfrm>
            <a:off x="4701625" y="1717700"/>
            <a:ext cx="1622400" cy="646500"/>
          </a:xfrm>
          <a:prstGeom prst="roundRect">
            <a:avLst>
              <a:gd name="adj" fmla="val 16667"/>
            </a:avLst>
          </a:prstGeom>
          <a:solidFill>
            <a:srgbClr val="FAFB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5" name="Google Shape;555;p70"/>
          <p:cNvSpPr/>
          <p:nvPr/>
        </p:nvSpPr>
        <p:spPr>
          <a:xfrm>
            <a:off x="5652425" y="2842775"/>
            <a:ext cx="1622400" cy="646500"/>
          </a:xfrm>
          <a:prstGeom prst="roundRect">
            <a:avLst>
              <a:gd name="adj" fmla="val 16667"/>
            </a:avLst>
          </a:prstGeom>
          <a:solidFill>
            <a:srgbClr val="FAFB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6" name="Google Shape;556;p70"/>
          <p:cNvSpPr/>
          <p:nvPr/>
        </p:nvSpPr>
        <p:spPr>
          <a:xfrm>
            <a:off x="5197600" y="3967850"/>
            <a:ext cx="1622400" cy="646500"/>
          </a:xfrm>
          <a:prstGeom prst="roundRect">
            <a:avLst>
              <a:gd name="adj" fmla="val 16667"/>
            </a:avLst>
          </a:prstGeom>
          <a:solidFill>
            <a:srgbClr val="FAFB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7" name="Google Shape;557;p70"/>
          <p:cNvSpPr/>
          <p:nvPr/>
        </p:nvSpPr>
        <p:spPr>
          <a:xfrm>
            <a:off x="3180175" y="4287250"/>
            <a:ext cx="1622400" cy="646500"/>
          </a:xfrm>
          <a:prstGeom prst="roundRect">
            <a:avLst>
              <a:gd name="adj" fmla="val 16667"/>
            </a:avLst>
          </a:prstGeom>
          <a:solidFill>
            <a:srgbClr val="FAFB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8" name="Google Shape;558;p70"/>
          <p:cNvSpPr/>
          <p:nvPr/>
        </p:nvSpPr>
        <p:spPr>
          <a:xfrm>
            <a:off x="1617075" y="3521863"/>
            <a:ext cx="1622400" cy="646500"/>
          </a:xfrm>
          <a:prstGeom prst="roundRect">
            <a:avLst>
              <a:gd name="adj" fmla="val 16667"/>
            </a:avLst>
          </a:prstGeom>
          <a:solidFill>
            <a:srgbClr val="FAFB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9" name="Google Shape;559;p70"/>
          <p:cNvSpPr/>
          <p:nvPr/>
        </p:nvSpPr>
        <p:spPr>
          <a:xfrm>
            <a:off x="1380700" y="2574700"/>
            <a:ext cx="1622400" cy="646500"/>
          </a:xfrm>
          <a:prstGeom prst="roundRect">
            <a:avLst>
              <a:gd name="adj" fmla="val 16667"/>
            </a:avLst>
          </a:prstGeom>
          <a:solidFill>
            <a:srgbClr val="FAFB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0" name="Google Shape;560;p70"/>
          <p:cNvSpPr txBox="1"/>
          <p:nvPr/>
        </p:nvSpPr>
        <p:spPr>
          <a:xfrm>
            <a:off x="592975" y="381950"/>
            <a:ext cx="85509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Определения, которые нужно сгруппировать</a:t>
            </a:r>
            <a:endParaRPr/>
          </a:p>
        </p:txBody>
      </p:sp>
      <p:sp>
        <p:nvSpPr>
          <p:cNvPr id="561" name="Google Shape;561;p70"/>
          <p:cNvSpPr txBox="1"/>
          <p:nvPr/>
        </p:nvSpPr>
        <p:spPr>
          <a:xfrm>
            <a:off x="3457909" y="2796575"/>
            <a:ext cx="17397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Центральное</a:t>
            </a:r>
            <a:endParaRPr sz="18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определение</a:t>
            </a:r>
            <a:endParaRPr sz="18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2" name="Google Shape;562;p70"/>
          <p:cNvSpPr/>
          <p:nvPr/>
        </p:nvSpPr>
        <p:spPr>
          <a:xfrm>
            <a:off x="2537225" y="1627525"/>
            <a:ext cx="1622400" cy="646500"/>
          </a:xfrm>
          <a:prstGeom prst="roundRect">
            <a:avLst>
              <a:gd name="adj" fmla="val 16667"/>
            </a:avLst>
          </a:prstGeom>
          <a:solidFill>
            <a:srgbClr val="FAFB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3" name="Google Shape;563;p70"/>
          <p:cNvSpPr txBox="1"/>
          <p:nvPr/>
        </p:nvSpPr>
        <p:spPr>
          <a:xfrm>
            <a:off x="1499775" y="2690200"/>
            <a:ext cx="1395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Определение</a:t>
            </a:r>
            <a:endParaRPr sz="15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4" name="Google Shape;564;p70"/>
          <p:cNvSpPr txBox="1"/>
          <p:nvPr/>
        </p:nvSpPr>
        <p:spPr>
          <a:xfrm>
            <a:off x="2609976" y="1762525"/>
            <a:ext cx="1476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Определение</a:t>
            </a:r>
            <a:endParaRPr sz="15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5" name="Google Shape;565;p70"/>
          <p:cNvSpPr txBox="1"/>
          <p:nvPr/>
        </p:nvSpPr>
        <p:spPr>
          <a:xfrm>
            <a:off x="4802581" y="1833207"/>
            <a:ext cx="1739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Определение</a:t>
            </a:r>
            <a:endParaRPr sz="15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6" name="Google Shape;566;p70"/>
          <p:cNvSpPr txBox="1"/>
          <p:nvPr/>
        </p:nvSpPr>
        <p:spPr>
          <a:xfrm>
            <a:off x="5760402" y="2958263"/>
            <a:ext cx="1739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Определение</a:t>
            </a:r>
            <a:endParaRPr sz="15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7" name="Google Shape;567;p70"/>
          <p:cNvSpPr txBox="1"/>
          <p:nvPr/>
        </p:nvSpPr>
        <p:spPr>
          <a:xfrm>
            <a:off x="5301135" y="4083357"/>
            <a:ext cx="1739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Определение</a:t>
            </a:r>
            <a:endParaRPr sz="15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8" name="Google Shape;568;p70"/>
          <p:cNvSpPr txBox="1"/>
          <p:nvPr/>
        </p:nvSpPr>
        <p:spPr>
          <a:xfrm>
            <a:off x="3295713" y="4402745"/>
            <a:ext cx="1739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Определение</a:t>
            </a:r>
            <a:endParaRPr sz="15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9" name="Google Shape;569;p70"/>
          <p:cNvSpPr txBox="1"/>
          <p:nvPr/>
        </p:nvSpPr>
        <p:spPr>
          <a:xfrm>
            <a:off x="1718200" y="3617868"/>
            <a:ext cx="1739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Определение</a:t>
            </a:r>
            <a:endParaRPr sz="15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71"/>
          <p:cNvSpPr txBox="1">
            <a:spLocks noGrp="1"/>
          </p:cNvSpPr>
          <p:nvPr>
            <p:ph type="title"/>
          </p:nvPr>
        </p:nvSpPr>
        <p:spPr>
          <a:xfrm>
            <a:off x="623400" y="420549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Слайд с кодом 1</a:t>
            </a:r>
            <a:endParaRPr/>
          </a:p>
        </p:txBody>
      </p:sp>
      <p:sp>
        <p:nvSpPr>
          <p:cNvPr id="575" name="Google Shape;575;p71"/>
          <p:cNvSpPr txBox="1">
            <a:spLocks noGrp="1"/>
          </p:cNvSpPr>
          <p:nvPr>
            <p:ph type="subTitle" idx="1"/>
          </p:nvPr>
        </p:nvSpPr>
        <p:spPr>
          <a:xfrm>
            <a:off x="754725" y="1516450"/>
            <a:ext cx="8029200" cy="340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</a:t>
            </a:r>
            <a:r>
              <a:rPr lang="ru">
                <a:solidFill>
                  <a:srgbClr val="0645AD"/>
                </a:solidFill>
              </a:rPr>
              <a:t>int</a:t>
            </a:r>
            <a:r>
              <a:rPr lang="ru"/>
              <a:t> **a;  </a:t>
            </a:r>
            <a:r>
              <a:rPr lang="ru">
                <a:solidFill>
                  <a:srgbClr val="019836"/>
                </a:solidFill>
              </a:rPr>
              <a:t>// указатель на указатель на строку элементов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</a:t>
            </a:r>
            <a:r>
              <a:rPr lang="ru">
                <a:solidFill>
                  <a:srgbClr val="0645AD"/>
                </a:solidFill>
              </a:rPr>
              <a:t>int</a:t>
            </a:r>
            <a:r>
              <a:rPr lang="ru"/>
              <a:t> i, j, n, m;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system(</a:t>
            </a:r>
            <a:r>
              <a:rPr lang="ru">
                <a:solidFill>
                  <a:srgbClr val="A61C00"/>
                </a:solidFill>
              </a:rPr>
              <a:t>"chcp 1251"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system(</a:t>
            </a:r>
            <a:r>
              <a:rPr lang="ru">
                <a:solidFill>
                  <a:srgbClr val="A61C00"/>
                </a:solidFill>
              </a:rPr>
              <a:t>"cls"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printf(</a:t>
            </a:r>
            <a:r>
              <a:rPr lang="ru">
                <a:solidFill>
                  <a:srgbClr val="A61C00"/>
                </a:solidFill>
              </a:rPr>
              <a:t>"Введите количество строк: 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scanf(</a:t>
            </a:r>
            <a:r>
              <a:rPr lang="ru">
                <a:solidFill>
                  <a:srgbClr val="A61C00"/>
                </a:solidFill>
              </a:rPr>
              <a:t>"%d"</a:t>
            </a:r>
            <a:r>
              <a:rPr lang="ru"/>
              <a:t>, &amp;n);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printf(</a:t>
            </a:r>
            <a:r>
              <a:rPr lang="ru">
                <a:solidFill>
                  <a:srgbClr val="A61C00"/>
                </a:solidFill>
              </a:rPr>
              <a:t>"Введите количество столбцов: 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scanf(</a:t>
            </a:r>
            <a:r>
              <a:rPr lang="ru">
                <a:solidFill>
                  <a:srgbClr val="A61C00"/>
                </a:solidFill>
              </a:rPr>
              <a:t>"%d"</a:t>
            </a:r>
            <a:r>
              <a:rPr lang="ru"/>
              <a:t>, &amp;m);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</a:t>
            </a:r>
            <a:r>
              <a:rPr lang="ru">
                <a:solidFill>
                  <a:srgbClr val="019836"/>
                </a:solidFill>
              </a:rPr>
              <a:t>// Выделение памяти под указатели на строки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a = (</a:t>
            </a:r>
            <a:r>
              <a:rPr lang="ru">
                <a:solidFill>
                  <a:srgbClr val="0645AD"/>
                </a:solidFill>
              </a:rPr>
              <a:t>int</a:t>
            </a:r>
            <a:r>
              <a:rPr lang="ru"/>
              <a:t>**)malloc (n * </a:t>
            </a:r>
            <a:r>
              <a:rPr lang="ru">
                <a:solidFill>
                  <a:srgbClr val="0645AD"/>
                </a:solidFill>
              </a:rPr>
              <a:t>sizeof</a:t>
            </a:r>
            <a:r>
              <a:rPr lang="ru"/>
              <a:t>(</a:t>
            </a:r>
            <a:r>
              <a:rPr lang="ru">
                <a:solidFill>
                  <a:srgbClr val="0645AD"/>
                </a:solidFill>
              </a:rPr>
              <a:t>int*</a:t>
            </a:r>
            <a:r>
              <a:rPr lang="ru"/>
              <a:t>));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</a:t>
            </a:r>
            <a:r>
              <a:rPr lang="ru">
                <a:solidFill>
                  <a:srgbClr val="019836"/>
                </a:solidFill>
              </a:rPr>
              <a:t>// Ввод элементов массива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</a:t>
            </a:r>
            <a:r>
              <a:rPr lang="ru">
                <a:solidFill>
                  <a:srgbClr val="0645AD"/>
                </a:solidFill>
              </a:rPr>
              <a:t>for </a:t>
            </a:r>
            <a:r>
              <a:rPr lang="ru"/>
              <a:t>(i = 0; i&lt;n; i++)  </a:t>
            </a:r>
            <a:r>
              <a:rPr lang="ru">
                <a:solidFill>
                  <a:srgbClr val="019836"/>
                </a:solidFill>
              </a:rPr>
              <a:t>// цикл по строкам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{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</a:t>
            </a:r>
            <a:r>
              <a:rPr lang="ru">
                <a:solidFill>
                  <a:srgbClr val="019836"/>
                </a:solidFill>
              </a:rPr>
              <a:t>// Выделение памяти под хранение строк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a[i] = (</a:t>
            </a:r>
            <a:r>
              <a:rPr lang="ru">
                <a:solidFill>
                  <a:srgbClr val="0645AD"/>
                </a:solidFill>
              </a:rPr>
              <a:t>int</a:t>
            </a:r>
            <a:r>
              <a:rPr lang="ru"/>
              <a:t>*)malloc(m * </a:t>
            </a:r>
            <a:r>
              <a:rPr lang="ru">
                <a:solidFill>
                  <a:srgbClr val="0645AD"/>
                </a:solidFill>
              </a:rPr>
              <a:t>sizeof</a:t>
            </a:r>
            <a:r>
              <a:rPr lang="ru"/>
              <a:t>(</a:t>
            </a:r>
            <a:r>
              <a:rPr lang="ru">
                <a:solidFill>
                  <a:srgbClr val="0645AD"/>
                </a:solidFill>
              </a:rPr>
              <a:t>int</a:t>
            </a:r>
            <a:r>
              <a:rPr lang="ru"/>
              <a:t>));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</a:t>
            </a:r>
            <a:r>
              <a:rPr lang="ru">
                <a:solidFill>
                  <a:srgbClr val="0645AD"/>
                </a:solidFill>
              </a:rPr>
              <a:t>for </a:t>
            </a:r>
            <a:r>
              <a:rPr lang="ru"/>
              <a:t>(j = 0; j&lt;m; j++)  </a:t>
            </a:r>
            <a:r>
              <a:rPr lang="ru">
                <a:solidFill>
                  <a:srgbClr val="019836"/>
                </a:solidFill>
              </a:rPr>
              <a:t>// цикл по столбцам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{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  printf(</a:t>
            </a:r>
            <a:r>
              <a:rPr lang="ru">
                <a:solidFill>
                  <a:srgbClr val="A61C00"/>
                </a:solidFill>
              </a:rPr>
              <a:t>"a[%d][%d] = "</a:t>
            </a:r>
            <a:r>
              <a:rPr lang="ru"/>
              <a:t>, i, j);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  scanf(</a:t>
            </a:r>
            <a:r>
              <a:rPr lang="ru">
                <a:solidFill>
                  <a:srgbClr val="A61C00"/>
                </a:solidFill>
              </a:rPr>
              <a:t>"%d"</a:t>
            </a:r>
            <a:r>
              <a:rPr lang="ru"/>
              <a:t>, &amp;a[i][j]);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}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71"/>
          <p:cNvSpPr/>
          <p:nvPr/>
        </p:nvSpPr>
        <p:spPr>
          <a:xfrm>
            <a:off x="2382100" y="2921900"/>
            <a:ext cx="1524900" cy="189300"/>
          </a:xfrm>
          <a:prstGeom prst="rect">
            <a:avLst/>
          </a:prstGeom>
          <a:noFill/>
          <a:ln w="9525" cap="flat" cmpd="sng">
            <a:solidFill>
              <a:srgbClr val="013D8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7" name="Google Shape;577;p71"/>
          <p:cNvSpPr/>
          <p:nvPr/>
        </p:nvSpPr>
        <p:spPr>
          <a:xfrm>
            <a:off x="5605325" y="2159450"/>
            <a:ext cx="2663700" cy="453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013D8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(n * </a:t>
            </a:r>
            <a:r>
              <a:rPr lang="ru" sz="1700">
                <a:solidFill>
                  <a:srgbClr val="0645AD"/>
                </a:solidFill>
                <a:latin typeface="Courier New"/>
                <a:ea typeface="Courier New"/>
                <a:cs typeface="Courier New"/>
                <a:sym typeface="Courier New"/>
              </a:rPr>
              <a:t>sizeof</a:t>
            </a:r>
            <a:r>
              <a:rPr lang="ru" sz="1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ru" sz="1700">
                <a:solidFill>
                  <a:srgbClr val="0645AD"/>
                </a:solidFill>
                <a:latin typeface="Courier New"/>
                <a:ea typeface="Courier New"/>
                <a:cs typeface="Courier New"/>
                <a:sym typeface="Courier New"/>
              </a:rPr>
              <a:t>int*</a:t>
            </a:r>
            <a:r>
              <a:rPr lang="ru" sz="1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))</a:t>
            </a:r>
            <a:endParaRPr sz="1600"/>
          </a:p>
        </p:txBody>
      </p:sp>
      <p:cxnSp>
        <p:nvCxnSpPr>
          <p:cNvPr id="578" name="Google Shape;578;p71"/>
          <p:cNvCxnSpPr>
            <a:stCxn id="577" idx="1"/>
            <a:endCxn id="576" idx="3"/>
          </p:cNvCxnSpPr>
          <p:nvPr/>
        </p:nvCxnSpPr>
        <p:spPr>
          <a:xfrm flipH="1">
            <a:off x="3907025" y="2386250"/>
            <a:ext cx="1698300" cy="6303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rgbClr val="013D85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72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Слайд с кодом 2</a:t>
            </a:r>
            <a:endParaRPr/>
          </a:p>
        </p:txBody>
      </p:sp>
      <p:sp>
        <p:nvSpPr>
          <p:cNvPr id="584" name="Google Shape;584;p72"/>
          <p:cNvSpPr txBox="1">
            <a:spLocks noGrp="1"/>
          </p:cNvSpPr>
          <p:nvPr>
            <p:ph type="subTitle" idx="1"/>
          </p:nvPr>
        </p:nvSpPr>
        <p:spPr>
          <a:xfrm>
            <a:off x="743675" y="1496071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</a:t>
            </a:r>
            <a:r>
              <a:rPr lang="ru">
                <a:solidFill>
                  <a:srgbClr val="0645AD"/>
                </a:solidFill>
              </a:rPr>
              <a:t>int</a:t>
            </a:r>
            <a:r>
              <a:rPr lang="ru"/>
              <a:t> **a;  </a:t>
            </a:r>
            <a:r>
              <a:rPr lang="ru">
                <a:solidFill>
                  <a:srgbClr val="019836"/>
                </a:solidFill>
              </a:rPr>
              <a:t>// указатель на указатель на строку элементов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</a:t>
            </a:r>
            <a:r>
              <a:rPr lang="ru">
                <a:solidFill>
                  <a:srgbClr val="0645AD"/>
                </a:solidFill>
              </a:rPr>
              <a:t>int</a:t>
            </a:r>
            <a:r>
              <a:rPr lang="ru"/>
              <a:t> i, j, n, m;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system(</a:t>
            </a:r>
            <a:r>
              <a:rPr lang="ru">
                <a:solidFill>
                  <a:srgbClr val="A61C00"/>
                </a:solidFill>
              </a:rPr>
              <a:t>"chcp 1251"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system(</a:t>
            </a:r>
            <a:r>
              <a:rPr lang="ru">
                <a:solidFill>
                  <a:srgbClr val="A61C00"/>
                </a:solidFill>
              </a:rPr>
              <a:t>"cls"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printf(</a:t>
            </a:r>
            <a:r>
              <a:rPr lang="ru">
                <a:solidFill>
                  <a:srgbClr val="A61C00"/>
                </a:solidFill>
              </a:rPr>
              <a:t>"Введите количество строк: 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scanf(</a:t>
            </a:r>
            <a:r>
              <a:rPr lang="ru">
                <a:solidFill>
                  <a:srgbClr val="A61C00"/>
                </a:solidFill>
              </a:rPr>
              <a:t>"%d"</a:t>
            </a:r>
            <a:r>
              <a:rPr lang="ru"/>
              <a:t>, &amp;n);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printf(</a:t>
            </a:r>
            <a:r>
              <a:rPr lang="ru">
                <a:solidFill>
                  <a:srgbClr val="A61C00"/>
                </a:solidFill>
              </a:rPr>
              <a:t>"Введите количество столбцов: 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scanf(</a:t>
            </a:r>
            <a:r>
              <a:rPr lang="ru">
                <a:solidFill>
                  <a:srgbClr val="A61C00"/>
                </a:solidFill>
              </a:rPr>
              <a:t>"%d"</a:t>
            </a:r>
            <a:r>
              <a:rPr lang="ru"/>
              <a:t>, &amp;m);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</a:t>
            </a:r>
            <a:r>
              <a:rPr lang="ru">
                <a:solidFill>
                  <a:srgbClr val="019836"/>
                </a:solidFill>
              </a:rPr>
              <a:t>// Выделение памяти под указатели на строки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a = (</a:t>
            </a:r>
            <a:r>
              <a:rPr lang="ru">
                <a:solidFill>
                  <a:srgbClr val="0645AD"/>
                </a:solidFill>
              </a:rPr>
              <a:t>int</a:t>
            </a:r>
            <a:r>
              <a:rPr lang="ru"/>
              <a:t>**)malloc (n * </a:t>
            </a:r>
            <a:r>
              <a:rPr lang="ru">
                <a:solidFill>
                  <a:srgbClr val="0645AD"/>
                </a:solidFill>
              </a:rPr>
              <a:t>sizeof</a:t>
            </a:r>
            <a:r>
              <a:rPr lang="ru"/>
              <a:t>(</a:t>
            </a:r>
            <a:r>
              <a:rPr lang="ru">
                <a:solidFill>
                  <a:srgbClr val="0645AD"/>
                </a:solidFill>
              </a:rPr>
              <a:t>int*</a:t>
            </a:r>
            <a:r>
              <a:rPr lang="ru"/>
              <a:t>));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</a:t>
            </a:r>
            <a:r>
              <a:rPr lang="ru">
                <a:solidFill>
                  <a:srgbClr val="019836"/>
                </a:solidFill>
              </a:rPr>
              <a:t>// Ввод элементов массива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</a:t>
            </a:r>
            <a:r>
              <a:rPr lang="ru">
                <a:solidFill>
                  <a:srgbClr val="0645AD"/>
                </a:solidFill>
              </a:rPr>
              <a:t>for </a:t>
            </a:r>
            <a:r>
              <a:rPr lang="ru"/>
              <a:t>(i = 0; i&lt;n; i++)  </a:t>
            </a:r>
            <a:r>
              <a:rPr lang="ru">
                <a:solidFill>
                  <a:srgbClr val="019836"/>
                </a:solidFill>
              </a:rPr>
              <a:t>// цикл по строкам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{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</a:t>
            </a:r>
            <a:r>
              <a:rPr lang="ru">
                <a:solidFill>
                  <a:srgbClr val="019836"/>
                </a:solidFill>
              </a:rPr>
              <a:t>// Выделение памяти под хранение строк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a[i] = (</a:t>
            </a:r>
            <a:r>
              <a:rPr lang="ru">
                <a:solidFill>
                  <a:srgbClr val="0645AD"/>
                </a:solidFill>
              </a:rPr>
              <a:t>int</a:t>
            </a:r>
            <a:r>
              <a:rPr lang="ru"/>
              <a:t>*)malloc(m * </a:t>
            </a:r>
            <a:r>
              <a:rPr lang="ru">
                <a:solidFill>
                  <a:srgbClr val="0645AD"/>
                </a:solidFill>
              </a:rPr>
              <a:t>sizeof</a:t>
            </a:r>
            <a:r>
              <a:rPr lang="ru"/>
              <a:t>(</a:t>
            </a:r>
            <a:r>
              <a:rPr lang="ru">
                <a:solidFill>
                  <a:srgbClr val="0645AD"/>
                </a:solidFill>
              </a:rPr>
              <a:t>int</a:t>
            </a:r>
            <a:r>
              <a:rPr lang="ru"/>
              <a:t>));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</a:t>
            </a:r>
            <a:r>
              <a:rPr lang="ru">
                <a:solidFill>
                  <a:srgbClr val="0645AD"/>
                </a:solidFill>
              </a:rPr>
              <a:t>for </a:t>
            </a:r>
            <a:r>
              <a:rPr lang="ru"/>
              <a:t>(j = 0; j&lt;m; j++)  </a:t>
            </a:r>
            <a:r>
              <a:rPr lang="ru">
                <a:solidFill>
                  <a:srgbClr val="019836"/>
                </a:solidFill>
              </a:rPr>
              <a:t>// цикл по столбцам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{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  printf(</a:t>
            </a:r>
            <a:r>
              <a:rPr lang="ru">
                <a:solidFill>
                  <a:srgbClr val="A61C00"/>
                </a:solidFill>
              </a:rPr>
              <a:t>"a[%d][%d] = "</a:t>
            </a:r>
            <a:r>
              <a:rPr lang="ru"/>
              <a:t>, i, j);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  scanf(</a:t>
            </a:r>
            <a:r>
              <a:rPr lang="ru">
                <a:solidFill>
                  <a:srgbClr val="A61C00"/>
                </a:solidFill>
              </a:rPr>
              <a:t>"%d"</a:t>
            </a:r>
            <a:r>
              <a:rPr lang="ru"/>
              <a:t>, &amp;a[i][j]);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}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7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Слайд с кодом 3</a:t>
            </a:r>
            <a:endParaRPr/>
          </a:p>
        </p:txBody>
      </p:sp>
      <p:sp>
        <p:nvSpPr>
          <p:cNvPr id="590" name="Google Shape;590;p73"/>
          <p:cNvSpPr txBox="1">
            <a:spLocks noGrp="1"/>
          </p:cNvSpPr>
          <p:nvPr>
            <p:ph type="subTitle" idx="1"/>
          </p:nvPr>
        </p:nvSpPr>
        <p:spPr>
          <a:xfrm>
            <a:off x="754725" y="1516450"/>
            <a:ext cx="8181900" cy="32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int **a;  // указатель на указатель на строку элементов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int i, j, n, m;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system("chcp 1251");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system("cls");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printf("Введите количество строк: ");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scanf("%d", &amp;n);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printf("Введите количество столбцов: ");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scanf("%d", &amp;m);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// Выделение памяти под указатели на строки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a = (int**)malloc(n * sizeof(int*));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// Ввод элементов массива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for (i = 0; i&lt;n; i++)  // цикл по строкам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{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  // Выделение памяти под хранение строк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  a[i] = (int*)malloc(m * sizeof(int));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  for (j = 0; j&lt;m; j++)  // цикл по столбцам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  {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    printf("a[%d][%d] = ", i, j);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    scanf("%d", &amp;a[i][j]);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    }</a:t>
            </a:r>
            <a:endParaRPr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7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Слайд с кодом и текстом </a:t>
            </a:r>
            <a:endParaRPr/>
          </a:p>
        </p:txBody>
      </p:sp>
      <p:sp>
        <p:nvSpPr>
          <p:cNvPr id="596" name="Google Shape;596;p7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 </a:t>
            </a:r>
            <a:r>
              <a:rPr lang="ru">
                <a:solidFill>
                  <a:srgbClr val="0645AD"/>
                </a:solidFill>
              </a:rPr>
              <a:t> int</a:t>
            </a:r>
            <a:r>
              <a:rPr lang="ru"/>
              <a:t> **a;  </a:t>
            </a:r>
            <a:r>
              <a:rPr lang="ru">
                <a:solidFill>
                  <a:srgbClr val="019836"/>
                </a:solidFill>
              </a:rPr>
              <a:t>// указатель на строку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  </a:t>
            </a:r>
            <a:r>
              <a:rPr lang="ru">
                <a:solidFill>
                  <a:srgbClr val="0645AD"/>
                </a:solidFill>
              </a:rPr>
              <a:t>int</a:t>
            </a:r>
            <a:r>
              <a:rPr lang="ru"/>
              <a:t> i, j, n, m;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  system(</a:t>
            </a:r>
            <a:r>
              <a:rPr lang="ru">
                <a:solidFill>
                  <a:srgbClr val="A61C00"/>
                </a:solidFill>
              </a:rPr>
              <a:t>"chcp 1251"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  system(</a:t>
            </a:r>
            <a:r>
              <a:rPr lang="ru">
                <a:solidFill>
                  <a:srgbClr val="A61C00"/>
                </a:solidFill>
              </a:rPr>
              <a:t>"cls"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  printf(</a:t>
            </a:r>
            <a:r>
              <a:rPr lang="ru">
                <a:solidFill>
                  <a:srgbClr val="A61C00"/>
                </a:solidFill>
              </a:rPr>
              <a:t>"Введите количество строк: 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  scanf(</a:t>
            </a:r>
            <a:r>
              <a:rPr lang="ru">
                <a:solidFill>
                  <a:srgbClr val="A61C00"/>
                </a:solidFill>
              </a:rPr>
              <a:t>"%d"</a:t>
            </a:r>
            <a:r>
              <a:rPr lang="ru"/>
              <a:t>, &amp;n);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  printf(</a:t>
            </a:r>
            <a:r>
              <a:rPr lang="ru">
                <a:solidFill>
                  <a:srgbClr val="A61C00"/>
                </a:solidFill>
              </a:rPr>
              <a:t>"Введите количество столбцов: 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  scanf(</a:t>
            </a:r>
            <a:r>
              <a:rPr lang="ru">
                <a:solidFill>
                  <a:srgbClr val="A61C00"/>
                </a:solidFill>
              </a:rPr>
              <a:t>"%d"</a:t>
            </a:r>
            <a:r>
              <a:rPr lang="ru"/>
              <a:t>, &amp;m);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     </a:t>
            </a:r>
            <a:r>
              <a:rPr lang="ru">
                <a:solidFill>
                  <a:srgbClr val="019836"/>
                </a:solidFill>
              </a:rPr>
              <a:t>// Выделение памяти под хранение строк</a:t>
            </a:r>
            <a:endParaRPr/>
          </a:p>
        </p:txBody>
      </p:sp>
      <p:sp>
        <p:nvSpPr>
          <p:cNvPr id="597" name="Google Shape;597;p74"/>
          <p:cNvSpPr txBox="1">
            <a:spLocks noGrp="1"/>
          </p:cNvSpPr>
          <p:nvPr>
            <p:ph type="subTitle" idx="1"/>
          </p:nvPr>
        </p:nvSpPr>
        <p:spPr>
          <a:xfrm>
            <a:off x="530000" y="1152250"/>
            <a:ext cx="7862400" cy="8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ru" sz="1500"/>
              <a:t>Тезис 1</a:t>
            </a:r>
            <a:endParaRPr sz="1500"/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ru" sz="1500"/>
              <a:t>Тезис 2</a:t>
            </a:r>
            <a:endParaRPr sz="1500"/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ru" sz="1500"/>
              <a:t>Тезис 3</a:t>
            </a:r>
            <a:endParaRPr sz="150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75"/>
          <p:cNvSpPr txBox="1">
            <a:spLocks noGrp="1"/>
          </p:cNvSpPr>
          <p:nvPr>
            <p:ph type="title"/>
          </p:nvPr>
        </p:nvSpPr>
        <p:spPr>
          <a:xfrm>
            <a:off x="654850" y="401149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Слайд с таблицей</a:t>
            </a:r>
            <a:endParaRPr/>
          </a:p>
        </p:txBody>
      </p:sp>
      <p:graphicFrame>
        <p:nvGraphicFramePr>
          <p:cNvPr id="603" name="Google Shape;603;p75"/>
          <p:cNvGraphicFramePr/>
          <p:nvPr/>
        </p:nvGraphicFramePr>
        <p:xfrm>
          <a:off x="654850" y="1367200"/>
          <a:ext cx="7834275" cy="296649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269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6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7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76"/>
          <p:cNvSpPr txBox="1">
            <a:spLocks noGrp="1"/>
          </p:cNvSpPr>
          <p:nvPr>
            <p:ph type="title"/>
          </p:nvPr>
        </p:nvSpPr>
        <p:spPr>
          <a:xfrm>
            <a:off x="608700" y="4294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Слайд с таблицей</a:t>
            </a:r>
            <a:endParaRPr/>
          </a:p>
        </p:txBody>
      </p:sp>
      <p:graphicFrame>
        <p:nvGraphicFramePr>
          <p:cNvPr id="609" name="Google Shape;609;p76"/>
          <p:cNvGraphicFramePr/>
          <p:nvPr/>
        </p:nvGraphicFramePr>
        <p:xfrm>
          <a:off x="608700" y="13787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2"/>
            <a:ext cx="9144003" cy="5103318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7"/>
          <p:cNvSpPr txBox="1"/>
          <p:nvPr/>
        </p:nvSpPr>
        <p:spPr>
          <a:xfrm>
            <a:off x="720000" y="696425"/>
            <a:ext cx="7130700" cy="31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5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Единственно верного 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5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решения не существует. 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5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Хотя существует 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5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много неверных.</a:t>
            </a:r>
            <a:endParaRPr sz="5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endParaRPr sz="2500">
              <a:solidFill>
                <a:schemeClr val="lt1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616" name="Google Shape;616;p77"/>
          <p:cNvSpPr txBox="1"/>
          <p:nvPr/>
        </p:nvSpPr>
        <p:spPr>
          <a:xfrm>
            <a:off x="5527975" y="3851825"/>
            <a:ext cx="34164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Дэвид Акин, NASA</a:t>
            </a:r>
            <a:endParaRPr sz="1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Другая 2">
      <a:dk1>
        <a:srgbClr val="FFFFFF"/>
      </a:dk1>
      <a:lt1>
        <a:srgbClr val="000000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</TotalTime>
  <Words>2947</Words>
  <Application>Microsoft Office PowerPoint</Application>
  <PresentationFormat>Экран (16:9)</PresentationFormat>
  <Paragraphs>451</Paragraphs>
  <Slides>49</Slides>
  <Notes>49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49</vt:i4>
      </vt:variant>
    </vt:vector>
  </HeadingPairs>
  <TitlesOfParts>
    <vt:vector size="58" baseType="lpstr">
      <vt:lpstr>Avenir</vt:lpstr>
      <vt:lpstr>quote-cjk-patch</vt:lpstr>
      <vt:lpstr>Roboto</vt:lpstr>
      <vt:lpstr>Roboto Medium</vt:lpstr>
      <vt:lpstr>Courier New</vt:lpstr>
      <vt:lpstr>Reem Kufi</vt:lpstr>
      <vt:lpstr>Arial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Менеджер банковских операций   </vt:lpstr>
      <vt:lpstr>Цель и задачи проекта</vt:lpstr>
      <vt:lpstr>Технологический стек - Backend</vt:lpstr>
      <vt:lpstr>Данные и Миграция</vt:lpstr>
      <vt:lpstr>Frontend, API и Инструменты</vt:lpstr>
      <vt:lpstr>Архитектура</vt:lpstr>
      <vt:lpstr>Структура Базы данных</vt:lpstr>
      <vt:lpstr>Базовая сущность</vt:lpstr>
      <vt:lpstr>Сущность BankAccount</vt:lpstr>
      <vt:lpstr>DTO + Mappers</vt:lpstr>
      <vt:lpstr>Что получилось</vt:lpstr>
      <vt:lpstr>Выводы </vt:lpstr>
      <vt:lpstr>Презентация PowerPoint</vt:lpstr>
      <vt:lpstr>Спасибо за внимание!</vt:lpstr>
      <vt:lpstr>Презентация PowerPoint</vt:lpstr>
      <vt:lpstr>Инструменты для работы с презентацией</vt:lpstr>
      <vt:lpstr>Презентация PowerPoint</vt:lpstr>
      <vt:lpstr>Презентация PowerPoint</vt:lpstr>
      <vt:lpstr>Презентация PowerPoint</vt:lpstr>
      <vt:lpstr>Презентация PowerPoint</vt:lpstr>
      <vt:lpstr>Шаблоны, которые вы можете использовать для рассказа о своем проекте</vt:lpstr>
      <vt:lpstr>Материал для моделирования </vt:lpstr>
      <vt:lpstr>Презентация PowerPoint</vt:lpstr>
      <vt:lpstr>Слайды с “кнопками” </vt:lpstr>
      <vt:lpstr>Презентация PowerPoint</vt:lpstr>
      <vt:lpstr>Заголовок: главная мысль слайда </vt:lpstr>
      <vt:lpstr>Главная мысль слайда</vt:lpstr>
      <vt:lpstr>Главная мысль слайда</vt:lpstr>
      <vt:lpstr>Слайд со списком </vt:lpstr>
      <vt:lpstr>Главная мысль  слайда  </vt:lpstr>
      <vt:lpstr>Слайд с 3 колонками</vt:lpstr>
      <vt:lpstr>Сравнение двух кейсов  </vt:lpstr>
      <vt:lpstr>Презентация PowerPoint</vt:lpstr>
      <vt:lpstr>Заголовок: главная мысль слайда </vt:lpstr>
      <vt:lpstr>Презентация PowerPoint</vt:lpstr>
      <vt:lpstr>Процесс через этапы </vt:lpstr>
      <vt:lpstr>Процесс через этапы </vt:lpstr>
      <vt:lpstr>Процесс через этапы </vt:lpstr>
      <vt:lpstr>Процесс через этапы </vt:lpstr>
      <vt:lpstr>Презентация PowerPoint</vt:lpstr>
      <vt:lpstr>Слайд с кодом 1</vt:lpstr>
      <vt:lpstr>Слайд с кодом 2</vt:lpstr>
      <vt:lpstr>Слайд с кодом 3</vt:lpstr>
      <vt:lpstr>Слайд с кодом и текстом </vt:lpstr>
      <vt:lpstr>Слайд с таблицей</vt:lpstr>
      <vt:lpstr>Слайд с таблицей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semvasek@gmail.com</cp:lastModifiedBy>
  <cp:revision>11</cp:revision>
  <dcterms:modified xsi:type="dcterms:W3CDTF">2025-11-13T16:41:45Z</dcterms:modified>
</cp:coreProperties>
</file>